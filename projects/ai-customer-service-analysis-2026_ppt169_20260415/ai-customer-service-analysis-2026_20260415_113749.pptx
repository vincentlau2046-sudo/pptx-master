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21970" y="1483995"/>
            <a:ext cx="12688533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AI客服产业深度分析</a:t>
            </a:r>
            <a:r>
              <a:rPr lang="zh-CN" sz="27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2026年市场洞察与投资机会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2853690"/>
            <a:ext cx="56847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全球市场规模 · 竞争格局 · 技术趋势 · 商业价值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5585460"/>
            <a:ext cx="47625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Project: AI-Customer-Service-2026</a:t>
            </a:r>
            <a:r>
              <a:rPr lang="zh-CN" sz="12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Date: 2026年4月15日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10053" y="6363652"/>
            <a:ext cx="9237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01250" y="1524000"/>
            <a:ext cx="1238250" cy="1809750"/>
            <a:chOff x="10001250" y="1524000"/>
            <a:chExt cx="1238250" cy="1809750"/>
          </a:xfrm>
        </p:grpSpPr>
        <p:sp>
          <p:nvSpPr>
            <p:cNvPr id="9" name="Ellipse 9"/>
            <p:cNvSpPr/>
            <p:nvPr/>
          </p:nvSpPr>
          <p:spPr>
            <a:xfrm>
              <a:off x="10096500" y="1524000"/>
              <a:ext cx="762000" cy="762000"/>
            </a:xfrm>
            <a:prstGeom prst="ellipse">
              <a:avLst/>
            </a:prstGeom>
            <a:solidFill>
              <a:srgbClr val="005587">
                <a:alpha val="10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001250" y="2381250"/>
              <a:ext cx="571500" cy="571500"/>
            </a:xfrm>
            <a:prstGeom prst="rect">
              <a:avLst/>
            </a:prstGeom>
            <a:solidFill>
              <a:srgbClr val="005587">
                <a:alpha val="10000"/>
              </a:srgbClr>
            </a:solidFill>
            <a:ln>
              <a:noFill/>
            </a:ln>
          </p:spPr>
        </p:sp>
        <p:sp>
          <p:nvSpPr>
            <p:cNvPr id="11" name="Polygon 11"/>
            <p:cNvSpPr/>
            <p:nvPr/>
          </p:nvSpPr>
          <p:spPr>
            <a:xfrm>
              <a:off x="10668000" y="2857500"/>
              <a:ext cx="571500" cy="476250"/>
            </a:xfrm>
            <a:custGeom>
              <a:avLst/>
              <a:gdLst/>
              <a:ahLst/>
              <a:cxnLst/>
              <a:rect l="l" t="t" r="r" b="b"/>
              <a:pathLst>
                <a:path w="571500" h="476250">
                  <a:moveTo>
                    <a:pt x="285750" y="0"/>
                  </a:moveTo>
                  <a:lnTo>
                    <a:pt x="5715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005587">
                <a:alpha val="10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661035"/>
            <a:ext cx="143495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Agenda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48640" y="1520190"/>
            <a:ext cx="4125849" cy="4404360"/>
            <a:chOff x="548640" y="1520190"/>
            <a:chExt cx="4125849" cy="4404360"/>
          </a:xfrm>
        </p:grpSpPr>
        <p:sp>
          <p:nvSpPr>
            <p:cNvPr id="5" name="TextBox 5"/>
            <p:cNvSpPr txBox="1"/>
            <p:nvPr/>
          </p:nvSpPr>
          <p:spPr>
            <a:xfrm>
              <a:off x="548640" y="1520190"/>
              <a:ext cx="14672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1. 执行摘要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7260" y="1870710"/>
              <a:ext cx="17567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核心发现与关键洞察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8640" y="2282190"/>
              <a:ext cx="208837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2. 市场规模分析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7260" y="2632710"/>
              <a:ext cx="37372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全球市场全景 · 中国市场深度 · 细分赛道对比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48640" y="3044190"/>
              <a:ext cx="15363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3. 竞争格局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7260" y="3394710"/>
              <a:ext cx="32815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市场集中度 · TOP5厂商对比 · 定位矩阵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8640" y="3806190"/>
              <a:ext cx="15363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4. 技术演进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7260" y="4156710"/>
              <a:ext cx="30361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五大技术趋势 · 架构演进 · 关键指标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8640" y="4568190"/>
              <a:ext cx="23644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5. 商业价值与挑战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7260" y="4918710"/>
              <a:ext cx="2685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价值量化 · 用户痛点 · 技术局限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8640" y="5330190"/>
              <a:ext cx="15363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6. 未来展望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7260" y="5680710"/>
              <a:ext cx="2685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发展趋势 · 行动建议 · 投资机会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58165" y="6363652"/>
            <a:ext cx="4943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Page 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08161" y="6363652"/>
            <a:ext cx="27256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Data Source: IDC, Gartner, 艾瑞咨询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407670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各季度收入构成分析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4355" y="854392"/>
            <a:ext cx="2814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F8C8D"/>
                </a:solidFill>
                <a:latin typeface="Segoe UI"/>
                <a:ea typeface="Microsoft YaHei"/>
                <a:cs typeface="Segoe UI"/>
              </a:rPr>
              <a:t>2024-2025年度 · 单位：百万元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924258" y="791528"/>
            <a:ext cx="9553242" cy="4832984"/>
            <a:chOff x="924258" y="791528"/>
            <a:chExt cx="9553242" cy="4832984"/>
          </a:xfrm>
        </p:grpSpPr>
        <p:sp>
          <p:nvSpPr>
            <p:cNvPr id="5" name="Line 5"/>
            <p:cNvSpPr/>
            <p:nvPr/>
          </p:nvSpPr>
          <p:spPr>
            <a:xfrm>
              <a:off x="1333500" y="52387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6" name="Line 6"/>
            <p:cNvSpPr/>
            <p:nvPr/>
          </p:nvSpPr>
          <p:spPr>
            <a:xfrm>
              <a:off x="1333500" y="44767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7" name="Line 7"/>
            <p:cNvSpPr/>
            <p:nvPr/>
          </p:nvSpPr>
          <p:spPr>
            <a:xfrm>
              <a:off x="1333500" y="37147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8" name="Line 8"/>
            <p:cNvSpPr/>
            <p:nvPr/>
          </p:nvSpPr>
          <p:spPr>
            <a:xfrm>
              <a:off x="1333500" y="29527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9" name="Line 9"/>
            <p:cNvSpPr/>
            <p:nvPr/>
          </p:nvSpPr>
          <p:spPr>
            <a:xfrm>
              <a:off x="1333500" y="21907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0" name="Line 10"/>
            <p:cNvSpPr/>
            <p:nvPr/>
          </p:nvSpPr>
          <p:spPr>
            <a:xfrm>
              <a:off x="1333500" y="14287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2946" y="5173028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2596" y="4411028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100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4258" y="364902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200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4258" y="288702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300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4258" y="212502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400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4258" y="136302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500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333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333500" y="52387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905000" y="2495550"/>
              <a:ext cx="762000" cy="2743200"/>
              <a:chOff x="1905000" y="2495550"/>
              <a:chExt cx="762000" cy="2743200"/>
            </a:xfrm>
            <a:effectLst>
              <a:outerShdw blurRad="38100" dist="9525" dir="10796562" algn="tl" rotWithShape="0">
                <a:srgbClr val="000000">
                  <a:alpha val="200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1905000" y="4019550"/>
                <a:ext cx="762000" cy="1219200"/>
              </a:xfrm>
              <a:prstGeom prst="rect">
                <a:avLst/>
              </a:prstGeom>
              <a:solidFill>
                <a:srgbClr val="2196F3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905000" y="3257550"/>
                <a:ext cx="762000" cy="762000"/>
              </a:xfrm>
              <a:prstGeom prst="rect">
                <a:avLst/>
              </a:prstGeom>
              <a:solidFill>
                <a:srgbClr val="4CAF5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905000" y="2800350"/>
                <a:ext cx="762000" cy="4572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1905000" y="2495550"/>
                <a:ext cx="762000" cy="304800"/>
              </a:xfrm>
              <a:prstGeom prst="rect">
                <a:avLst/>
              </a:prstGeom>
              <a:solidFill>
                <a:srgbClr val="9C27B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2065639" y="5411152"/>
              <a:ext cx="440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Q1'24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39823" y="2239328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320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3619500" y="2114550"/>
              <a:ext cx="762000" cy="3124200"/>
              <a:chOff x="3619500" y="2114550"/>
              <a:chExt cx="762000" cy="3124200"/>
            </a:xfrm>
            <a:effectLst>
              <a:outerShdw blurRad="38100" dist="9525" dir="10796562" algn="tl" rotWithShape="0">
                <a:srgbClr val="000000">
                  <a:alpha val="20000"/>
                </a:srgbClr>
              </a:outerShdw>
            </a:effectLst>
          </p:grpSpPr>
          <p:sp>
            <p:nvSpPr>
              <p:cNvPr id="26" name="Rectangle 26"/>
              <p:cNvSpPr/>
              <p:nvPr/>
            </p:nvSpPr>
            <p:spPr>
              <a:xfrm>
                <a:off x="3619500" y="3867150"/>
                <a:ext cx="762000" cy="1371600"/>
              </a:xfrm>
              <a:prstGeom prst="rect">
                <a:avLst/>
              </a:prstGeom>
              <a:solidFill>
                <a:srgbClr val="2196F3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3619500" y="3028950"/>
                <a:ext cx="762000" cy="838200"/>
              </a:xfrm>
              <a:prstGeom prst="rect">
                <a:avLst/>
              </a:prstGeom>
              <a:solidFill>
                <a:srgbClr val="4CAF5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3619500" y="2495550"/>
                <a:ext cx="762000" cy="5334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3619500" y="2114550"/>
                <a:ext cx="762000" cy="381000"/>
              </a:xfrm>
              <a:prstGeom prst="rect">
                <a:avLst/>
              </a:prstGeom>
              <a:solidFill>
                <a:srgbClr val="9C27B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3760970" y="5411152"/>
              <a:ext cx="4790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Q2'24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54323" y="1858328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360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5334000" y="1733550"/>
              <a:ext cx="762000" cy="3505200"/>
              <a:chOff x="5334000" y="1733550"/>
              <a:chExt cx="762000" cy="3505200"/>
            </a:xfrm>
            <a:effectLst>
              <a:outerShdw blurRad="38100" dist="9525" dir="10796562" algn="tl" rotWithShape="0">
                <a:srgbClr val="000000">
                  <a:alpha val="20000"/>
                </a:srgbClr>
              </a:outerShdw>
            </a:effectLst>
          </p:grpSpPr>
          <p:sp>
            <p:nvSpPr>
              <p:cNvPr id="33" name="Rectangle 33"/>
              <p:cNvSpPr/>
              <p:nvPr/>
            </p:nvSpPr>
            <p:spPr>
              <a:xfrm>
                <a:off x="5334000" y="3714750"/>
                <a:ext cx="762000" cy="1524000"/>
              </a:xfrm>
              <a:prstGeom prst="rect">
                <a:avLst/>
              </a:prstGeom>
              <a:solidFill>
                <a:srgbClr val="2196F3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5334000" y="2800350"/>
                <a:ext cx="762000" cy="914400"/>
              </a:xfrm>
              <a:prstGeom prst="rect">
                <a:avLst/>
              </a:prstGeom>
              <a:solidFill>
                <a:srgbClr val="4CAF5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5334000" y="2190750"/>
                <a:ext cx="762000" cy="6096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5334000" y="1733550"/>
                <a:ext cx="762000" cy="457200"/>
              </a:xfrm>
              <a:prstGeom prst="rect">
                <a:avLst/>
              </a:prstGeom>
              <a:solidFill>
                <a:srgbClr val="9C27B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5475470" y="5411152"/>
              <a:ext cx="4790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Q3'24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68823" y="1477328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400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7048500" y="1504950"/>
              <a:ext cx="762000" cy="3733800"/>
              <a:chOff x="7048500" y="1504950"/>
              <a:chExt cx="762000" cy="3733800"/>
            </a:xfrm>
            <a:effectLst>
              <a:outerShdw blurRad="38100" dist="9525" dir="10796562" algn="tl" rotWithShape="0">
                <a:srgbClr val="000000">
                  <a:alpha val="20000"/>
                </a:srgbClr>
              </a:outerShdw>
            </a:effectLst>
          </p:grpSpPr>
          <p:sp>
            <p:nvSpPr>
              <p:cNvPr id="40" name="Rectangle 40"/>
              <p:cNvSpPr/>
              <p:nvPr/>
            </p:nvSpPr>
            <p:spPr>
              <a:xfrm>
                <a:off x="7048500" y="3638550"/>
                <a:ext cx="762000" cy="1600200"/>
              </a:xfrm>
              <a:prstGeom prst="rect">
                <a:avLst/>
              </a:prstGeom>
              <a:solidFill>
                <a:srgbClr val="2196F3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7048500" y="2647950"/>
                <a:ext cx="762000" cy="990600"/>
              </a:xfrm>
              <a:prstGeom prst="rect">
                <a:avLst/>
              </a:prstGeom>
              <a:solidFill>
                <a:srgbClr val="4CAF5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7048500" y="1962150"/>
                <a:ext cx="762000" cy="6858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7048500" y="1504950"/>
                <a:ext cx="762000" cy="457200"/>
              </a:xfrm>
              <a:prstGeom prst="rect">
                <a:avLst/>
              </a:prstGeom>
              <a:solidFill>
                <a:srgbClr val="9C27B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189970" y="5411152"/>
              <a:ext cx="4790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Q4'24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83323" y="1248728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420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8763000" y="1047750"/>
              <a:ext cx="762000" cy="4191000"/>
              <a:chOff x="8763000" y="1047750"/>
              <a:chExt cx="762000" cy="4191000"/>
            </a:xfrm>
            <a:effectLst>
              <a:outerShdw blurRad="38100" dist="9525" dir="10796562" algn="tl" rotWithShape="0">
                <a:srgbClr val="000000">
                  <a:alpha val="20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8763000" y="3409950"/>
                <a:ext cx="762000" cy="1828800"/>
              </a:xfrm>
              <a:prstGeom prst="rect">
                <a:avLst/>
              </a:prstGeom>
              <a:solidFill>
                <a:srgbClr val="2196F3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8763000" y="2343150"/>
                <a:ext cx="762000" cy="1066800"/>
              </a:xfrm>
              <a:prstGeom prst="rect">
                <a:avLst/>
              </a:prstGeom>
              <a:solidFill>
                <a:srgbClr val="4CAF5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8763000" y="1581150"/>
                <a:ext cx="762000" cy="7620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8763000" y="1047750"/>
                <a:ext cx="762000" cy="533400"/>
              </a:xfrm>
              <a:prstGeom prst="rect">
                <a:avLst/>
              </a:prstGeom>
              <a:solidFill>
                <a:srgbClr val="9C27B0"/>
              </a:solidFill>
              <a:ln>
                <a:noFill/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8923639" y="5411152"/>
              <a:ext cx="440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Q1'25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97823" y="791528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480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668000" y="1905000"/>
            <a:ext cx="1333500" cy="1714500"/>
            <a:chOff x="10668000" y="1905000"/>
            <a:chExt cx="1333500" cy="1714500"/>
          </a:xfrm>
        </p:grpSpPr>
        <p:sp>
          <p:nvSpPr>
            <p:cNvPr id="55" name="Rectangle 55"/>
            <p:cNvSpPr/>
            <p:nvPr/>
          </p:nvSpPr>
          <p:spPr>
            <a:xfrm>
              <a:off x="10668000" y="1905000"/>
              <a:ext cx="1333500" cy="1714500"/>
            </a:xfrm>
            <a:prstGeom prst="rect">
              <a:avLst/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999375" y="20774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收入类别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810875" y="2381250"/>
              <a:ext cx="190500" cy="152400"/>
            </a:xfrm>
            <a:prstGeom prst="rect">
              <a:avLst/>
            </a:prstGeom>
            <a:solidFill>
              <a:srgbClr val="2196F3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084242" y="23998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产品销售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810875" y="2667000"/>
              <a:ext cx="190500" cy="152400"/>
            </a:xfrm>
            <a:prstGeom prst="rect">
              <a:avLst/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084242" y="26855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服务收入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810875" y="2952750"/>
              <a:ext cx="190500" cy="152400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1084242" y="29713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订阅收入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0810875" y="3238500"/>
              <a:ext cx="190500" cy="152400"/>
            </a:xfrm>
            <a:prstGeom prst="rect">
              <a:avLst/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1084242" y="32570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其他收入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558165" y="6506528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5A5A6"/>
                </a:solidFill>
                <a:latin typeface="Segoe UI"/>
                <a:ea typeface="Microsoft YaHei"/>
                <a:cs typeface="Segoe UI"/>
              </a:rPr>
              <a:t>数据来源: 财务部门报表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2637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营收与利润趋势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4355" y="949642"/>
            <a:ext cx="29819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F8C8D"/>
                </a:solidFill>
                <a:latin typeface="Segoe UI"/>
                <a:ea typeface="Microsoft YaHei"/>
                <a:cs typeface="Segoe UI"/>
              </a:rPr>
              <a:t>2024年 1月 - 12月 · 单位：百万元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962596" y="1363028"/>
            <a:ext cx="10241590" cy="4261484"/>
            <a:chOff x="962596" y="1363028"/>
            <a:chExt cx="10241590" cy="4261484"/>
          </a:xfrm>
        </p:grpSpPr>
        <p:sp>
          <p:nvSpPr>
            <p:cNvPr id="5" name="Line 5"/>
            <p:cNvSpPr/>
            <p:nvPr/>
          </p:nvSpPr>
          <p:spPr>
            <a:xfrm>
              <a:off x="1333500" y="52387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6" name="Line 6"/>
            <p:cNvSpPr/>
            <p:nvPr/>
          </p:nvSpPr>
          <p:spPr>
            <a:xfrm>
              <a:off x="1333500" y="44767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7" name="Line 7"/>
            <p:cNvSpPr/>
            <p:nvPr/>
          </p:nvSpPr>
          <p:spPr>
            <a:xfrm>
              <a:off x="1333500" y="37147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8" name="Line 8"/>
            <p:cNvSpPr/>
            <p:nvPr/>
          </p:nvSpPr>
          <p:spPr>
            <a:xfrm>
              <a:off x="1333500" y="29527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9" name="Line 9"/>
            <p:cNvSpPr/>
            <p:nvPr/>
          </p:nvSpPr>
          <p:spPr>
            <a:xfrm>
              <a:off x="1333500" y="21907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0" name="Line 10"/>
            <p:cNvSpPr/>
            <p:nvPr/>
          </p:nvSpPr>
          <p:spPr>
            <a:xfrm>
              <a:off x="1333500" y="14287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2946" y="5173028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8602" y="441102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20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8602" y="364902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40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8602" y="288702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60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8602" y="212502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80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62596" y="1363028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100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333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333500" y="52387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30111" y="5411152"/>
              <a:ext cx="226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1月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20567" y="5411152"/>
              <a:ext cx="2643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2月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30192" y="5411152"/>
              <a:ext cx="2643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3月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39817" y="5411152"/>
              <a:ext cx="2643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4月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49442" y="5411152"/>
              <a:ext cx="2643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5月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59067" y="5411152"/>
              <a:ext cx="2643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6月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68692" y="5411152"/>
              <a:ext cx="2643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7月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78317" y="5411152"/>
              <a:ext cx="2643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8月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87942" y="5411152"/>
              <a:ext cx="2643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9月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74564" y="5411152"/>
              <a:ext cx="3103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10月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03358" y="5411152"/>
              <a:ext cx="2720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11月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893814" y="5411152"/>
              <a:ext cx="3103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12月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2143125" y="1733550"/>
              <a:ext cx="8905875" cy="3505200"/>
            </a:xfrm>
            <a:custGeom>
              <a:avLst/>
              <a:gdLst/>
              <a:ahLst/>
              <a:cxnLst/>
              <a:rect l="l" t="t" r="r" b="b"/>
              <a:pathLst>
                <a:path w="8905875" h="3505200">
                  <a:moveTo>
                    <a:pt x="0" y="2286000"/>
                  </a:moveTo>
                  <a:lnTo>
                    <a:pt x="809625" y="2057400"/>
                  </a:lnTo>
                  <a:lnTo>
                    <a:pt x="1619250" y="1790700"/>
                  </a:lnTo>
                  <a:lnTo>
                    <a:pt x="2428875" y="1524000"/>
                  </a:lnTo>
                  <a:lnTo>
                    <a:pt x="3238500" y="1295400"/>
                  </a:lnTo>
                  <a:lnTo>
                    <a:pt x="4048125" y="1143000"/>
                  </a:lnTo>
                  <a:lnTo>
                    <a:pt x="4857750" y="914400"/>
                  </a:lnTo>
                  <a:lnTo>
                    <a:pt x="5667375" y="647700"/>
                  </a:lnTo>
                  <a:lnTo>
                    <a:pt x="6477000" y="533400"/>
                  </a:lnTo>
                  <a:lnTo>
                    <a:pt x="7286625" y="381000"/>
                  </a:lnTo>
                  <a:lnTo>
                    <a:pt x="8096250" y="152400"/>
                  </a:lnTo>
                  <a:lnTo>
                    <a:pt x="8905875" y="0"/>
                  </a:lnTo>
                  <a:lnTo>
                    <a:pt x="8905875" y="3505200"/>
                  </a:lnTo>
                  <a:lnTo>
                    <a:pt x="0" y="3505200"/>
                  </a:lnTo>
                  <a:close/>
                </a:path>
              </a:pathLst>
            </a:custGeom>
            <a:gradFill>
              <a:gsLst>
                <a:gs pos="0">
                  <a:srgbClr val="2196F3">
                    <a:alpha val="6000"/>
                  </a:srgbClr>
                </a:gs>
                <a:gs pos="100000">
                  <a:srgbClr val="2196F3">
                    <a:alpha val="15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2" name="Polyline 32"/>
            <p:cNvSpPr/>
            <p:nvPr/>
          </p:nvSpPr>
          <p:spPr>
            <a:xfrm>
              <a:off x="2143125" y="1733550"/>
              <a:ext cx="8905875" cy="2286000"/>
            </a:xfrm>
            <a:custGeom>
              <a:avLst/>
              <a:gdLst/>
              <a:ahLst/>
              <a:cxnLst/>
              <a:rect l="l" t="t" r="r" b="b"/>
              <a:pathLst>
                <a:path w="8905875" h="2286000">
                  <a:moveTo>
                    <a:pt x="0" y="2286000"/>
                  </a:moveTo>
                  <a:lnTo>
                    <a:pt x="809625" y="2057400"/>
                  </a:lnTo>
                  <a:lnTo>
                    <a:pt x="1619250" y="1790700"/>
                  </a:lnTo>
                  <a:lnTo>
                    <a:pt x="2428875" y="1524000"/>
                  </a:lnTo>
                  <a:lnTo>
                    <a:pt x="3238500" y="1295400"/>
                  </a:lnTo>
                  <a:lnTo>
                    <a:pt x="4048125" y="1143000"/>
                  </a:lnTo>
                  <a:lnTo>
                    <a:pt x="4857750" y="914400"/>
                  </a:lnTo>
                  <a:lnTo>
                    <a:pt x="5667375" y="647700"/>
                  </a:lnTo>
                  <a:lnTo>
                    <a:pt x="6477000" y="533400"/>
                  </a:lnTo>
                  <a:lnTo>
                    <a:pt x="7286625" y="381000"/>
                  </a:lnTo>
                  <a:lnTo>
                    <a:pt x="8096250" y="152400"/>
                  </a:lnTo>
                  <a:lnTo>
                    <a:pt x="8905875" y="0"/>
                  </a:lnTo>
                </a:path>
              </a:pathLst>
            </a:custGeom>
            <a:noFill/>
            <a:ln w="28575" cap="rnd">
              <a:gradFill>
                <a:gsLst>
                  <a:gs pos="0">
                    <a:srgbClr val="2196F3"/>
                  </a:gs>
                  <a:gs pos="100000">
                    <a:srgbClr val="42A5F5"/>
                  </a:gs>
                </a:gsLst>
                <a:lin ang="0" scaled="1"/>
              </a:gradFill>
              <a:round/>
            </a:ln>
          </p:spPr>
        </p:sp>
        <p:sp>
          <p:nvSpPr>
            <p:cNvPr id="33" name="Ellipse 33"/>
            <p:cNvSpPr/>
            <p:nvPr/>
          </p:nvSpPr>
          <p:spPr>
            <a:xfrm>
              <a:off x="2095500" y="3971925"/>
              <a:ext cx="95250" cy="95250"/>
            </a:xfrm>
            <a:prstGeom prst="ellipse">
              <a:avLst/>
            </a:prstGeom>
            <a:solidFill>
              <a:srgbClr val="2196F3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34" name="Ellipse 34"/>
            <p:cNvSpPr/>
            <p:nvPr/>
          </p:nvSpPr>
          <p:spPr>
            <a:xfrm>
              <a:off x="2905125" y="3743325"/>
              <a:ext cx="95250" cy="95250"/>
            </a:xfrm>
            <a:prstGeom prst="ellipse">
              <a:avLst/>
            </a:prstGeom>
            <a:solidFill>
              <a:srgbClr val="2196F3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35" name="Ellipse 35"/>
            <p:cNvSpPr/>
            <p:nvPr/>
          </p:nvSpPr>
          <p:spPr>
            <a:xfrm>
              <a:off x="3714750" y="3476625"/>
              <a:ext cx="95250" cy="95250"/>
            </a:xfrm>
            <a:prstGeom prst="ellipse">
              <a:avLst/>
            </a:prstGeom>
            <a:solidFill>
              <a:srgbClr val="2196F3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36" name="Ellipse 36"/>
            <p:cNvSpPr/>
            <p:nvPr/>
          </p:nvSpPr>
          <p:spPr>
            <a:xfrm>
              <a:off x="4524375" y="3209925"/>
              <a:ext cx="95250" cy="95250"/>
            </a:xfrm>
            <a:prstGeom prst="ellipse">
              <a:avLst/>
            </a:prstGeom>
            <a:solidFill>
              <a:srgbClr val="2196F3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37" name="Ellipse 37"/>
            <p:cNvSpPr/>
            <p:nvPr/>
          </p:nvSpPr>
          <p:spPr>
            <a:xfrm>
              <a:off x="5334000" y="2981325"/>
              <a:ext cx="95250" cy="95250"/>
            </a:xfrm>
            <a:prstGeom prst="ellipse">
              <a:avLst/>
            </a:prstGeom>
            <a:solidFill>
              <a:srgbClr val="2196F3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38" name="Ellipse 38"/>
            <p:cNvSpPr/>
            <p:nvPr/>
          </p:nvSpPr>
          <p:spPr>
            <a:xfrm>
              <a:off x="6143625" y="2828925"/>
              <a:ext cx="95250" cy="95250"/>
            </a:xfrm>
            <a:prstGeom prst="ellipse">
              <a:avLst/>
            </a:prstGeom>
            <a:solidFill>
              <a:srgbClr val="2196F3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39" name="Ellipse 39"/>
            <p:cNvSpPr/>
            <p:nvPr/>
          </p:nvSpPr>
          <p:spPr>
            <a:xfrm>
              <a:off x="6953250" y="2600325"/>
              <a:ext cx="95250" cy="95250"/>
            </a:xfrm>
            <a:prstGeom prst="ellipse">
              <a:avLst/>
            </a:prstGeom>
            <a:solidFill>
              <a:srgbClr val="2196F3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40" name="Ellipse 40"/>
            <p:cNvSpPr/>
            <p:nvPr/>
          </p:nvSpPr>
          <p:spPr>
            <a:xfrm>
              <a:off x="7762875" y="2333625"/>
              <a:ext cx="95250" cy="95250"/>
            </a:xfrm>
            <a:prstGeom prst="ellipse">
              <a:avLst/>
            </a:prstGeom>
            <a:solidFill>
              <a:srgbClr val="2196F3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41" name="Ellipse 41"/>
            <p:cNvSpPr/>
            <p:nvPr/>
          </p:nvSpPr>
          <p:spPr>
            <a:xfrm>
              <a:off x="8572500" y="2219325"/>
              <a:ext cx="95250" cy="95250"/>
            </a:xfrm>
            <a:prstGeom prst="ellipse">
              <a:avLst/>
            </a:prstGeom>
            <a:solidFill>
              <a:srgbClr val="2196F3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42" name="Ellipse 42"/>
            <p:cNvSpPr/>
            <p:nvPr/>
          </p:nvSpPr>
          <p:spPr>
            <a:xfrm>
              <a:off x="9382125" y="2066925"/>
              <a:ext cx="95250" cy="95250"/>
            </a:xfrm>
            <a:prstGeom prst="ellipse">
              <a:avLst/>
            </a:prstGeom>
            <a:solidFill>
              <a:srgbClr val="2196F3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43" name="Ellipse 43"/>
            <p:cNvSpPr/>
            <p:nvPr/>
          </p:nvSpPr>
          <p:spPr>
            <a:xfrm>
              <a:off x="10191750" y="1838325"/>
              <a:ext cx="95250" cy="95250"/>
            </a:xfrm>
            <a:prstGeom prst="ellipse">
              <a:avLst/>
            </a:prstGeom>
            <a:solidFill>
              <a:srgbClr val="2196F3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44" name="Ellipse 44"/>
            <p:cNvSpPr/>
            <p:nvPr/>
          </p:nvSpPr>
          <p:spPr>
            <a:xfrm>
              <a:off x="11001375" y="1685925"/>
              <a:ext cx="95250" cy="95250"/>
            </a:xfrm>
            <a:prstGeom prst="ellipse">
              <a:avLst/>
            </a:prstGeom>
            <a:solidFill>
              <a:srgbClr val="2196F3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45" name="Freeform 45"/>
            <p:cNvSpPr/>
            <p:nvPr/>
          </p:nvSpPr>
          <p:spPr>
            <a:xfrm>
              <a:off x="2143125" y="3257550"/>
              <a:ext cx="8905875" cy="1981200"/>
            </a:xfrm>
            <a:custGeom>
              <a:avLst/>
              <a:gdLst/>
              <a:ahLst/>
              <a:cxnLst/>
              <a:rect l="l" t="t" r="r" b="b"/>
              <a:pathLst>
                <a:path w="8905875" h="1981200">
                  <a:moveTo>
                    <a:pt x="0" y="1524000"/>
                  </a:moveTo>
                  <a:lnTo>
                    <a:pt x="809625" y="1409700"/>
                  </a:lnTo>
                  <a:lnTo>
                    <a:pt x="1619250" y="1295400"/>
                  </a:lnTo>
                  <a:lnTo>
                    <a:pt x="2428875" y="1143000"/>
                  </a:lnTo>
                  <a:lnTo>
                    <a:pt x="3238500" y="1028700"/>
                  </a:lnTo>
                  <a:lnTo>
                    <a:pt x="4048125" y="914400"/>
                  </a:lnTo>
                  <a:lnTo>
                    <a:pt x="4857750" y="762000"/>
                  </a:lnTo>
                  <a:lnTo>
                    <a:pt x="5667375" y="609600"/>
                  </a:lnTo>
                  <a:lnTo>
                    <a:pt x="6477000" y="533400"/>
                  </a:lnTo>
                  <a:lnTo>
                    <a:pt x="7286625" y="381000"/>
                  </a:lnTo>
                  <a:lnTo>
                    <a:pt x="8096250" y="152400"/>
                  </a:lnTo>
                  <a:lnTo>
                    <a:pt x="8905875" y="0"/>
                  </a:lnTo>
                  <a:lnTo>
                    <a:pt x="8905875" y="1981200"/>
                  </a:lnTo>
                  <a:lnTo>
                    <a:pt x="0" y="1981200"/>
                  </a:lnTo>
                  <a:close/>
                </a:path>
              </a:pathLst>
            </a:custGeom>
            <a:gradFill>
              <a:gsLst>
                <a:gs pos="0">
                  <a:srgbClr val="4CAF50">
                    <a:alpha val="6000"/>
                  </a:srgbClr>
                </a:gs>
                <a:gs pos="100000">
                  <a:srgbClr val="4CAF50">
                    <a:alpha val="15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6" name="Polyline 46"/>
            <p:cNvSpPr/>
            <p:nvPr/>
          </p:nvSpPr>
          <p:spPr>
            <a:xfrm>
              <a:off x="2143125" y="3257550"/>
              <a:ext cx="8905875" cy="1524000"/>
            </a:xfrm>
            <a:custGeom>
              <a:avLst/>
              <a:gdLst/>
              <a:ahLst/>
              <a:cxnLst/>
              <a:rect l="l" t="t" r="r" b="b"/>
              <a:pathLst>
                <a:path w="8905875" h="1524000">
                  <a:moveTo>
                    <a:pt x="0" y="1524000"/>
                  </a:moveTo>
                  <a:lnTo>
                    <a:pt x="809625" y="1409700"/>
                  </a:lnTo>
                  <a:lnTo>
                    <a:pt x="1619250" y="1295400"/>
                  </a:lnTo>
                  <a:lnTo>
                    <a:pt x="2428875" y="1143000"/>
                  </a:lnTo>
                  <a:lnTo>
                    <a:pt x="3238500" y="1028700"/>
                  </a:lnTo>
                  <a:lnTo>
                    <a:pt x="4048125" y="914400"/>
                  </a:lnTo>
                  <a:lnTo>
                    <a:pt x="4857750" y="762000"/>
                  </a:lnTo>
                  <a:lnTo>
                    <a:pt x="5667375" y="609600"/>
                  </a:lnTo>
                  <a:lnTo>
                    <a:pt x="6477000" y="533400"/>
                  </a:lnTo>
                  <a:lnTo>
                    <a:pt x="7286625" y="381000"/>
                  </a:lnTo>
                  <a:lnTo>
                    <a:pt x="8096250" y="152400"/>
                  </a:lnTo>
                  <a:lnTo>
                    <a:pt x="8905875" y="0"/>
                  </a:lnTo>
                </a:path>
              </a:pathLst>
            </a:custGeom>
            <a:noFill/>
            <a:ln w="28575" cap="rnd">
              <a:gradFill>
                <a:gsLst>
                  <a:gs pos="0">
                    <a:srgbClr val="4CAF50"/>
                  </a:gs>
                  <a:gs pos="100000">
                    <a:srgbClr val="66BB6A"/>
                  </a:gs>
                </a:gsLst>
                <a:lin ang="0" scaled="1"/>
              </a:gradFill>
              <a:round/>
            </a:ln>
          </p:spPr>
        </p:sp>
        <p:sp>
          <p:nvSpPr>
            <p:cNvPr id="47" name="Ellipse 47"/>
            <p:cNvSpPr/>
            <p:nvPr/>
          </p:nvSpPr>
          <p:spPr>
            <a:xfrm>
              <a:off x="2095500" y="473392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48" name="Ellipse 48"/>
            <p:cNvSpPr/>
            <p:nvPr/>
          </p:nvSpPr>
          <p:spPr>
            <a:xfrm>
              <a:off x="2905125" y="461962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49" name="Ellipse 49"/>
            <p:cNvSpPr/>
            <p:nvPr/>
          </p:nvSpPr>
          <p:spPr>
            <a:xfrm>
              <a:off x="3714750" y="450532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50" name="Ellipse 50"/>
            <p:cNvSpPr/>
            <p:nvPr/>
          </p:nvSpPr>
          <p:spPr>
            <a:xfrm>
              <a:off x="4524375" y="435292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51" name="Ellipse 51"/>
            <p:cNvSpPr/>
            <p:nvPr/>
          </p:nvSpPr>
          <p:spPr>
            <a:xfrm>
              <a:off x="5334000" y="423862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52" name="Ellipse 52"/>
            <p:cNvSpPr/>
            <p:nvPr/>
          </p:nvSpPr>
          <p:spPr>
            <a:xfrm>
              <a:off x="6143625" y="412432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53" name="Ellipse 53"/>
            <p:cNvSpPr/>
            <p:nvPr/>
          </p:nvSpPr>
          <p:spPr>
            <a:xfrm>
              <a:off x="6953250" y="397192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54" name="Ellipse 54"/>
            <p:cNvSpPr/>
            <p:nvPr/>
          </p:nvSpPr>
          <p:spPr>
            <a:xfrm>
              <a:off x="7762875" y="381952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55" name="Ellipse 55"/>
            <p:cNvSpPr/>
            <p:nvPr/>
          </p:nvSpPr>
          <p:spPr>
            <a:xfrm>
              <a:off x="8572500" y="374332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56" name="Ellipse 56"/>
            <p:cNvSpPr/>
            <p:nvPr/>
          </p:nvSpPr>
          <p:spPr>
            <a:xfrm>
              <a:off x="9382125" y="359092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57" name="Ellipse 57"/>
            <p:cNvSpPr/>
            <p:nvPr/>
          </p:nvSpPr>
          <p:spPr>
            <a:xfrm>
              <a:off x="10191750" y="336232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  <p:sp>
          <p:nvSpPr>
            <p:cNvPr id="58" name="Ellipse 58"/>
            <p:cNvSpPr/>
            <p:nvPr/>
          </p:nvSpPr>
          <p:spPr>
            <a:xfrm>
              <a:off x="11001375" y="320992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  <a:effectLst>
              <a:outerShdw blurRad="38100" dist="9525" dir="10796562" algn="tl" rotWithShape="0">
                <a:srgbClr val="000000">
                  <a:alpha val="40000"/>
                </a:srgbClr>
              </a:outerShdw>
            </a:effectLst>
          </p:spPr>
        </p:sp>
      </p:grpSp>
      <p:grpSp>
        <p:nvGrpSpPr>
          <p:cNvPr id="66" name="Group 66"/>
          <p:cNvGrpSpPr/>
          <p:nvPr/>
        </p:nvGrpSpPr>
        <p:grpSpPr>
          <a:xfrm>
            <a:off x="8763000" y="5926931"/>
            <a:ext cx="2031206" cy="228600"/>
            <a:chOff x="8763000" y="5926931"/>
            <a:chExt cx="2031206" cy="228600"/>
          </a:xfrm>
        </p:grpSpPr>
        <p:sp>
          <p:nvSpPr>
            <p:cNvPr id="60" name="Line 60"/>
            <p:cNvSpPr/>
            <p:nvPr/>
          </p:nvSpPr>
          <p:spPr>
            <a:xfrm>
              <a:off x="8763000" y="60007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2196F3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8858250" y="5953125"/>
              <a:ext cx="95250" cy="95250"/>
            </a:xfrm>
            <a:prstGeom prst="ellipse">
              <a:avLst/>
            </a:prstGeom>
            <a:solidFill>
              <a:srgbClr val="2196F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129712" y="5926931"/>
              <a:ext cx="357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营收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9906000" y="60007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4CAF50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10001250" y="595312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272712" y="5926931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净利润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58165" y="6506528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5A5A6"/>
                </a:solidFill>
                <a:latin typeface="Segoe UI"/>
                <a:ea typeface="Microsoft YaHei"/>
                <a:cs typeface="Segoe UI"/>
              </a:rPr>
              <a:t>数据来源: 财务部门月度报告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5F6F8"/>
              </a:gs>
            </a:gsLst>
            <a:lin ang="54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375285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252F"/>
                </a:solidFill>
                <a:latin typeface="Segoe UI"/>
                <a:ea typeface="Microsoft YaHei"/>
                <a:cs typeface="Segoe UI"/>
              </a:rPr>
              <a:t>产品组合矩阵分析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212" y="783431"/>
            <a:ext cx="34461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AA0A6"/>
                </a:solidFill>
                <a:latin typeface="Segoe UI"/>
                <a:ea typeface="Microsoft YaHei"/>
                <a:cs typeface="Segoe UI"/>
              </a:rPr>
              <a:t>Boston Matrix · Product Portfolio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1013460"/>
            <a:ext cx="40351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6368"/>
                </a:solidFill>
                <a:latin typeface="Segoe UI"/>
                <a:ea typeface="Microsoft YaHei"/>
                <a:cs typeface="Segoe UI"/>
              </a:rPr>
              <a:t>市场增长率 vs 市场占有率 · 气泡大小代表营收规模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-167640" y="1601152"/>
            <a:ext cx="10121265" cy="4990148"/>
            <a:chOff x="-167640" y="1601152"/>
            <a:chExt cx="10121265" cy="4990148"/>
          </a:xfrm>
        </p:grpSpPr>
        <p:sp>
          <p:nvSpPr>
            <p:cNvPr id="6" name="Rectangle 6"/>
            <p:cNvSpPr/>
            <p:nvPr/>
          </p:nvSpPr>
          <p:spPr>
            <a:xfrm>
              <a:off x="5381625" y="1619250"/>
              <a:ext cx="4572000" cy="2286000"/>
            </a:xfrm>
            <a:prstGeom prst="rect">
              <a:avLst/>
            </a:prstGeom>
            <a:gradFill>
              <a:gsLst>
                <a:gs pos="0">
                  <a:srgbClr val="E8F5E9"/>
                </a:gs>
                <a:gs pos="100000">
                  <a:srgbClr val="C8E6C9"/>
                </a:gs>
              </a:gsLst>
              <a:lin ang="2700000" scaled="1"/>
            </a:gradFill>
            <a:ln w="28575">
              <a:solidFill>
                <a:srgbClr val="FFFFF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09625" y="1619250"/>
              <a:ext cx="4572000" cy="2286000"/>
            </a:xfrm>
            <a:prstGeom prst="rect">
              <a:avLst/>
            </a:prstGeom>
            <a:gradFill>
              <a:gsLst>
                <a:gs pos="0">
                  <a:srgbClr val="FFF8E1"/>
                </a:gs>
                <a:gs pos="100000">
                  <a:srgbClr val="FFE082"/>
                </a:gs>
              </a:gsLst>
              <a:lin ang="2700000" scaled="1"/>
            </a:gradFill>
            <a:ln w="28575">
              <a:solidFill>
                <a:srgbClr val="FFFFF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09625" y="3905250"/>
              <a:ext cx="4572000" cy="2286000"/>
            </a:xfrm>
            <a:prstGeom prst="rect">
              <a:avLst/>
            </a:prstGeom>
            <a:gradFill>
              <a:gsLst>
                <a:gs pos="0">
                  <a:srgbClr val="FFEBEE"/>
                </a:gs>
                <a:gs pos="100000">
                  <a:srgbClr val="FFCDD2"/>
                </a:gs>
              </a:gsLst>
              <a:lin ang="2700000" scaled="1"/>
            </a:gradFill>
            <a:ln w="28575">
              <a:solidFill>
                <a:srgbClr val="FFFFF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81625" y="3905250"/>
              <a:ext cx="4572000" cy="2286000"/>
            </a:xfrm>
            <a:prstGeom prst="rect">
              <a:avLst/>
            </a:prstGeom>
            <a:gradFill>
              <a:gsLst>
                <a:gs pos="0">
                  <a:srgbClr val="E3F2FD"/>
                </a:gs>
                <a:gs pos="100000">
                  <a:srgbClr val="BBDEFB"/>
                </a:gs>
              </a:gsLst>
              <a:lin ang="2700000" scaled="1"/>
            </a:gradFill>
            <a:ln w="28575">
              <a:solidFill>
                <a:srgbClr val="FFFFF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09625" y="39052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38100">
              <a:solidFill>
                <a:srgbClr val="1A252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381625" y="161925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38100">
              <a:solidFill>
                <a:srgbClr val="1A252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276049" y="6347460"/>
              <a:ext cx="22111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市场占有率 Market Share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40635" y="636365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低 Low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05217" y="6363652"/>
              <a:ext cx="525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高 High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 rot="-5400000">
              <a:off x="-94297" y="37757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市场增长率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 rot="-5400000">
              <a:off x="-167640" y="38080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Growth Rate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915" y="6125528"/>
              <a:ext cx="180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772" y="6273641"/>
              <a:ext cx="2438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Low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915" y="1601152"/>
              <a:ext cx="180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772" y="1749266"/>
              <a:ext cx="255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High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1075" y="1743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7C00"/>
                  </a:solidFill>
                  <a:latin typeface="Segoe UI"/>
                  <a:ea typeface="Microsoft YaHei"/>
                  <a:cs typeface="Segoe UI"/>
                </a:rPr>
                <a:t>问题产品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8695" y="1998345"/>
              <a:ext cx="10218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65100"/>
                  </a:solidFill>
                  <a:latin typeface="Segoe UI"/>
                  <a:ea typeface="Microsoft YaHei"/>
                  <a:cs typeface="Segoe UI"/>
                </a:rPr>
                <a:t>Question Marks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6790" y="215360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84315"/>
                  </a:solidFill>
                  <a:latin typeface="Segoe UI"/>
                  <a:ea typeface="Microsoft YaHei"/>
                  <a:cs typeface="Segoe UI"/>
                </a:rPr>
                <a:t>高投入 · 低回报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53075" y="1743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88E3C"/>
                  </a:solidFill>
                  <a:latin typeface="Segoe UI"/>
                  <a:ea typeface="Microsoft YaHei"/>
                  <a:cs typeface="Segoe UI"/>
                </a:rPr>
                <a:t>明星产品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60695" y="1998345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Stars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58790" y="215360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5E20"/>
                  </a:solidFill>
                  <a:latin typeface="Segoe UI"/>
                  <a:ea typeface="Microsoft YaHei"/>
                  <a:cs typeface="Segoe UI"/>
                </a:rPr>
                <a:t>高投入 · 高回报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1075" y="56483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32F2F"/>
                  </a:solidFill>
                  <a:latin typeface="Segoe UI"/>
                  <a:ea typeface="Microsoft YaHei"/>
                  <a:cs typeface="Segoe UI"/>
                </a:rPr>
                <a:t>瘦狗产品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8695" y="5903595"/>
              <a:ext cx="312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Dogs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53075" y="56483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76D2"/>
                  </a:solidFill>
                  <a:latin typeface="Segoe UI"/>
                  <a:ea typeface="Microsoft YaHei"/>
                  <a:cs typeface="Segoe UI"/>
                </a:rPr>
                <a:t>现金牛产品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60695" y="5903595"/>
              <a:ext cx="6669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Cash Cows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48600" y="1828800"/>
              <a:ext cx="1047750" cy="1047750"/>
            </a:xfrm>
            <a:prstGeom prst="ellipse">
              <a:avLst/>
            </a:prstGeom>
            <a:solidFill>
              <a:srgbClr val="4CAF50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106989" y="2186464"/>
              <a:ext cx="5309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1508" y="2391728"/>
              <a:ext cx="541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¥3.2亿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8239125" y="4514850"/>
              <a:ext cx="1333500" cy="1333500"/>
            </a:xfrm>
            <a:prstGeom prst="ellipse">
              <a:avLst/>
            </a:prstGeom>
            <a:solidFill>
              <a:srgbClr val="2196F3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8624772" y="4997768"/>
              <a:ext cx="5622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15553" y="5212556"/>
              <a:ext cx="5806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¥4.8亿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2162175" y="1771650"/>
              <a:ext cx="800100" cy="800100"/>
            </a:xfrm>
            <a:prstGeom prst="ellipse">
              <a:avLst/>
            </a:prstGeom>
            <a:solidFill>
              <a:srgbClr val="FF9800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8" name="TextBox 38"/>
            <p:cNvSpPr txBox="1"/>
            <p:nvPr/>
          </p:nvSpPr>
          <p:spPr>
            <a:xfrm>
              <a:off x="2312356" y="2013585"/>
              <a:ext cx="4997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29302" y="2209324"/>
              <a:ext cx="465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¥1.6亿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2733675" y="2581275"/>
              <a:ext cx="723900" cy="723900"/>
            </a:xfrm>
            <a:prstGeom prst="ellipse">
              <a:avLst/>
            </a:prstGeom>
            <a:solidFill>
              <a:srgbClr val="FF9800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1" name="TextBox 41"/>
            <p:cNvSpPr txBox="1"/>
            <p:nvPr/>
          </p:nvSpPr>
          <p:spPr>
            <a:xfrm>
              <a:off x="2861373" y="2793206"/>
              <a:ext cx="4685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62702" y="2971324"/>
              <a:ext cx="465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¥1.2亿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1571625" y="5172075"/>
              <a:ext cx="571500" cy="571500"/>
            </a:xfrm>
            <a:prstGeom prst="ellipse">
              <a:avLst/>
            </a:prstGeom>
            <a:solidFill>
              <a:srgbClr val="E74C3C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4" name="TextBox 44"/>
            <p:cNvSpPr txBox="1"/>
            <p:nvPr/>
          </p:nvSpPr>
          <p:spPr>
            <a:xfrm>
              <a:off x="1638739" y="5325428"/>
              <a:ext cx="4372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25117" y="5494020"/>
              <a:ext cx="4645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¥0.5亿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29400" y="4391025"/>
              <a:ext cx="857250" cy="857250"/>
            </a:xfrm>
            <a:prstGeom prst="ellipse">
              <a:avLst/>
            </a:prstGeom>
            <a:solidFill>
              <a:srgbClr val="2196F3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7" name="TextBox 47"/>
            <p:cNvSpPr txBox="1"/>
            <p:nvPr/>
          </p:nvSpPr>
          <p:spPr>
            <a:xfrm>
              <a:off x="6808156" y="4661535"/>
              <a:ext cx="4997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25102" y="4857274"/>
              <a:ext cx="465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¥1.8亿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238875" y="2333625"/>
              <a:ext cx="762000" cy="762000"/>
            </a:xfrm>
            <a:prstGeom prst="ellipse">
              <a:avLst/>
            </a:prstGeom>
            <a:solidFill>
              <a:srgbClr val="4CAF50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50" name="TextBox 50"/>
            <p:cNvSpPr txBox="1"/>
            <p:nvPr/>
          </p:nvSpPr>
          <p:spPr>
            <a:xfrm>
              <a:off x="6385623" y="2564606"/>
              <a:ext cx="4685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86952" y="2742724"/>
              <a:ext cx="465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¥1.4亿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191750" y="1714500"/>
            <a:ext cx="1619250" cy="2286000"/>
            <a:chOff x="10191750" y="1714500"/>
            <a:chExt cx="1619250" cy="2286000"/>
          </a:xfrm>
        </p:grpSpPr>
        <p:sp>
          <p:nvSpPr>
            <p:cNvPr id="53" name="Rectangle 53"/>
            <p:cNvSpPr/>
            <p:nvPr/>
          </p:nvSpPr>
          <p:spPr>
            <a:xfrm>
              <a:off x="10191750" y="1714500"/>
              <a:ext cx="1619250" cy="2286000"/>
            </a:xfrm>
            <a:prstGeom prst="rect">
              <a:avLst/>
            </a:prstGeom>
            <a:solidFill>
              <a:srgbClr val="FFFFFF">
                <a:alpha val="95000"/>
              </a:srgbClr>
            </a:solidFill>
            <a:ln w="14288">
              <a:solidFill>
                <a:srgbClr val="E0E0E0">
                  <a:alpha val="95000"/>
                </a:srgbClr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642044" y="18788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战略建议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10334625" y="21431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0325100" y="2324100"/>
              <a:ext cx="114300" cy="114300"/>
            </a:xfrm>
            <a:prstGeom prst="ellipse">
              <a:avLst/>
            </a:prstGeom>
            <a:solidFill>
              <a:srgbClr val="4CAF50">
                <a:alpha val="9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513695" y="2322195"/>
              <a:ext cx="9682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88E3C"/>
                  </a:solidFill>
                  <a:latin typeface="Segoe UI"/>
                  <a:ea typeface="Microsoft YaHei"/>
                  <a:cs typeface="Segoe UI"/>
                </a:rPr>
                <a:t>明星: 持续投资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0325100" y="2657475"/>
              <a:ext cx="114300" cy="114300"/>
            </a:xfrm>
            <a:prstGeom prst="ellipse">
              <a:avLst/>
            </a:prstGeom>
            <a:solidFill>
              <a:srgbClr val="FF9800">
                <a:alpha val="9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513695" y="2655570"/>
              <a:ext cx="11062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7C00"/>
                  </a:solidFill>
                  <a:latin typeface="Segoe UI"/>
                  <a:ea typeface="Microsoft YaHei"/>
                  <a:cs typeface="Segoe UI"/>
                </a:rPr>
                <a:t>问题: 选择性投资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10325100" y="2990850"/>
              <a:ext cx="114300" cy="114300"/>
            </a:xfrm>
            <a:prstGeom prst="ellipse">
              <a:avLst/>
            </a:prstGeom>
            <a:solidFill>
              <a:srgbClr val="2196F3">
                <a:alpha val="90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513695" y="2988945"/>
              <a:ext cx="8302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976D2"/>
                  </a:solidFill>
                  <a:latin typeface="Segoe UI"/>
                  <a:ea typeface="Microsoft YaHei"/>
                  <a:cs typeface="Segoe UI"/>
                </a:rPr>
                <a:t>现金牛: 收割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10325100" y="3324225"/>
              <a:ext cx="114300" cy="114300"/>
            </a:xfrm>
            <a:prstGeom prst="ellipse">
              <a:avLst/>
            </a:prstGeom>
            <a:solidFill>
              <a:srgbClr val="E74C3C">
                <a:alpha val="9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513695" y="3322320"/>
              <a:ext cx="6922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32F2F"/>
                  </a:solidFill>
                  <a:latin typeface="Segoe UI"/>
                  <a:ea typeface="Microsoft YaHei"/>
                  <a:cs typeface="Segoe UI"/>
                </a:rPr>
                <a:t>瘦狗: 撤资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490716" y="3681412"/>
              <a:ext cx="102131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气泡大小 = 营收规模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559118" y="6609874"/>
            <a:ext cx="45957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AA0A6"/>
                </a:solidFill>
                <a:latin typeface="Segoe UI"/>
                <a:ea typeface="Microsoft YaHei"/>
                <a:cs typeface="Segoe UI"/>
              </a:rPr>
              <a:t>数据来源: 市场研究部门分析 | Source: Market Research Department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市场份额分布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4355" y="949642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F8C8D"/>
                </a:solidFill>
                <a:latin typeface="Segoe UI"/>
                <a:ea typeface="Microsoft YaHei"/>
                <a:cs typeface="Segoe UI"/>
              </a:rPr>
              <a:t>2025年第三季度 · 行业整体市场规模 120亿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885012" y="1904913"/>
            <a:ext cx="4105514" cy="3884590"/>
            <a:chOff x="1885012" y="1904913"/>
            <a:chExt cx="4105514" cy="3884590"/>
          </a:xfrm>
        </p:grpSpPr>
        <p:sp>
          <p:nvSpPr>
            <p:cNvPr id="5" name="Freeform 5"/>
            <p:cNvSpPr/>
            <p:nvPr/>
          </p:nvSpPr>
          <p:spPr>
            <a:xfrm>
              <a:off x="4000500" y="1905000"/>
              <a:ext cx="1990026" cy="2857500"/>
            </a:xfrm>
            <a:custGeom>
              <a:avLst/>
              <a:gdLst/>
              <a:ahLst/>
              <a:cxnLst/>
              <a:rect l="l" t="t" r="r" b="b"/>
              <a:pathLst>
                <a:path w="1990026" h="2857500">
                  <a:moveTo>
                    <a:pt x="0" y="1905000"/>
                  </a:moveTo>
                  <a:lnTo>
                    <a:pt x="0" y="0"/>
                  </a:lnTo>
                  <a:cubicBezTo>
                    <a:pt x="680582" y="17"/>
                    <a:pt x="1309458" y="363115"/>
                    <a:pt x="1649742" y="952521"/>
                  </a:cubicBezTo>
                  <a:cubicBezTo>
                    <a:pt x="1990026" y="1541927"/>
                    <a:pt x="1990021" y="2268098"/>
                    <a:pt x="1649730" y="2857500"/>
                  </a:cubicBezTo>
                  <a:close/>
                </a:path>
              </a:pathLst>
            </a:custGeom>
            <a:gradFill>
              <a:gsLst>
                <a:gs pos="0">
                  <a:srgbClr val="2196F3"/>
                </a:gs>
                <a:gs pos="100000">
                  <a:srgbClr val="1976D2"/>
                </a:gs>
              </a:gsLst>
              <a:lin ang="2700000" scaled="1"/>
            </a:gradFill>
            <a:ln>
              <a:noFill/>
            </a:ln>
            <a:effectLst>
              <a:outerShdw blurRad="57150" dist="19050" dir="10798281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2880741" y="3810000"/>
              <a:ext cx="2769489" cy="1979503"/>
            </a:xfrm>
            <a:custGeom>
              <a:avLst/>
              <a:gdLst/>
              <a:ahLst/>
              <a:cxnLst/>
              <a:rect l="l" t="t" r="r" b="b"/>
              <a:pathLst>
                <a:path w="2769489" h="1979503">
                  <a:moveTo>
                    <a:pt x="1119759" y="0"/>
                  </a:moveTo>
                  <a:lnTo>
                    <a:pt x="2769489" y="952500"/>
                  </a:lnTo>
                  <a:cubicBezTo>
                    <a:pt x="2500425" y="1420885"/>
                    <a:pt x="2045167" y="1753023"/>
                    <a:pt x="1517003" y="1866263"/>
                  </a:cubicBezTo>
                  <a:cubicBezTo>
                    <a:pt x="988840" y="1979503"/>
                    <a:pt x="437434" y="1863198"/>
                    <a:pt x="0" y="1546288"/>
                  </a:cubicBezTo>
                  <a:close/>
                </a:path>
              </a:pathLst>
            </a:custGeom>
            <a:gradFill>
              <a:gsLst>
                <a:gs pos="0">
                  <a:srgbClr val="4CAF50"/>
                </a:gs>
                <a:gs pos="100000">
                  <a:srgbClr val="388E3C"/>
                </a:gs>
              </a:gsLst>
              <a:lin ang="2700000" scaled="1"/>
            </a:gradFill>
            <a:ln>
              <a:noFill/>
            </a:ln>
            <a:effectLst>
              <a:outerShdw blurRad="57150" dist="19050" dir="10798281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7" name="Freeform 7"/>
            <p:cNvSpPr/>
            <p:nvPr/>
          </p:nvSpPr>
          <p:spPr>
            <a:xfrm>
              <a:off x="1885012" y="3210592"/>
              <a:ext cx="2115488" cy="2145697"/>
            </a:xfrm>
            <a:custGeom>
              <a:avLst/>
              <a:gdLst/>
              <a:ahLst/>
              <a:cxnLst/>
              <a:rect l="l" t="t" r="r" b="b"/>
              <a:pathLst>
                <a:path w="2115488" h="2145697">
                  <a:moveTo>
                    <a:pt x="2115488" y="599408"/>
                  </a:moveTo>
                  <a:lnTo>
                    <a:pt x="995729" y="2145697"/>
                  </a:lnTo>
                  <a:cubicBezTo>
                    <a:pt x="302051" y="1672518"/>
                    <a:pt x="0" y="800953"/>
                    <a:pt x="252112" y="0"/>
                  </a:cubicBezTo>
                  <a:close/>
                </a:path>
              </a:pathLst>
            </a:custGeom>
            <a:gradFill>
              <a:gsLst>
                <a:gs pos="0">
                  <a:srgbClr val="FF9800"/>
                </a:gs>
                <a:gs pos="100000">
                  <a:srgbClr val="F57C00"/>
                </a:gs>
              </a:gsLst>
              <a:lin ang="2700000" scaled="1"/>
            </a:gradFill>
            <a:ln>
              <a:noFill/>
            </a:ln>
            <a:effectLst>
              <a:outerShdw blurRad="57150" dist="19050" dir="10798281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8" name="Freeform 8"/>
            <p:cNvSpPr/>
            <p:nvPr/>
          </p:nvSpPr>
          <p:spPr>
            <a:xfrm>
              <a:off x="2137124" y="2001488"/>
              <a:ext cx="1863376" cy="1808512"/>
            </a:xfrm>
            <a:custGeom>
              <a:avLst/>
              <a:gdLst/>
              <a:ahLst/>
              <a:cxnLst/>
              <a:rect l="l" t="t" r="r" b="b"/>
              <a:pathLst>
                <a:path w="1863376" h="1808512">
                  <a:moveTo>
                    <a:pt x="1863376" y="1808512"/>
                  </a:moveTo>
                  <a:lnTo>
                    <a:pt x="0" y="1209104"/>
                  </a:lnTo>
                  <a:cubicBezTo>
                    <a:pt x="200452" y="625030"/>
                    <a:pt x="671580" y="174353"/>
                    <a:pt x="1263967" y="0"/>
                  </a:cubicBezTo>
                  <a:close/>
                </a:path>
              </a:pathLst>
            </a:custGeom>
            <a:gradFill>
              <a:gsLst>
                <a:gs pos="0">
                  <a:srgbClr val="9C27B0"/>
                </a:gs>
                <a:gs pos="100000">
                  <a:srgbClr val="7B1FA2"/>
                </a:gs>
              </a:gsLst>
              <a:lin ang="2700000" scaled="1"/>
            </a:gradFill>
            <a:ln>
              <a:noFill/>
            </a:ln>
            <a:effectLst>
              <a:outerShdw blurRad="57150" dist="19050" dir="10798281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9" name="Freeform 9"/>
            <p:cNvSpPr/>
            <p:nvPr/>
          </p:nvSpPr>
          <p:spPr>
            <a:xfrm>
              <a:off x="3401092" y="1904913"/>
              <a:ext cx="599408" cy="1905087"/>
            </a:xfrm>
            <a:custGeom>
              <a:avLst/>
              <a:gdLst/>
              <a:ahLst/>
              <a:cxnLst/>
              <a:rect l="l" t="t" r="r" b="b"/>
              <a:pathLst>
                <a:path w="599408" h="1905087">
                  <a:moveTo>
                    <a:pt x="599408" y="1905087"/>
                  </a:moveTo>
                  <a:lnTo>
                    <a:pt x="0" y="96576"/>
                  </a:lnTo>
                  <a:cubicBezTo>
                    <a:pt x="193360" y="32576"/>
                    <a:pt x="395732" y="0"/>
                    <a:pt x="599408" y="87"/>
                  </a:cubicBezTo>
                  <a:close/>
                </a:path>
              </a:pathLst>
            </a:custGeom>
            <a:gradFill>
              <a:gsLst>
                <a:gs pos="0">
                  <a:srgbClr val="607D8B"/>
                </a:gs>
                <a:gs pos="100000">
                  <a:srgbClr val="455A64"/>
                </a:gs>
              </a:gsLst>
              <a:lin ang="2700000" scaled="1"/>
            </a:gradFill>
            <a:ln>
              <a:noFill/>
            </a:ln>
            <a:effectLst>
              <a:outerShdw blurRad="57150" dist="19050" dir="10798281" algn="tl" rotWithShape="0">
                <a:srgbClr val="000000">
                  <a:alpha val="25000"/>
                </a:srgbClr>
              </a:outerShdw>
            </a:effectLst>
          </p:spPr>
        </p:sp>
      </p:grpSp>
      <p:sp>
        <p:nvSpPr>
          <p:cNvPr id="11" name="TextBox 11"/>
          <p:cNvSpPr txBox="1"/>
          <p:nvPr/>
        </p:nvSpPr>
        <p:spPr>
          <a:xfrm>
            <a:off x="4511912" y="2853690"/>
            <a:ext cx="5011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35%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56544" y="4774882"/>
            <a:ext cx="4594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25%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58176" y="4410075"/>
            <a:ext cx="41764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20%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04937" y="2902268"/>
            <a:ext cx="3241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12%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925585" y="1442085"/>
            <a:ext cx="722490" cy="681990"/>
            <a:chOff x="2925585" y="1442085"/>
            <a:chExt cx="722490" cy="681990"/>
          </a:xfrm>
        </p:grpSpPr>
        <p:sp>
          <p:nvSpPr>
            <p:cNvPr id="15" name="Line 15"/>
            <p:cNvSpPr/>
            <p:nvPr/>
          </p:nvSpPr>
          <p:spPr>
            <a:xfrm>
              <a:off x="3238500" y="1619250"/>
              <a:ext cx="381000" cy="476250"/>
            </a:xfrm>
            <a:custGeom>
              <a:avLst/>
              <a:gdLst/>
              <a:ahLst/>
              <a:cxnLst/>
              <a:rect l="l" t="t" r="r" b="b"/>
              <a:pathLst>
                <a:path w="381000" h="476250">
                  <a:moveTo>
                    <a:pt x="381000" y="4762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607D8B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590925" y="2066925"/>
              <a:ext cx="57150" cy="57150"/>
            </a:xfrm>
            <a:prstGeom prst="ellipse">
              <a:avLst/>
            </a:prstGeom>
            <a:solidFill>
              <a:srgbClr val="607D8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25585" y="1442085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607D8B"/>
                  </a:solidFill>
                  <a:latin typeface="Segoe UI"/>
                  <a:ea typeface="Microsoft YaHei"/>
                  <a:cs typeface="Segoe UI"/>
                </a:rPr>
                <a:t>8%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38950" y="1743075"/>
            <a:ext cx="4419600" cy="2876550"/>
            <a:chOff x="6838950" y="1743075"/>
            <a:chExt cx="4419600" cy="2876550"/>
          </a:xfrm>
        </p:grpSpPr>
        <p:sp>
          <p:nvSpPr>
            <p:cNvPr id="19" name="TextBox 19"/>
            <p:cNvSpPr txBox="1"/>
            <p:nvPr/>
          </p:nvSpPr>
          <p:spPr>
            <a:xfrm>
              <a:off x="6838950" y="1743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市场份额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58000" y="2190750"/>
              <a:ext cx="228600" cy="228600"/>
            </a:xfrm>
            <a:prstGeom prst="rect">
              <a:avLst/>
            </a:prstGeom>
            <a:gradFill>
              <a:gsLst>
                <a:gs pos="0">
                  <a:srgbClr val="2196F3"/>
                </a:gs>
                <a:gs pos="100000">
                  <a:srgbClr val="1976D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21855" y="2216468"/>
              <a:ext cx="5370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公司A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56172" y="2216468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42亿 (35%)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58000" y="2571750"/>
              <a:ext cx="228600" cy="228600"/>
            </a:xfrm>
            <a:prstGeom prst="rect">
              <a:avLst/>
            </a:prstGeom>
            <a:gradFill>
              <a:gsLst>
                <a:gs pos="0">
                  <a:srgbClr val="4CAF50"/>
                </a:gs>
                <a:gs pos="100000">
                  <a:srgbClr val="388E3C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21855" y="2597468"/>
              <a:ext cx="5370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公司B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56172" y="2597468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30亿 (25%)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858000" y="2952750"/>
              <a:ext cx="228600" cy="228600"/>
            </a:xfrm>
            <a:prstGeom prst="rect">
              <a:avLst/>
            </a:prstGeom>
            <a:gradFill>
              <a:gsLst>
                <a:gs pos="0">
                  <a:srgbClr val="FF9800"/>
                </a:gs>
                <a:gs pos="100000">
                  <a:srgbClr val="F57C0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21855" y="2978468"/>
              <a:ext cx="5370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公司C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56172" y="2978468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24亿 (20%)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58000" y="3333750"/>
              <a:ext cx="228600" cy="228600"/>
            </a:xfrm>
            <a:prstGeom prst="rect">
              <a:avLst/>
            </a:prstGeom>
            <a:gradFill>
              <a:gsLst>
                <a:gs pos="0">
                  <a:srgbClr val="9C27B0"/>
                </a:gs>
                <a:gs pos="100000">
                  <a:srgbClr val="7B1FA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21855" y="3359468"/>
              <a:ext cx="5370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公司D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31956" y="3359468"/>
              <a:ext cx="12246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14.4亿 (12%)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58000" y="3714750"/>
              <a:ext cx="228600" cy="228600"/>
            </a:xfrm>
            <a:prstGeom prst="rect">
              <a:avLst/>
            </a:prstGeom>
            <a:gradFill>
              <a:gsLst>
                <a:gs pos="0">
                  <a:srgbClr val="607D8B"/>
                </a:gs>
                <a:gs pos="100000">
                  <a:srgbClr val="455A64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21855" y="3740468"/>
              <a:ext cx="4286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其他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56172" y="3740468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9.6亿 (8%)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858000" y="41910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19050">
              <a:solidFill>
                <a:srgbClr val="E0E0E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40855" y="43310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市场总规模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97785" y="4314825"/>
              <a:ext cx="13607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120亿 (100%)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58165" y="6506528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5A5A6"/>
                </a:solidFill>
                <a:latin typeface="Segoe UI"/>
                <a:ea typeface="Microsoft YaHei"/>
                <a:cs typeface="Segoe UI"/>
              </a:rPr>
              <a:t>数据来源: 行业研究报告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407670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各季度产品线销售对比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4355" y="854392"/>
            <a:ext cx="22721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F8C8D"/>
                </a:solidFill>
                <a:latin typeface="Segoe UI"/>
                <a:ea typeface="Microsoft YaHei"/>
                <a:cs typeface="Segoe UI"/>
              </a:rPr>
              <a:t>2025年度 · 单位：百万元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72500" y="666750"/>
            <a:ext cx="3169324" cy="250031"/>
            <a:chOff x="8572500" y="666750"/>
            <a:chExt cx="3169324" cy="250031"/>
          </a:xfrm>
        </p:grpSpPr>
        <p:sp>
          <p:nvSpPr>
            <p:cNvPr id="5" name="Rectangle 5"/>
            <p:cNvSpPr/>
            <p:nvPr/>
          </p:nvSpPr>
          <p:spPr>
            <a:xfrm>
              <a:off x="8572500" y="666750"/>
              <a:ext cx="190500" cy="190500"/>
            </a:xfrm>
            <a:prstGeom prst="rect">
              <a:avLst/>
            </a:prstGeom>
            <a:gradFill>
              <a:gsLst>
                <a:gs pos="0">
                  <a:srgbClr val="2196F3"/>
                </a:gs>
                <a:gs pos="100000">
                  <a:srgbClr val="1976D2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43962" y="688181"/>
              <a:ext cx="611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产品线A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715500" y="666750"/>
              <a:ext cx="190500" cy="190500"/>
            </a:xfrm>
            <a:prstGeom prst="rect">
              <a:avLst/>
            </a:prstGeom>
            <a:gradFill>
              <a:gsLst>
                <a:gs pos="0">
                  <a:srgbClr val="4CAF50"/>
                </a:gs>
                <a:gs pos="100000">
                  <a:srgbClr val="388E3C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86962" y="688181"/>
              <a:ext cx="611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产品线B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858500" y="666750"/>
              <a:ext cx="190500" cy="190500"/>
            </a:xfrm>
            <a:prstGeom prst="rect">
              <a:avLst/>
            </a:prstGeom>
            <a:gradFill>
              <a:gsLst>
                <a:gs pos="0">
                  <a:srgbClr val="FF9800"/>
                </a:gs>
                <a:gs pos="100000">
                  <a:srgbClr val="F57C0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129962" y="688181"/>
              <a:ext cx="611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产品线C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24258" y="1571625"/>
            <a:ext cx="10315242" cy="4271963"/>
            <a:chOff x="924258" y="1571625"/>
            <a:chExt cx="10315242" cy="4271963"/>
          </a:xfrm>
        </p:grpSpPr>
        <p:sp>
          <p:nvSpPr>
            <p:cNvPr id="12" name="Line 12"/>
            <p:cNvSpPr/>
            <p:nvPr/>
          </p:nvSpPr>
          <p:spPr>
            <a:xfrm>
              <a:off x="1333500" y="54292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3" name="Line 13"/>
            <p:cNvSpPr/>
            <p:nvPr/>
          </p:nvSpPr>
          <p:spPr>
            <a:xfrm>
              <a:off x="1333500" y="4572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4" name="Line 14"/>
            <p:cNvSpPr/>
            <p:nvPr/>
          </p:nvSpPr>
          <p:spPr>
            <a:xfrm>
              <a:off x="1333500" y="37147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5" name="Line 15"/>
            <p:cNvSpPr/>
            <p:nvPr/>
          </p:nvSpPr>
          <p:spPr>
            <a:xfrm>
              <a:off x="1333500" y="2857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6" name="Line 16"/>
            <p:cNvSpPr/>
            <p:nvPr/>
          </p:nvSpPr>
          <p:spPr>
            <a:xfrm>
              <a:off x="1333500" y="20002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2946" y="5363528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8602" y="450627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50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2596" y="3649028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100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2596" y="2791778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150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4258" y="193452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200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333500" y="1571625"/>
              <a:ext cx="9525" cy="3857625"/>
            </a:xfrm>
            <a:custGeom>
              <a:avLst/>
              <a:gdLst/>
              <a:ahLst/>
              <a:cxnLst/>
              <a:rect l="l" t="t" r="r" b="b"/>
              <a:pathLst>
                <a:path w="9525" h="3857625">
                  <a:moveTo>
                    <a:pt x="0" y="0"/>
                  </a:moveTo>
                  <a:lnTo>
                    <a:pt x="0" y="3857625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333500" y="54292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619250" y="3371850"/>
              <a:ext cx="571500" cy="2057400"/>
            </a:xfrm>
            <a:prstGeom prst="rect">
              <a:avLst/>
            </a:prstGeom>
            <a:gradFill>
              <a:gsLst>
                <a:gs pos="0">
                  <a:srgbClr val="2196F3"/>
                </a:gs>
                <a:gs pos="100000">
                  <a:srgbClr val="1976D2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25" name="TextBox 25"/>
            <p:cNvSpPr txBox="1"/>
            <p:nvPr/>
          </p:nvSpPr>
          <p:spPr>
            <a:xfrm>
              <a:off x="1778951" y="3144202"/>
              <a:ext cx="252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120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286000" y="3971925"/>
              <a:ext cx="571500" cy="1457325"/>
            </a:xfrm>
            <a:prstGeom prst="rect">
              <a:avLst/>
            </a:prstGeom>
            <a:gradFill>
              <a:gsLst>
                <a:gs pos="0">
                  <a:srgbClr val="4CAF50"/>
                </a:gs>
                <a:gs pos="100000">
                  <a:srgbClr val="388E3C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27" name="TextBox 27"/>
            <p:cNvSpPr txBox="1"/>
            <p:nvPr/>
          </p:nvSpPr>
          <p:spPr>
            <a:xfrm>
              <a:off x="2469854" y="374427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85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952750" y="4314825"/>
              <a:ext cx="571500" cy="1114425"/>
            </a:xfrm>
            <a:prstGeom prst="rect">
              <a:avLst/>
            </a:prstGeom>
            <a:gradFill>
              <a:gsLst>
                <a:gs pos="0">
                  <a:srgbClr val="FF9800"/>
                </a:gs>
                <a:gs pos="100000">
                  <a:srgbClr val="F57C00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3136604" y="408717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65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08217" y="5569268"/>
              <a:ext cx="2413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Q1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095750" y="2943225"/>
              <a:ext cx="571500" cy="2486025"/>
            </a:xfrm>
            <a:prstGeom prst="rect">
              <a:avLst/>
            </a:prstGeom>
            <a:gradFill>
              <a:gsLst>
                <a:gs pos="0">
                  <a:srgbClr val="2196F3"/>
                </a:gs>
                <a:gs pos="100000">
                  <a:srgbClr val="1976D2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4255451" y="2715578"/>
              <a:ext cx="252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145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62500" y="3752850"/>
              <a:ext cx="571500" cy="1676400"/>
            </a:xfrm>
            <a:prstGeom prst="rect">
              <a:avLst/>
            </a:prstGeom>
            <a:gradFill>
              <a:gsLst>
                <a:gs pos="0">
                  <a:srgbClr val="4CAF50"/>
                </a:gs>
                <a:gs pos="100000">
                  <a:srgbClr val="388E3C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4" name="TextBox 34"/>
            <p:cNvSpPr txBox="1"/>
            <p:nvPr/>
          </p:nvSpPr>
          <p:spPr>
            <a:xfrm>
              <a:off x="4946354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98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429250" y="4095750"/>
              <a:ext cx="571500" cy="1333500"/>
            </a:xfrm>
            <a:prstGeom prst="rect">
              <a:avLst/>
            </a:prstGeom>
            <a:gradFill>
              <a:gsLst>
                <a:gs pos="0">
                  <a:srgbClr val="FF9800"/>
                </a:gs>
                <a:gs pos="100000">
                  <a:srgbClr val="F57C00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6" name="TextBox 36"/>
            <p:cNvSpPr txBox="1"/>
            <p:nvPr/>
          </p:nvSpPr>
          <p:spPr>
            <a:xfrm>
              <a:off x="5613104" y="38681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78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60071" y="5569268"/>
              <a:ext cx="2906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Q2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72250" y="2552700"/>
              <a:ext cx="571500" cy="2876550"/>
            </a:xfrm>
            <a:prstGeom prst="rect">
              <a:avLst/>
            </a:prstGeom>
            <a:gradFill>
              <a:gsLst>
                <a:gs pos="0">
                  <a:srgbClr val="2196F3"/>
                </a:gs>
                <a:gs pos="100000">
                  <a:srgbClr val="1976D2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9" name="TextBox 39"/>
            <p:cNvSpPr txBox="1"/>
            <p:nvPr/>
          </p:nvSpPr>
          <p:spPr>
            <a:xfrm>
              <a:off x="6731951" y="2325052"/>
              <a:ext cx="252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168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239000" y="3505200"/>
              <a:ext cx="571500" cy="1924050"/>
            </a:xfrm>
            <a:prstGeom prst="rect">
              <a:avLst/>
            </a:prstGeom>
            <a:gradFill>
              <a:gsLst>
                <a:gs pos="0">
                  <a:srgbClr val="4CAF50"/>
                </a:gs>
                <a:gs pos="100000">
                  <a:srgbClr val="388E3C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1" name="TextBox 41"/>
            <p:cNvSpPr txBox="1"/>
            <p:nvPr/>
          </p:nvSpPr>
          <p:spPr>
            <a:xfrm>
              <a:off x="7418828" y="3277552"/>
              <a:ext cx="211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112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905750" y="3848100"/>
              <a:ext cx="571500" cy="1581150"/>
            </a:xfrm>
            <a:prstGeom prst="rect">
              <a:avLst/>
            </a:prstGeom>
            <a:gradFill>
              <a:gsLst>
                <a:gs pos="0">
                  <a:srgbClr val="FF9800"/>
                </a:gs>
                <a:gs pos="100000">
                  <a:srgbClr val="F57C00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3" name="TextBox 43"/>
            <p:cNvSpPr txBox="1"/>
            <p:nvPr/>
          </p:nvSpPr>
          <p:spPr>
            <a:xfrm>
              <a:off x="8089604" y="362045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92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36571" y="5569268"/>
              <a:ext cx="2906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Q3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048750" y="2257425"/>
              <a:ext cx="571500" cy="3171825"/>
            </a:xfrm>
            <a:prstGeom prst="rect">
              <a:avLst/>
            </a:prstGeom>
            <a:gradFill>
              <a:gsLst>
                <a:gs pos="0">
                  <a:srgbClr val="2196F3"/>
                </a:gs>
                <a:gs pos="100000">
                  <a:srgbClr val="1976D2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6" name="TextBox 46"/>
            <p:cNvSpPr txBox="1"/>
            <p:nvPr/>
          </p:nvSpPr>
          <p:spPr>
            <a:xfrm>
              <a:off x="9208451" y="2029778"/>
              <a:ext cx="252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185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715500" y="3286125"/>
              <a:ext cx="571500" cy="2143125"/>
            </a:xfrm>
            <a:prstGeom prst="rect">
              <a:avLst/>
            </a:prstGeom>
            <a:gradFill>
              <a:gsLst>
                <a:gs pos="0">
                  <a:srgbClr val="4CAF50"/>
                </a:gs>
                <a:gs pos="100000">
                  <a:srgbClr val="388E3C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8" name="TextBox 48"/>
            <p:cNvSpPr txBox="1"/>
            <p:nvPr/>
          </p:nvSpPr>
          <p:spPr>
            <a:xfrm>
              <a:off x="9875201" y="3058478"/>
              <a:ext cx="252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125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82250" y="3581400"/>
              <a:ext cx="571500" cy="1847850"/>
            </a:xfrm>
            <a:prstGeom prst="rect">
              <a:avLst/>
            </a:prstGeom>
            <a:gradFill>
              <a:gsLst>
                <a:gs pos="0">
                  <a:srgbClr val="FF9800"/>
                </a:gs>
                <a:gs pos="100000">
                  <a:srgbClr val="F57C00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50" name="TextBox 50"/>
            <p:cNvSpPr txBox="1"/>
            <p:nvPr/>
          </p:nvSpPr>
          <p:spPr>
            <a:xfrm>
              <a:off x="10541951" y="3353752"/>
              <a:ext cx="252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108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13071" y="5569268"/>
              <a:ext cx="2906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Q4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6000750"/>
            <a:ext cx="3810000" cy="571500"/>
            <a:chOff x="571500" y="6000750"/>
            <a:chExt cx="3810000" cy="571500"/>
          </a:xfrm>
        </p:grpSpPr>
        <p:sp>
          <p:nvSpPr>
            <p:cNvPr id="53" name="Rectangle 53"/>
            <p:cNvSpPr/>
            <p:nvPr/>
          </p:nvSpPr>
          <p:spPr>
            <a:xfrm>
              <a:off x="571500" y="6000750"/>
              <a:ext cx="3810000" cy="571500"/>
            </a:xfrm>
            <a:prstGeom prst="rect">
              <a:avLst/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8665" y="6125528"/>
              <a:ext cx="7244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年度总计: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508760" y="6109335"/>
              <a:ext cx="4261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96F3"/>
                  </a:solidFill>
                  <a:latin typeface="Segoe UI"/>
                  <a:ea typeface="Microsoft YaHei"/>
                  <a:cs typeface="Segoe UI"/>
                </a:rPr>
                <a:t>618M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082165" y="6125528"/>
              <a:ext cx="726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|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270760" y="6109335"/>
              <a:ext cx="472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420M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844165" y="6125528"/>
              <a:ext cx="726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|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032760" y="6109335"/>
              <a:ext cx="472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Segoe UI"/>
                  <a:ea typeface="Microsoft YaHei"/>
                  <a:cs typeface="Segoe UI"/>
                </a:rPr>
                <a:t>343M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9618" y="6324124"/>
              <a:ext cx="11497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5A5A6"/>
                  </a:solidFill>
                  <a:latin typeface="Segoe UI"/>
                  <a:ea typeface="Microsoft YaHei"/>
                  <a:cs typeface="Segoe UI"/>
                </a:rPr>
                <a:t>同比增长: +15.2%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0249995" y="6506528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5A5A6"/>
                </a:solidFill>
                <a:latin typeface="Segoe UI"/>
                <a:ea typeface="Microsoft YaHei"/>
                <a:cs typeface="Segoe UI"/>
              </a:rPr>
              <a:t>数据来源: 销售部门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5F6F8"/>
              </a:gs>
            </a:gsLst>
            <a:lin ang="54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375285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252F"/>
                </a:solidFill>
                <a:latin typeface="Segoe UI"/>
                <a:ea typeface="Microsoft YaHei"/>
                <a:cs typeface="Segoe UI"/>
              </a:rPr>
              <a:t>产品组合矩阵分析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212" y="783431"/>
            <a:ext cx="34461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AA0A6"/>
                </a:solidFill>
                <a:latin typeface="Segoe UI"/>
                <a:ea typeface="Microsoft YaHei"/>
                <a:cs typeface="Segoe UI"/>
              </a:rPr>
              <a:t>Boston Matrix · Product Portfolio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1013460"/>
            <a:ext cx="40351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6368"/>
                </a:solidFill>
                <a:latin typeface="Segoe UI"/>
                <a:ea typeface="Microsoft YaHei"/>
                <a:cs typeface="Segoe UI"/>
              </a:rPr>
              <a:t>市场增长率 vs 市场占有率 · 气泡大小代表营收规模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-167640" y="1601152"/>
            <a:ext cx="10121265" cy="4990148"/>
            <a:chOff x="-167640" y="1601152"/>
            <a:chExt cx="10121265" cy="4990148"/>
          </a:xfrm>
        </p:grpSpPr>
        <p:sp>
          <p:nvSpPr>
            <p:cNvPr id="6" name="Rectangle 6"/>
            <p:cNvSpPr/>
            <p:nvPr/>
          </p:nvSpPr>
          <p:spPr>
            <a:xfrm>
              <a:off x="5381625" y="1619250"/>
              <a:ext cx="4572000" cy="2286000"/>
            </a:xfrm>
            <a:prstGeom prst="rect">
              <a:avLst/>
            </a:prstGeom>
            <a:gradFill>
              <a:gsLst>
                <a:gs pos="0">
                  <a:srgbClr val="E8F5E9"/>
                </a:gs>
                <a:gs pos="100000">
                  <a:srgbClr val="C8E6C9"/>
                </a:gs>
              </a:gsLst>
              <a:lin ang="2700000" scaled="1"/>
            </a:gradFill>
            <a:ln w="28575">
              <a:solidFill>
                <a:srgbClr val="FFFFF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09625" y="1619250"/>
              <a:ext cx="4572000" cy="2286000"/>
            </a:xfrm>
            <a:prstGeom prst="rect">
              <a:avLst/>
            </a:prstGeom>
            <a:gradFill>
              <a:gsLst>
                <a:gs pos="0">
                  <a:srgbClr val="FFF8E1"/>
                </a:gs>
                <a:gs pos="100000">
                  <a:srgbClr val="FFE082"/>
                </a:gs>
              </a:gsLst>
              <a:lin ang="2700000" scaled="1"/>
            </a:gradFill>
            <a:ln w="28575">
              <a:solidFill>
                <a:srgbClr val="FFFFF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09625" y="3905250"/>
              <a:ext cx="4572000" cy="2286000"/>
            </a:xfrm>
            <a:prstGeom prst="rect">
              <a:avLst/>
            </a:prstGeom>
            <a:gradFill>
              <a:gsLst>
                <a:gs pos="0">
                  <a:srgbClr val="FFEBEE"/>
                </a:gs>
                <a:gs pos="100000">
                  <a:srgbClr val="FFCDD2"/>
                </a:gs>
              </a:gsLst>
              <a:lin ang="2700000" scaled="1"/>
            </a:gradFill>
            <a:ln w="28575">
              <a:solidFill>
                <a:srgbClr val="FFFFF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81625" y="3905250"/>
              <a:ext cx="4572000" cy="2286000"/>
            </a:xfrm>
            <a:prstGeom prst="rect">
              <a:avLst/>
            </a:prstGeom>
            <a:gradFill>
              <a:gsLst>
                <a:gs pos="0">
                  <a:srgbClr val="E3F2FD"/>
                </a:gs>
                <a:gs pos="100000">
                  <a:srgbClr val="BBDEFB"/>
                </a:gs>
              </a:gsLst>
              <a:lin ang="2700000" scaled="1"/>
            </a:gradFill>
            <a:ln w="28575">
              <a:solidFill>
                <a:srgbClr val="FFFFF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09625" y="39052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38100">
              <a:solidFill>
                <a:srgbClr val="1A252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381625" y="161925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38100">
              <a:solidFill>
                <a:srgbClr val="1A252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276049" y="6347460"/>
              <a:ext cx="22111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市场占有率 Market Share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40635" y="636365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低 Low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05217" y="6363652"/>
              <a:ext cx="525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高 High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 rot="-5400000">
              <a:off x="-94297" y="37757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市场增长率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 rot="-5400000">
              <a:off x="-167640" y="38080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Growth Rate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915" y="6125528"/>
              <a:ext cx="180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772" y="6273641"/>
              <a:ext cx="2438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Low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915" y="1601152"/>
              <a:ext cx="180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772" y="1749266"/>
              <a:ext cx="255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High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1075" y="1743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7C00"/>
                  </a:solidFill>
                  <a:latin typeface="Segoe UI"/>
                  <a:ea typeface="Microsoft YaHei"/>
                  <a:cs typeface="Segoe UI"/>
                </a:rPr>
                <a:t>问题产品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8695" y="1998345"/>
              <a:ext cx="10218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65100"/>
                  </a:solidFill>
                  <a:latin typeface="Segoe UI"/>
                  <a:ea typeface="Microsoft YaHei"/>
                  <a:cs typeface="Segoe UI"/>
                </a:rPr>
                <a:t>Question Marks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6790" y="215360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84315"/>
                  </a:solidFill>
                  <a:latin typeface="Segoe UI"/>
                  <a:ea typeface="Microsoft YaHei"/>
                  <a:cs typeface="Segoe UI"/>
                </a:rPr>
                <a:t>高投入 · 低回报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53075" y="1743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88E3C"/>
                  </a:solidFill>
                  <a:latin typeface="Segoe UI"/>
                  <a:ea typeface="Microsoft YaHei"/>
                  <a:cs typeface="Segoe UI"/>
                </a:rPr>
                <a:t>明星产品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60695" y="1998345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Stars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58790" y="215360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5E20"/>
                  </a:solidFill>
                  <a:latin typeface="Segoe UI"/>
                  <a:ea typeface="Microsoft YaHei"/>
                  <a:cs typeface="Segoe UI"/>
                </a:rPr>
                <a:t>高投入 · 高回报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1075" y="56483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32F2F"/>
                  </a:solidFill>
                  <a:latin typeface="Segoe UI"/>
                  <a:ea typeface="Microsoft YaHei"/>
                  <a:cs typeface="Segoe UI"/>
                </a:rPr>
                <a:t>瘦狗产品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8695" y="5903595"/>
              <a:ext cx="312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Dogs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53075" y="56483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76D2"/>
                  </a:solidFill>
                  <a:latin typeface="Segoe UI"/>
                  <a:ea typeface="Microsoft YaHei"/>
                  <a:cs typeface="Segoe UI"/>
                </a:rPr>
                <a:t>现金牛产品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60695" y="5903595"/>
              <a:ext cx="6669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Cash Cows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48600" y="1828800"/>
              <a:ext cx="1047750" cy="1047750"/>
            </a:xfrm>
            <a:prstGeom prst="ellipse">
              <a:avLst/>
            </a:prstGeom>
            <a:solidFill>
              <a:srgbClr val="4CAF50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106989" y="2186464"/>
              <a:ext cx="5309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1508" y="2391728"/>
              <a:ext cx="541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¥3.2亿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8239125" y="4514850"/>
              <a:ext cx="1333500" cy="1333500"/>
            </a:xfrm>
            <a:prstGeom prst="ellipse">
              <a:avLst/>
            </a:prstGeom>
            <a:solidFill>
              <a:srgbClr val="2196F3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8624772" y="4997768"/>
              <a:ext cx="5622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15553" y="5212556"/>
              <a:ext cx="5806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¥4.8亿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2162175" y="1771650"/>
              <a:ext cx="800100" cy="800100"/>
            </a:xfrm>
            <a:prstGeom prst="ellipse">
              <a:avLst/>
            </a:prstGeom>
            <a:solidFill>
              <a:srgbClr val="FF9800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8" name="TextBox 38"/>
            <p:cNvSpPr txBox="1"/>
            <p:nvPr/>
          </p:nvSpPr>
          <p:spPr>
            <a:xfrm>
              <a:off x="2312356" y="2013585"/>
              <a:ext cx="4997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29302" y="2209324"/>
              <a:ext cx="465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¥1.6亿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2733675" y="2581275"/>
              <a:ext cx="723900" cy="723900"/>
            </a:xfrm>
            <a:prstGeom prst="ellipse">
              <a:avLst/>
            </a:prstGeom>
            <a:solidFill>
              <a:srgbClr val="FF9800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1" name="TextBox 41"/>
            <p:cNvSpPr txBox="1"/>
            <p:nvPr/>
          </p:nvSpPr>
          <p:spPr>
            <a:xfrm>
              <a:off x="2861373" y="2793206"/>
              <a:ext cx="4685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62702" y="2971324"/>
              <a:ext cx="465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¥1.2亿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1571625" y="5172075"/>
              <a:ext cx="571500" cy="571500"/>
            </a:xfrm>
            <a:prstGeom prst="ellipse">
              <a:avLst/>
            </a:prstGeom>
            <a:solidFill>
              <a:srgbClr val="E74C3C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4" name="TextBox 44"/>
            <p:cNvSpPr txBox="1"/>
            <p:nvPr/>
          </p:nvSpPr>
          <p:spPr>
            <a:xfrm>
              <a:off x="1638739" y="5325428"/>
              <a:ext cx="4372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25117" y="5494020"/>
              <a:ext cx="4645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¥0.5亿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29400" y="4391025"/>
              <a:ext cx="857250" cy="857250"/>
            </a:xfrm>
            <a:prstGeom prst="ellipse">
              <a:avLst/>
            </a:prstGeom>
            <a:solidFill>
              <a:srgbClr val="2196F3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7" name="TextBox 47"/>
            <p:cNvSpPr txBox="1"/>
            <p:nvPr/>
          </p:nvSpPr>
          <p:spPr>
            <a:xfrm>
              <a:off x="6808156" y="4661535"/>
              <a:ext cx="4997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25102" y="4857274"/>
              <a:ext cx="465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¥1.8亿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238875" y="2333625"/>
              <a:ext cx="762000" cy="762000"/>
            </a:xfrm>
            <a:prstGeom prst="ellipse">
              <a:avLst/>
            </a:prstGeom>
            <a:solidFill>
              <a:srgbClr val="4CAF50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50" name="TextBox 50"/>
            <p:cNvSpPr txBox="1"/>
            <p:nvPr/>
          </p:nvSpPr>
          <p:spPr>
            <a:xfrm>
              <a:off x="6385623" y="2564606"/>
              <a:ext cx="4685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86952" y="2742724"/>
              <a:ext cx="465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¥1.4亿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191750" y="1714500"/>
            <a:ext cx="1619250" cy="2286000"/>
            <a:chOff x="10191750" y="1714500"/>
            <a:chExt cx="1619250" cy="2286000"/>
          </a:xfrm>
        </p:grpSpPr>
        <p:sp>
          <p:nvSpPr>
            <p:cNvPr id="53" name="Rectangle 53"/>
            <p:cNvSpPr/>
            <p:nvPr/>
          </p:nvSpPr>
          <p:spPr>
            <a:xfrm>
              <a:off x="10191750" y="1714500"/>
              <a:ext cx="1619250" cy="2286000"/>
            </a:xfrm>
            <a:prstGeom prst="rect">
              <a:avLst/>
            </a:prstGeom>
            <a:solidFill>
              <a:srgbClr val="FFFFFF">
                <a:alpha val="95000"/>
              </a:srgbClr>
            </a:solidFill>
            <a:ln w="14288">
              <a:solidFill>
                <a:srgbClr val="E0E0E0">
                  <a:alpha val="95000"/>
                </a:srgbClr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642044" y="18788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战略建议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10334625" y="21431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0325100" y="2324100"/>
              <a:ext cx="114300" cy="114300"/>
            </a:xfrm>
            <a:prstGeom prst="ellipse">
              <a:avLst/>
            </a:prstGeom>
            <a:solidFill>
              <a:srgbClr val="4CAF50">
                <a:alpha val="9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513695" y="2322195"/>
              <a:ext cx="9682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88E3C"/>
                  </a:solidFill>
                  <a:latin typeface="Segoe UI"/>
                  <a:ea typeface="Microsoft YaHei"/>
                  <a:cs typeface="Segoe UI"/>
                </a:rPr>
                <a:t>明星: 持续投资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0325100" y="2657475"/>
              <a:ext cx="114300" cy="114300"/>
            </a:xfrm>
            <a:prstGeom prst="ellipse">
              <a:avLst/>
            </a:prstGeom>
            <a:solidFill>
              <a:srgbClr val="FF9800">
                <a:alpha val="9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513695" y="2655570"/>
              <a:ext cx="11062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7C00"/>
                  </a:solidFill>
                  <a:latin typeface="Segoe UI"/>
                  <a:ea typeface="Microsoft YaHei"/>
                  <a:cs typeface="Segoe UI"/>
                </a:rPr>
                <a:t>问题: 选择性投资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10325100" y="2990850"/>
              <a:ext cx="114300" cy="114300"/>
            </a:xfrm>
            <a:prstGeom prst="ellipse">
              <a:avLst/>
            </a:prstGeom>
            <a:solidFill>
              <a:srgbClr val="2196F3">
                <a:alpha val="90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513695" y="2988945"/>
              <a:ext cx="8302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976D2"/>
                  </a:solidFill>
                  <a:latin typeface="Segoe UI"/>
                  <a:ea typeface="Microsoft YaHei"/>
                  <a:cs typeface="Segoe UI"/>
                </a:rPr>
                <a:t>现金牛: 收割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10325100" y="3324225"/>
              <a:ext cx="114300" cy="114300"/>
            </a:xfrm>
            <a:prstGeom prst="ellipse">
              <a:avLst/>
            </a:prstGeom>
            <a:solidFill>
              <a:srgbClr val="E74C3C">
                <a:alpha val="9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513695" y="3322320"/>
              <a:ext cx="6922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32F2F"/>
                  </a:solidFill>
                  <a:latin typeface="Segoe UI"/>
                  <a:ea typeface="Microsoft YaHei"/>
                  <a:cs typeface="Segoe UI"/>
                </a:rPr>
                <a:t>瘦狗: 撤资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490716" y="3681412"/>
              <a:ext cx="102131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气泡大小 = 营收规模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559118" y="6609874"/>
            <a:ext cx="45957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AA0A6"/>
                </a:solidFill>
                <a:latin typeface="Segoe UI"/>
                <a:ea typeface="Microsoft YaHei"/>
                <a:cs typeface="Segoe UI"/>
              </a:rPr>
              <a:t>数据来源: 市场研究部门分析 | Source: Market Research Department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40767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综合能力评估对比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4355" y="854392"/>
            <a:ext cx="2705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F8C8D"/>
                </a:solidFill>
                <a:latin typeface="Segoe UI"/>
                <a:ea typeface="Microsoft YaHei"/>
                <a:cs typeface="Segoe UI"/>
              </a:rPr>
              <a:t>产品 A vs 产品 B · 六维度分析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281488" y="1714500"/>
            <a:ext cx="3629025" cy="4191000"/>
            <a:chOff x="4281488" y="1714500"/>
            <a:chExt cx="3629025" cy="4191000"/>
          </a:xfrm>
        </p:grpSpPr>
        <p:sp>
          <p:nvSpPr>
            <p:cNvPr id="5" name="Polygon 5"/>
            <p:cNvSpPr/>
            <p:nvPr/>
          </p:nvSpPr>
          <p:spPr>
            <a:xfrm>
              <a:off x="4281488" y="1714500"/>
              <a:ext cx="3629025" cy="4191000"/>
            </a:xfrm>
            <a:custGeom>
              <a:avLst/>
              <a:gdLst/>
              <a:ahLst/>
              <a:cxnLst/>
              <a:rect l="l" t="t" r="r" b="b"/>
              <a:pathLst>
                <a:path w="3629025" h="4191000">
                  <a:moveTo>
                    <a:pt x="1814512" y="0"/>
                  </a:moveTo>
                  <a:lnTo>
                    <a:pt x="3629025" y="1047750"/>
                  </a:lnTo>
                  <a:lnTo>
                    <a:pt x="3629025" y="3143250"/>
                  </a:lnTo>
                  <a:lnTo>
                    <a:pt x="1814512" y="4191000"/>
                  </a:lnTo>
                  <a:lnTo>
                    <a:pt x="0" y="3143250"/>
                  </a:lnTo>
                  <a:lnTo>
                    <a:pt x="0" y="1047750"/>
                  </a:lnTo>
                  <a:close/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6" name="Polygon 6"/>
            <p:cNvSpPr/>
            <p:nvPr/>
          </p:nvSpPr>
          <p:spPr>
            <a:xfrm>
              <a:off x="4644390" y="2133600"/>
              <a:ext cx="2903220" cy="3352800"/>
            </a:xfrm>
            <a:custGeom>
              <a:avLst/>
              <a:gdLst/>
              <a:ahLst/>
              <a:cxnLst/>
              <a:rect l="l" t="t" r="r" b="b"/>
              <a:pathLst>
                <a:path w="2903220" h="3352800">
                  <a:moveTo>
                    <a:pt x="1451610" y="0"/>
                  </a:moveTo>
                  <a:lnTo>
                    <a:pt x="2903220" y="838200"/>
                  </a:lnTo>
                  <a:lnTo>
                    <a:pt x="2903220" y="2514600"/>
                  </a:lnTo>
                  <a:lnTo>
                    <a:pt x="1451610" y="3352800"/>
                  </a:lnTo>
                  <a:lnTo>
                    <a:pt x="0" y="2514600"/>
                  </a:lnTo>
                  <a:lnTo>
                    <a:pt x="0" y="838200"/>
                  </a:lnTo>
                  <a:close/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5007292" y="2552700"/>
              <a:ext cx="2177415" cy="2514600"/>
            </a:xfrm>
            <a:custGeom>
              <a:avLst/>
              <a:gdLst/>
              <a:ahLst/>
              <a:cxnLst/>
              <a:rect l="l" t="t" r="r" b="b"/>
              <a:pathLst>
                <a:path w="2177415" h="2514600">
                  <a:moveTo>
                    <a:pt x="1088707" y="0"/>
                  </a:moveTo>
                  <a:lnTo>
                    <a:pt x="2177415" y="628650"/>
                  </a:lnTo>
                  <a:lnTo>
                    <a:pt x="2177415" y="1885950"/>
                  </a:lnTo>
                  <a:lnTo>
                    <a:pt x="1088707" y="2514600"/>
                  </a:lnTo>
                  <a:lnTo>
                    <a:pt x="0" y="1885950"/>
                  </a:lnTo>
                  <a:lnTo>
                    <a:pt x="0" y="628650"/>
                  </a:lnTo>
                  <a:close/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5370195" y="2971800"/>
              <a:ext cx="1451610" cy="1676400"/>
            </a:xfrm>
            <a:custGeom>
              <a:avLst/>
              <a:gdLst/>
              <a:ahLst/>
              <a:cxnLst/>
              <a:rect l="l" t="t" r="r" b="b"/>
              <a:pathLst>
                <a:path w="1451610" h="1676400">
                  <a:moveTo>
                    <a:pt x="725805" y="0"/>
                  </a:moveTo>
                  <a:lnTo>
                    <a:pt x="1451610" y="419100"/>
                  </a:lnTo>
                  <a:lnTo>
                    <a:pt x="1451610" y="1257300"/>
                  </a:lnTo>
                  <a:lnTo>
                    <a:pt x="725805" y="1676400"/>
                  </a:lnTo>
                  <a:lnTo>
                    <a:pt x="0" y="1257300"/>
                  </a:lnTo>
                  <a:lnTo>
                    <a:pt x="0" y="419100"/>
                  </a:lnTo>
                  <a:close/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5733098" y="3390900"/>
              <a:ext cx="725805" cy="838200"/>
            </a:xfrm>
            <a:custGeom>
              <a:avLst/>
              <a:gdLst/>
              <a:ahLst/>
              <a:cxnLst/>
              <a:rect l="l" t="t" r="r" b="b"/>
              <a:pathLst>
                <a:path w="725805" h="838200">
                  <a:moveTo>
                    <a:pt x="362903" y="0"/>
                  </a:moveTo>
                  <a:lnTo>
                    <a:pt x="725805" y="209550"/>
                  </a:lnTo>
                  <a:lnTo>
                    <a:pt x="725805" y="628650"/>
                  </a:lnTo>
                  <a:lnTo>
                    <a:pt x="362903" y="838200"/>
                  </a:lnTo>
                  <a:lnTo>
                    <a:pt x="0" y="628650"/>
                  </a:lnTo>
                  <a:lnTo>
                    <a:pt x="0" y="209550"/>
                  </a:lnTo>
                  <a:close/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171450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20955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BDC3C7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2762250"/>
              <a:ext cx="1814512" cy="1047750"/>
            </a:xfrm>
            <a:custGeom>
              <a:avLst/>
              <a:gdLst/>
              <a:ahLst/>
              <a:cxnLst/>
              <a:rect l="l" t="t" r="r" b="b"/>
              <a:pathLst>
                <a:path w="1814512" h="1047750">
                  <a:moveTo>
                    <a:pt x="0" y="1047750"/>
                  </a:moveTo>
                  <a:lnTo>
                    <a:pt x="1814512" y="0"/>
                  </a:lnTo>
                </a:path>
              </a:pathLst>
            </a:custGeom>
            <a:noFill/>
            <a:ln w="9525">
              <a:solidFill>
                <a:srgbClr val="BDC3C7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000" y="3810000"/>
              <a:ext cx="1814512" cy="1047750"/>
            </a:xfrm>
            <a:custGeom>
              <a:avLst/>
              <a:gdLst/>
              <a:ahLst/>
              <a:cxnLst/>
              <a:rect l="l" t="t" r="r" b="b"/>
              <a:pathLst>
                <a:path w="1814512" h="1047750">
                  <a:moveTo>
                    <a:pt x="0" y="0"/>
                  </a:moveTo>
                  <a:lnTo>
                    <a:pt x="1814512" y="1047750"/>
                  </a:lnTo>
                </a:path>
              </a:pathLst>
            </a:custGeom>
            <a:noFill/>
            <a:ln w="9525">
              <a:solidFill>
                <a:srgbClr val="BDC3C7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381000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BDC3C7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281488" y="3810000"/>
              <a:ext cx="1814512" cy="1047750"/>
            </a:xfrm>
            <a:custGeom>
              <a:avLst/>
              <a:gdLst/>
              <a:ahLst/>
              <a:cxnLst/>
              <a:rect l="l" t="t" r="r" b="b"/>
              <a:pathLst>
                <a:path w="1814512" h="1047750">
                  <a:moveTo>
                    <a:pt x="1814512" y="0"/>
                  </a:moveTo>
                  <a:lnTo>
                    <a:pt x="0" y="1047750"/>
                  </a:lnTo>
                </a:path>
              </a:pathLst>
            </a:custGeom>
            <a:noFill/>
            <a:ln w="9525">
              <a:solidFill>
                <a:srgbClr val="BDC3C7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281488" y="2762250"/>
              <a:ext cx="1814512" cy="1047750"/>
            </a:xfrm>
            <a:custGeom>
              <a:avLst/>
              <a:gdLst/>
              <a:ahLst/>
              <a:cxnLst/>
              <a:rect l="l" t="t" r="r" b="b"/>
              <a:pathLst>
                <a:path w="1814512" h="1047750">
                  <a:moveTo>
                    <a:pt x="1814512" y="10477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BDC3C7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503420" y="1924050"/>
              <a:ext cx="3135630" cy="3352800"/>
            </a:xfrm>
            <a:custGeom>
              <a:avLst/>
              <a:gdLst/>
              <a:ahLst/>
              <a:cxnLst/>
              <a:rect l="l" t="t" r="r" b="b"/>
              <a:pathLst>
                <a:path w="3135630" h="3352800">
                  <a:moveTo>
                    <a:pt x="1592580" y="0"/>
                  </a:moveTo>
                  <a:lnTo>
                    <a:pt x="3135630" y="995362"/>
                  </a:lnTo>
                  <a:lnTo>
                    <a:pt x="2954655" y="2619375"/>
                  </a:lnTo>
                  <a:lnTo>
                    <a:pt x="1592580" y="3352800"/>
                  </a:lnTo>
                  <a:lnTo>
                    <a:pt x="140970" y="2724150"/>
                  </a:lnTo>
                  <a:lnTo>
                    <a:pt x="0" y="963930"/>
                  </a:lnTo>
                  <a:close/>
                </a:path>
              </a:pathLst>
            </a:custGeom>
            <a:gradFill>
              <a:gsLst>
                <a:gs pos="0">
                  <a:srgbClr val="2196F3">
                    <a:alpha val="60000"/>
                  </a:srgbClr>
                </a:gs>
                <a:gs pos="100000">
                  <a:srgbClr val="1976D2">
                    <a:alpha val="40000"/>
                  </a:srgbClr>
                </a:gs>
              </a:gsLst>
              <a:lin ang="2700000" scaled="1"/>
            </a:gradFill>
            <a:ln w="23812">
              <a:solidFill>
                <a:srgbClr val="2196F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038850" y="1866900"/>
              <a:ext cx="114300" cy="114300"/>
            </a:xfrm>
            <a:prstGeom prst="ellipse">
              <a:avLst/>
            </a:prstGeom>
            <a:solidFill>
              <a:srgbClr val="2196F3"/>
            </a:solidFill>
            <a:ln w="19050">
              <a:solidFill>
                <a:srgbClr val="FFFFFF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581900" y="2862262"/>
              <a:ext cx="114300" cy="114300"/>
            </a:xfrm>
            <a:prstGeom prst="ellipse">
              <a:avLst/>
            </a:prstGeom>
            <a:solidFill>
              <a:srgbClr val="2196F3"/>
            </a:solidFill>
            <a:ln w="19050">
              <a:solidFill>
                <a:srgbClr val="FFFFFF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7400925" y="4486275"/>
              <a:ext cx="114300" cy="114300"/>
            </a:xfrm>
            <a:prstGeom prst="ellipse">
              <a:avLst/>
            </a:prstGeom>
            <a:solidFill>
              <a:srgbClr val="2196F3"/>
            </a:solidFill>
            <a:ln w="19050">
              <a:solidFill>
                <a:srgbClr val="FFFFFF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6038850" y="5219700"/>
              <a:ext cx="114300" cy="114300"/>
            </a:xfrm>
            <a:prstGeom prst="ellipse">
              <a:avLst/>
            </a:prstGeom>
            <a:solidFill>
              <a:srgbClr val="2196F3"/>
            </a:solidFill>
            <a:ln w="19050">
              <a:solidFill>
                <a:srgbClr val="FFFFFF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587240" y="4591050"/>
              <a:ext cx="114300" cy="114300"/>
            </a:xfrm>
            <a:prstGeom prst="ellipse">
              <a:avLst/>
            </a:prstGeom>
            <a:solidFill>
              <a:srgbClr val="2196F3"/>
            </a:solidFill>
            <a:ln w="19050">
              <a:solidFill>
                <a:srgbClr val="FFFFFF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446270" y="2830830"/>
              <a:ext cx="114300" cy="114300"/>
            </a:xfrm>
            <a:prstGeom prst="ellipse">
              <a:avLst/>
            </a:prstGeom>
            <a:solidFill>
              <a:srgbClr val="2196F3"/>
            </a:solidFill>
            <a:ln w="19050">
              <a:solidFill>
                <a:srgbClr val="FFFFF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4825365" y="2238375"/>
              <a:ext cx="2904172" cy="3248025"/>
            </a:xfrm>
            <a:custGeom>
              <a:avLst/>
              <a:gdLst/>
              <a:ahLst/>
              <a:cxnLst/>
              <a:rect l="l" t="t" r="r" b="b"/>
              <a:pathLst>
                <a:path w="2904172" h="3248025">
                  <a:moveTo>
                    <a:pt x="1270635" y="0"/>
                  </a:moveTo>
                  <a:lnTo>
                    <a:pt x="2904172" y="628650"/>
                  </a:lnTo>
                  <a:lnTo>
                    <a:pt x="2813685" y="2462212"/>
                  </a:lnTo>
                  <a:lnTo>
                    <a:pt x="1270635" y="3248025"/>
                  </a:lnTo>
                  <a:lnTo>
                    <a:pt x="0" y="2305050"/>
                  </a:lnTo>
                  <a:lnTo>
                    <a:pt x="89535" y="890588"/>
                  </a:lnTo>
                  <a:close/>
                </a:path>
              </a:pathLst>
            </a:custGeom>
            <a:gradFill>
              <a:gsLst>
                <a:gs pos="0">
                  <a:srgbClr val="4CAF50">
                    <a:alpha val="50000"/>
                  </a:srgbClr>
                </a:gs>
                <a:gs pos="100000">
                  <a:srgbClr val="388E3C">
                    <a:alpha val="30000"/>
                  </a:srgbClr>
                </a:gs>
              </a:gsLst>
              <a:lin ang="2700000" scaled="1"/>
            </a:gradFill>
            <a:ln w="23812">
              <a:solidFill>
                <a:srgbClr val="4CAF50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6038850" y="2181225"/>
              <a:ext cx="114300" cy="114300"/>
            </a:xfrm>
            <a:prstGeom prst="ellipse">
              <a:avLst/>
            </a:prstGeom>
            <a:solidFill>
              <a:srgbClr val="4CAF50"/>
            </a:solidFill>
            <a:ln w="19050">
              <a:solidFill>
                <a:srgbClr val="FFFFFF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7672388" y="2809875"/>
              <a:ext cx="114300" cy="114300"/>
            </a:xfrm>
            <a:prstGeom prst="ellipse">
              <a:avLst/>
            </a:prstGeom>
            <a:solidFill>
              <a:srgbClr val="4CAF50"/>
            </a:solidFill>
            <a:ln w="19050">
              <a:solidFill>
                <a:srgbClr val="FFFFFF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581900" y="4643438"/>
              <a:ext cx="114300" cy="114300"/>
            </a:xfrm>
            <a:prstGeom prst="ellipse">
              <a:avLst/>
            </a:prstGeom>
            <a:solidFill>
              <a:srgbClr val="4CAF50"/>
            </a:solidFill>
            <a:ln w="19050">
              <a:solidFill>
                <a:srgbClr val="FFFFFF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038850" y="5429250"/>
              <a:ext cx="114300" cy="114300"/>
            </a:xfrm>
            <a:prstGeom prst="ellipse">
              <a:avLst/>
            </a:prstGeom>
            <a:solidFill>
              <a:srgbClr val="4CAF50"/>
            </a:solidFill>
            <a:ln w="19050">
              <a:solidFill>
                <a:srgbClr val="FFFFFF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768215" y="4486275"/>
              <a:ext cx="114300" cy="114300"/>
            </a:xfrm>
            <a:prstGeom prst="ellipse">
              <a:avLst/>
            </a:prstGeom>
            <a:solidFill>
              <a:srgbClr val="4CAF50"/>
            </a:solidFill>
            <a:ln w="19050">
              <a:solidFill>
                <a:srgbClr val="FFFFF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857750" y="3071812"/>
              <a:ext cx="114300" cy="114300"/>
            </a:xfrm>
            <a:prstGeom prst="ellipse">
              <a:avLst/>
            </a:prstGeom>
            <a:solidFill>
              <a:srgbClr val="4CAF50"/>
            </a:solidFill>
            <a:ln w="19050">
              <a:solidFill>
                <a:srgbClr val="FFFFFF"/>
              </a:solidFill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5896737" y="1251585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性能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71510" y="24422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安全性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71510" y="501396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易用性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20702" y="61569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价格竞争力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53918" y="50139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售后服务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153918" y="24422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创新能力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715500" y="1428750"/>
            <a:ext cx="1905000" cy="1143000"/>
            <a:chOff x="9715500" y="1428750"/>
            <a:chExt cx="1905000" cy="1143000"/>
          </a:xfrm>
        </p:grpSpPr>
        <p:sp>
          <p:nvSpPr>
            <p:cNvPr id="37" name="Rectangle 37"/>
            <p:cNvSpPr/>
            <p:nvPr/>
          </p:nvSpPr>
          <p:spPr>
            <a:xfrm>
              <a:off x="9715500" y="1428750"/>
              <a:ext cx="1905000" cy="1143000"/>
            </a:xfrm>
            <a:prstGeom prst="rect">
              <a:avLst/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493645" y="16011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图例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906000" y="1905000"/>
              <a:ext cx="228600" cy="114300"/>
            </a:xfrm>
            <a:prstGeom prst="rect">
              <a:avLst/>
            </a:prstGeom>
            <a:solidFill>
              <a:srgbClr val="2196F3">
                <a:alpha val="70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226040" y="1886902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产品 A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906000" y="2190750"/>
              <a:ext cx="228600" cy="114300"/>
            </a:xfrm>
            <a:prstGeom prst="rect">
              <a:avLst/>
            </a:prstGeom>
            <a:solidFill>
              <a:srgbClr val="4CAF50">
                <a:alpha val="60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226040" y="2172652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产品 B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58165" y="6506528"/>
            <a:ext cx="20739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5A5A6"/>
                </a:solidFill>
                <a:latin typeface="Segoe UI"/>
                <a:ea typeface="Microsoft YaHei"/>
                <a:cs typeface="Segoe UI"/>
              </a:rPr>
              <a:t>数据来源: 产品评估报告 2025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2637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产品发展路线图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4355" y="949642"/>
            <a:ext cx="27354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F8C8D"/>
                </a:solidFill>
                <a:latin typeface="Segoe UI"/>
                <a:ea typeface="Microsoft YaHei"/>
                <a:cs typeface="Segoe UI"/>
              </a:rPr>
              <a:t>2024年 - 2026年 · 关键里程碑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381000" y="1809750"/>
            <a:ext cx="11430000" cy="3829050"/>
            <a:chOff x="381000" y="1809750"/>
            <a:chExt cx="11430000" cy="3829050"/>
          </a:xfrm>
        </p:grpSpPr>
        <p:sp>
          <p:nvSpPr>
            <p:cNvPr id="5" name="Line 5"/>
            <p:cNvSpPr/>
            <p:nvPr/>
          </p:nvSpPr>
          <p:spPr>
            <a:xfrm>
              <a:off x="1143000" y="3429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57150" cap="rnd">
              <a:solidFill>
                <a:srgbClr val="E0E0E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43000" y="34290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57150" cap="rnd">
              <a:gradFill>
                <a:gsLst>
                  <a:gs pos="0">
                    <a:srgbClr val="2196F3"/>
                  </a:gs>
                  <a:gs pos="100000">
                    <a:srgbClr val="4CAF50"/>
                  </a:gs>
                </a:gsLst>
                <a:lin ang="0" scaled="1"/>
              </a:gra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381000" y="1809750"/>
              <a:ext cx="1524000" cy="1790700"/>
              <a:chOff x="381000" y="1809750"/>
              <a:chExt cx="1524000" cy="17907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971550" y="3257550"/>
                <a:ext cx="342900" cy="342900"/>
              </a:xfrm>
              <a:prstGeom prst="ellipse">
                <a:avLst/>
              </a:prstGeom>
              <a:gradFill>
                <a:gsLst>
                  <a:gs pos="0">
                    <a:srgbClr val="4CAF50"/>
                  </a:gs>
                  <a:gs pos="100000">
                    <a:srgbClr val="388E3C"/>
                  </a:gs>
                </a:gsLst>
                <a:lin ang="5400000" scaled="1"/>
              </a:gradFill>
              <a:ln w="28575">
                <a:solidFill>
                  <a:srgbClr val="FFFFFF"/>
                </a:solidFill>
              </a:ln>
              <a:effectLst>
                <a:outerShdw blurRad="57150" dist="19050" dir="10798281" algn="tl" rotWithShape="0">
                  <a:srgbClr val="000000">
                    <a:alpha val="40000"/>
                  </a:srgbClr>
                </a:outerShdw>
              </a:effectLst>
            </p:spPr>
          </p:sp>
          <p:sp>
            <p:nvSpPr>
              <p:cNvPr id="8" name="Freeform 8"/>
              <p:cNvSpPr/>
              <p:nvPr/>
            </p:nvSpPr>
            <p:spPr>
              <a:xfrm>
                <a:off x="1095375" y="3381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lnTo>
                      <a:pt x="28575" y="95250"/>
                    </a:lnTo>
                    <a:lnTo>
                      <a:pt x="95250" y="0"/>
                    </a:lnTo>
                  </a:path>
                </a:pathLst>
              </a:custGeom>
              <a:noFill/>
              <a:ln w="23812" cap="rnd">
                <a:solidFill>
                  <a:srgbClr val="FFFFFF"/>
                </a:solidFill>
                <a:round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81000" y="1809750"/>
                <a:ext cx="1524000" cy="11430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4CAF50"/>
                </a:solidFill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43854" y="1982152"/>
                <a:ext cx="5982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4CAF50"/>
                    </a:solidFill>
                    <a:latin typeface="Segoe UI"/>
                    <a:ea typeface="Microsoft YaHei"/>
                    <a:cs typeface="Segoe UI"/>
                  </a:rPr>
                  <a:t>2024 Q1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9714" y="220408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C3E50"/>
                    </a:solidFill>
                    <a:latin typeface="Segoe UI"/>
                    <a:ea typeface="Microsoft YaHei"/>
                    <a:cs typeface="Segoe UI"/>
                  </a:rPr>
                  <a:t>产品立项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03421" y="246649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D6D7E"/>
                    </a:solidFill>
                    <a:latin typeface="Segoe UI"/>
                    <a:ea typeface="Microsoft YaHei"/>
                    <a:cs typeface="Segoe UI"/>
                  </a:rPr>
                  <a:t>完成需求分析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03421" y="265699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D6D7E"/>
                    </a:solidFill>
                    <a:latin typeface="Segoe UI"/>
                    <a:ea typeface="Microsoft YaHei"/>
                    <a:cs typeface="Segoe UI"/>
                  </a:rPr>
                  <a:t>制定技术方案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1143000" y="295275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4CAF50"/>
                </a:solidFill>
                <a:prstDash val="dash"/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2362200" y="3257550"/>
              <a:ext cx="1524000" cy="1981200"/>
              <a:chOff x="2362200" y="3257550"/>
              <a:chExt cx="1524000" cy="19812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2952750" y="3257550"/>
                <a:ext cx="342900" cy="342900"/>
              </a:xfrm>
              <a:prstGeom prst="ellipse">
                <a:avLst/>
              </a:prstGeom>
              <a:gradFill>
                <a:gsLst>
                  <a:gs pos="0">
                    <a:srgbClr val="4CAF50"/>
                  </a:gs>
                  <a:gs pos="100000">
                    <a:srgbClr val="388E3C"/>
                  </a:gs>
                </a:gsLst>
                <a:lin ang="5400000" scaled="1"/>
              </a:gradFill>
              <a:ln w="28575">
                <a:solidFill>
                  <a:srgbClr val="FFFFFF"/>
                </a:solidFill>
              </a:ln>
              <a:effectLst>
                <a:outerShdw blurRad="57150" dist="19050" dir="10798281" algn="tl" rotWithShape="0">
                  <a:srgbClr val="000000">
                    <a:alpha val="40000"/>
                  </a:srgbClr>
                </a:outerShdw>
              </a:effectLst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076575" y="3381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lnTo>
                      <a:pt x="28575" y="95250"/>
                    </a:lnTo>
                    <a:lnTo>
                      <a:pt x="95250" y="0"/>
                    </a:lnTo>
                  </a:path>
                </a:pathLst>
              </a:custGeom>
              <a:noFill/>
              <a:ln w="23812" cap="rnd">
                <a:solidFill>
                  <a:srgbClr val="FFFFFF"/>
                </a:solidFill>
                <a:round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2362200" y="4095750"/>
                <a:ext cx="1524000" cy="11430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4CAF50"/>
                </a:solidFill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804927" y="4268152"/>
                <a:ext cx="6385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4CAF50"/>
                    </a:solidFill>
                    <a:latin typeface="Segoe UI"/>
                    <a:ea typeface="Microsoft YaHei"/>
                    <a:cs typeface="Segoe UI"/>
                  </a:rPr>
                  <a:t>2024 Q2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754716" y="4490085"/>
                <a:ext cx="7389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C3E50"/>
                    </a:solidFill>
                    <a:latin typeface="Segoe UI"/>
                    <a:ea typeface="Microsoft YaHei"/>
                    <a:cs typeface="Segoe UI"/>
                  </a:rPr>
                  <a:t>MVP开发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684621" y="475249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D6D7E"/>
                    </a:solidFill>
                    <a:latin typeface="Segoe UI"/>
                    <a:ea typeface="Microsoft YaHei"/>
                    <a:cs typeface="Segoe UI"/>
                  </a:rPr>
                  <a:t>核心功能上线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827020" y="4942999"/>
                <a:ext cx="5943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D6D7E"/>
                    </a:solidFill>
                    <a:latin typeface="Segoe UI"/>
                    <a:ea typeface="Microsoft YaHei"/>
                    <a:cs typeface="Segoe UI"/>
                  </a:rPr>
                  <a:t>内测验证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3124200" y="361950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4CAF50"/>
                </a:solidFill>
                <a:prstDash val="dash"/>
              </a:ln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4343400" y="1809750"/>
              <a:ext cx="1524000" cy="1790700"/>
              <a:chOff x="4343400" y="1809750"/>
              <a:chExt cx="1524000" cy="179070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4933950" y="3257550"/>
                <a:ext cx="342900" cy="342900"/>
              </a:xfrm>
              <a:prstGeom prst="ellipse">
                <a:avLst/>
              </a:prstGeom>
              <a:gradFill>
                <a:gsLst>
                  <a:gs pos="0">
                    <a:srgbClr val="4CAF50"/>
                  </a:gs>
                  <a:gs pos="100000">
                    <a:srgbClr val="388E3C"/>
                  </a:gs>
                </a:gsLst>
                <a:lin ang="5400000" scaled="1"/>
              </a:gradFill>
              <a:ln w="28575">
                <a:solidFill>
                  <a:srgbClr val="FFFFFF"/>
                </a:solidFill>
              </a:ln>
              <a:effectLst>
                <a:outerShdw blurRad="57150" dist="19050" dir="10798281" algn="tl" rotWithShape="0">
                  <a:srgbClr val="000000">
                    <a:alpha val="40000"/>
                  </a:srgbClr>
                </a:outerShdw>
              </a:effectLst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057775" y="3381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lnTo>
                      <a:pt x="28575" y="95250"/>
                    </a:lnTo>
                    <a:lnTo>
                      <a:pt x="95250" y="0"/>
                    </a:lnTo>
                  </a:path>
                </a:pathLst>
              </a:custGeom>
              <a:noFill/>
              <a:ln w="23812" cap="rnd">
                <a:solidFill>
                  <a:srgbClr val="FFFFFF"/>
                </a:solidFill>
                <a:round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343400" y="1809750"/>
                <a:ext cx="1524000" cy="11430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4CAF50"/>
                </a:solidFill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786127" y="1982152"/>
                <a:ext cx="6385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4CAF50"/>
                    </a:solidFill>
                    <a:latin typeface="Segoe UI"/>
                    <a:ea typeface="Microsoft YaHei"/>
                    <a:cs typeface="Segoe UI"/>
                  </a:rPr>
                  <a:t>2024 Q3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722114" y="220408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C3E50"/>
                    </a:solidFill>
                    <a:latin typeface="Segoe UI"/>
                    <a:ea typeface="Microsoft YaHei"/>
                    <a:cs typeface="Segoe UI"/>
                  </a:rPr>
                  <a:t>公测上线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665821" y="246649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D6D7E"/>
                    </a:solidFill>
                    <a:latin typeface="Segoe UI"/>
                    <a:ea typeface="Microsoft YaHei"/>
                    <a:cs typeface="Segoe UI"/>
                  </a:rPr>
                  <a:t>开放用户注册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83621" y="2656999"/>
                <a:ext cx="8435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D6D7E"/>
                    </a:solidFill>
                    <a:latin typeface="Segoe UI"/>
                    <a:ea typeface="Microsoft YaHei"/>
                    <a:cs typeface="Segoe UI"/>
                  </a:rPr>
                  <a:t>用户达5000+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5105400" y="295275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4CAF50"/>
                </a:solidFill>
                <a:prstDash val="dash"/>
              </a:ln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6324600" y="3238500"/>
              <a:ext cx="1524000" cy="2400300"/>
              <a:chOff x="6324600" y="3238500"/>
              <a:chExt cx="1524000" cy="2400300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6896100" y="3238500"/>
                <a:ext cx="381000" cy="381000"/>
              </a:xfrm>
              <a:prstGeom prst="ellipse">
                <a:avLst/>
              </a:prstGeom>
              <a:gradFill>
                <a:gsLst>
                  <a:gs pos="0">
                    <a:srgbClr val="2196F3"/>
                  </a:gs>
                  <a:gs pos="100000">
                    <a:srgbClr val="1976D2"/>
                  </a:gs>
                </a:gsLst>
                <a:lin ang="5400000" scaled="1"/>
              </a:gradFill>
              <a:ln w="28575">
                <a:solidFill>
                  <a:srgbClr val="FFFFFF"/>
                </a:solidFill>
              </a:ln>
              <a:effectLst>
                <a:outerShdw blurRad="57150" dist="19050" dir="10798281" algn="tl" rotWithShape="0">
                  <a:srgbClr val="000000">
                    <a:alpha val="40000"/>
                  </a:srgbClr>
                </a:outerShdw>
              </a:effectLst>
            </p:spPr>
          </p:sp>
          <p:sp>
            <p:nvSpPr>
              <p:cNvPr id="35" name="Ellipse 35"/>
              <p:cNvSpPr/>
              <p:nvPr/>
            </p:nvSpPr>
            <p:spPr>
              <a:xfrm>
                <a:off x="7010400" y="335280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324600" y="4095750"/>
                <a:ext cx="1524000" cy="11430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2196F3"/>
                </a:solidFill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6324600" y="4095750"/>
                <a:ext cx="1524000" cy="57150"/>
              </a:xfrm>
              <a:prstGeom prst="rect">
                <a:avLst/>
              </a:prstGeom>
              <a:solidFill>
                <a:srgbClr val="2196F3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767327" y="4268152"/>
                <a:ext cx="6385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2196F3"/>
                    </a:solidFill>
                    <a:latin typeface="Segoe UI"/>
                    <a:ea typeface="Microsoft YaHei"/>
                    <a:cs typeface="Segoe UI"/>
                  </a:rPr>
                  <a:t>2024 Q4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03314" y="449008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C3E50"/>
                    </a:solidFill>
                    <a:latin typeface="Segoe UI"/>
                    <a:ea typeface="Microsoft YaHei"/>
                    <a:cs typeface="Segoe UI"/>
                  </a:rPr>
                  <a:t>功能迭代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728901" y="4752499"/>
                <a:ext cx="7153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D6D7E"/>
                    </a:solidFill>
                    <a:latin typeface="Segoe UI"/>
                    <a:ea typeface="Microsoft YaHei"/>
                    <a:cs typeface="Segoe UI"/>
                  </a:rPr>
                  <a:t>AI功能集成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789420" y="4942999"/>
                <a:ext cx="5943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D6D7E"/>
                    </a:solidFill>
                    <a:latin typeface="Segoe UI"/>
                    <a:ea typeface="Microsoft YaHei"/>
                    <a:cs typeface="Segoe UI"/>
                  </a:rPr>
                  <a:t>多端适配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7086600" y="361950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2196F3"/>
                </a:solidFill>
                <a:prstDash val="dash"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6800850" y="5410200"/>
                <a:ext cx="571500" cy="209550"/>
              </a:xfrm>
              <a:prstGeom prst="rect">
                <a:avLst/>
              </a:prstGeom>
              <a:solidFill>
                <a:srgbClr val="2196F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868144" y="5455920"/>
                <a:ext cx="43691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进行中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8305800" y="1809750"/>
              <a:ext cx="1524000" cy="1771650"/>
              <a:chOff x="8305800" y="1809750"/>
              <a:chExt cx="1524000" cy="177165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8915400" y="3276600"/>
                <a:ext cx="304800" cy="304800"/>
              </a:xfrm>
              <a:prstGeom prst="ellipse">
                <a:avLst/>
              </a:prstGeom>
              <a:solidFill>
                <a:srgbClr val="E0E0E0"/>
              </a:solidFill>
              <a:ln w="28575">
                <a:solidFill>
                  <a:srgbClr val="FFFFFF"/>
                </a:solidFill>
              </a:ln>
              <a:effectLst>
                <a:outerShdw blurRad="57150" dist="19050" dir="10798281" algn="tl" rotWithShape="0">
                  <a:srgbClr val="000000">
                    <a:alpha val="40000"/>
                  </a:srgbClr>
                </a:outerShdw>
              </a:effectLst>
            </p:spPr>
          </p:sp>
          <p:sp>
            <p:nvSpPr>
              <p:cNvPr id="47" name="Ellipse 47"/>
              <p:cNvSpPr/>
              <p:nvPr/>
            </p:nvSpPr>
            <p:spPr>
              <a:xfrm>
                <a:off x="9010650" y="3371850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8305800" y="1809750"/>
                <a:ext cx="1524000" cy="1143000"/>
              </a:xfrm>
              <a:prstGeom prst="rect">
                <a:avLst/>
              </a:prstGeom>
              <a:solidFill>
                <a:srgbClr val="F8F9FA"/>
              </a:solidFill>
              <a:ln w="19050">
                <a:solidFill>
                  <a:srgbClr val="B0BEC5"/>
                </a:solidFill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748527" y="1982152"/>
                <a:ext cx="6385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607D8B"/>
                    </a:solidFill>
                    <a:latin typeface="Segoe UI"/>
                    <a:ea typeface="Microsoft YaHei"/>
                    <a:cs typeface="Segoe UI"/>
                  </a:rPr>
                  <a:t>2025 Q2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776526" y="2204085"/>
                <a:ext cx="5825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6D7E"/>
                    </a:solidFill>
                    <a:latin typeface="Segoe UI"/>
                    <a:ea typeface="Microsoft YaHei"/>
                    <a:cs typeface="Segoe UI"/>
                  </a:rPr>
                  <a:t>商业化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628221" y="246649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F8C8D"/>
                    </a:solidFill>
                    <a:latin typeface="Segoe UI"/>
                    <a:ea typeface="Microsoft YaHei"/>
                    <a:cs typeface="Segoe UI"/>
                  </a:rPr>
                  <a:t>会员体系上线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770620" y="2656999"/>
                <a:ext cx="5943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F8C8D"/>
                    </a:solidFill>
                    <a:latin typeface="Segoe UI"/>
                    <a:ea typeface="Microsoft YaHei"/>
                    <a:cs typeface="Segoe UI"/>
                  </a:rPr>
                  <a:t>启动推广</a:t>
                </a:r>
              </a:p>
            </p:txBody>
          </p:sp>
          <p:sp>
            <p:nvSpPr>
              <p:cNvPr id="53" name="Line 53"/>
              <p:cNvSpPr/>
              <p:nvPr/>
            </p:nvSpPr>
            <p:spPr>
              <a:xfrm>
                <a:off x="9067800" y="295275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B0BEC5"/>
                </a:solidFill>
                <a:prstDash val="dash"/>
              </a:ln>
            </p:spPr>
          </p:sp>
        </p:grpSp>
        <p:grpSp>
          <p:nvGrpSpPr>
            <p:cNvPr id="63" name="Group 63"/>
            <p:cNvGrpSpPr/>
            <p:nvPr/>
          </p:nvGrpSpPr>
          <p:grpSpPr>
            <a:xfrm>
              <a:off x="10287000" y="3276600"/>
              <a:ext cx="1524000" cy="1962150"/>
              <a:chOff x="10287000" y="3276600"/>
              <a:chExt cx="1524000" cy="1962150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10896600" y="3276600"/>
                <a:ext cx="304800" cy="304800"/>
              </a:xfrm>
              <a:prstGeom prst="ellipse">
                <a:avLst/>
              </a:prstGeom>
              <a:solidFill>
                <a:srgbClr val="E0E0E0"/>
              </a:solidFill>
              <a:ln w="28575">
                <a:solidFill>
                  <a:srgbClr val="FFFFFF"/>
                </a:solidFill>
              </a:ln>
              <a:effectLst>
                <a:outerShdw blurRad="57150" dist="19050" dir="10798281" algn="tl" rotWithShape="0">
                  <a:srgbClr val="000000">
                    <a:alpha val="40000"/>
                  </a:srgbClr>
                </a:outerShdw>
              </a:effectLst>
            </p:spPr>
          </p:sp>
          <p:sp>
            <p:nvSpPr>
              <p:cNvPr id="56" name="Ellipse 56"/>
              <p:cNvSpPr/>
              <p:nvPr/>
            </p:nvSpPr>
            <p:spPr>
              <a:xfrm>
                <a:off x="10991850" y="3371850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10287000" y="4095750"/>
                <a:ext cx="1524000" cy="1143000"/>
              </a:xfrm>
              <a:prstGeom prst="rect">
                <a:avLst/>
              </a:prstGeom>
              <a:solidFill>
                <a:srgbClr val="F8F9FA"/>
              </a:solidFill>
              <a:ln w="19050">
                <a:solidFill>
                  <a:srgbClr val="B0BEC5"/>
                </a:solidFill>
              </a:ln>
              <a:effectLst>
                <a:outerShdw blurRad="38100" dist="9525" dir="10796562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749854" y="4268152"/>
                <a:ext cx="5982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607D8B"/>
                    </a:solidFill>
                    <a:latin typeface="Segoe UI"/>
                    <a:ea typeface="Microsoft YaHei"/>
                    <a:cs typeface="Segoe UI"/>
                  </a:rPr>
                  <a:t>2026 Q1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0757726" y="4490085"/>
                <a:ext cx="5825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6D7E"/>
                    </a:solidFill>
                    <a:latin typeface="Segoe UI"/>
                    <a:ea typeface="Microsoft YaHei"/>
                    <a:cs typeface="Segoe UI"/>
                  </a:rPr>
                  <a:t>规模化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0680621" y="4752499"/>
                <a:ext cx="73675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F8C8D"/>
                    </a:solidFill>
                    <a:latin typeface="Segoe UI"/>
                    <a:ea typeface="Microsoft YaHei"/>
                    <a:cs typeface="Segoe UI"/>
                  </a:rPr>
                  <a:t>国际化扩张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0751820" y="4942999"/>
                <a:ext cx="5943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F8C8D"/>
                    </a:solidFill>
                    <a:latin typeface="Segoe UI"/>
                    <a:ea typeface="Microsoft YaHei"/>
                    <a:cs typeface="Segoe UI"/>
                  </a:rPr>
                  <a:t>生态建设</a:t>
                </a:r>
              </a:p>
            </p:txBody>
          </p:sp>
          <p:sp>
            <p:nvSpPr>
              <p:cNvPr id="62" name="Line 62"/>
              <p:cNvSpPr/>
              <p:nvPr/>
            </p:nvSpPr>
            <p:spPr>
              <a:xfrm>
                <a:off x="11049000" y="361950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B0BEC5"/>
                </a:solidFill>
                <a:prstDash val="dash"/>
              </a:ln>
            </p:spPr>
          </p:sp>
        </p:grpSp>
      </p:grpSp>
      <p:grpSp>
        <p:nvGrpSpPr>
          <p:cNvPr id="74" name="Group 74"/>
          <p:cNvGrpSpPr/>
          <p:nvPr/>
        </p:nvGrpSpPr>
        <p:grpSpPr>
          <a:xfrm>
            <a:off x="666750" y="5953125"/>
            <a:ext cx="2949892" cy="242887"/>
            <a:chOff x="666750" y="5953125"/>
            <a:chExt cx="2949892" cy="242887"/>
          </a:xfrm>
        </p:grpSpPr>
        <p:sp>
          <p:nvSpPr>
            <p:cNvPr id="65" name="Ellipse 65"/>
            <p:cNvSpPr/>
            <p:nvPr/>
          </p:nvSpPr>
          <p:spPr>
            <a:xfrm>
              <a:off x="666750" y="5953125"/>
              <a:ext cx="190500" cy="190500"/>
            </a:xfrm>
            <a:prstGeom prst="ellipse">
              <a:avLst/>
            </a:prstGeom>
            <a:gradFill>
              <a:gsLst>
                <a:gs pos="0">
                  <a:srgbClr val="4CAF50"/>
                </a:gs>
                <a:gs pos="100000">
                  <a:srgbClr val="388E3C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714375" y="5953125"/>
              <a:ext cx="95250" cy="142875"/>
            </a:xfrm>
            <a:custGeom>
              <a:avLst/>
              <a:gdLst/>
              <a:ahLst/>
              <a:cxnLst/>
              <a:rect l="l" t="t" r="r" b="b"/>
              <a:pathLst>
                <a:path w="95250" h="142875">
                  <a:moveTo>
                    <a:pt x="0" y="95250"/>
                  </a:moveTo>
                  <a:lnTo>
                    <a:pt x="28575" y="142875"/>
                  </a:lnTo>
                  <a:lnTo>
                    <a:pt x="9525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9165" y="59826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已完成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1809750" y="5953125"/>
              <a:ext cx="190500" cy="190500"/>
            </a:xfrm>
            <a:prstGeom prst="ellipse">
              <a:avLst/>
            </a:prstGeom>
            <a:gradFill>
              <a:gsLst>
                <a:gs pos="0">
                  <a:srgbClr val="2196F3"/>
                </a:gs>
                <a:gs pos="100000">
                  <a:srgbClr val="1976D2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866900" y="6010275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082165" y="59826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进行中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2857500" y="5953125"/>
              <a:ext cx="190500" cy="190500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2914650" y="6010275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3129915" y="59826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计划中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558165" y="6506528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5A5A6"/>
                </a:solidFill>
                <a:latin typeface="Segoe UI"/>
                <a:ea typeface="Microsoft YaHei"/>
                <a:cs typeface="Segoe UI"/>
              </a:rPr>
              <a:t>数据来源: 产品管理部门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5F6F8"/>
              </a:gs>
            </a:gsLst>
            <a:lin ang="54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3752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252F"/>
                </a:solidFill>
                <a:latin typeface="Segoe UI"/>
                <a:ea typeface="Microsoft YaHei"/>
                <a:cs typeface="Segoe UI"/>
              </a:rPr>
              <a:t>业务流程图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212" y="783431"/>
            <a:ext cx="31339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AA0A6"/>
                </a:solidFill>
                <a:latin typeface="Segoe UI"/>
                <a:ea typeface="Microsoft YaHei"/>
                <a:cs typeface="Segoe UI"/>
              </a:rPr>
              <a:t>Business Process Flow · 标准化操作流程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571500" y="1524000"/>
            <a:ext cx="11239500" cy="3810000"/>
            <a:chOff x="571500" y="1524000"/>
            <a:chExt cx="11239500" cy="3810000"/>
          </a:xfrm>
        </p:grpSpPr>
        <p:grpSp>
          <p:nvGrpSpPr>
            <p:cNvPr id="8" name="Group 8"/>
            <p:cNvGrpSpPr/>
            <p:nvPr/>
          </p:nvGrpSpPr>
          <p:grpSpPr>
            <a:xfrm>
              <a:off x="571500" y="1524000"/>
              <a:ext cx="1714500" cy="762000"/>
              <a:chOff x="571500" y="1524000"/>
              <a:chExt cx="1714500" cy="7620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524000"/>
                <a:ext cx="1714500" cy="762000"/>
              </a:xfrm>
              <a:prstGeom prst="rect">
                <a:avLst/>
              </a:prstGeom>
              <a:gradFill>
                <a:gsLst>
                  <a:gs pos="0">
                    <a:srgbClr val="2196F3"/>
                  </a:gs>
                  <a:gs pos="100000">
                    <a:srgbClr val="1976D2"/>
                  </a:gs>
                </a:gsLst>
                <a:lin ang="5400000" scaled="1"/>
              </a:gradFill>
              <a:ln>
                <a:noFill/>
              </a:ln>
              <a:effectLst>
                <a:outerShdw blurRad="114300" dist="38100" dir="10799140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204579" y="1683068"/>
                <a:ext cx="44834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开始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220569" y="1894999"/>
                <a:ext cx="4163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 val="9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Start</a:t>
                </a:r>
              </a:p>
            </p:txBody>
          </p:sp>
        </p:grpSp>
        <p:sp>
          <p:nvSpPr>
            <p:cNvPr id="9" name="Line 9"/>
            <p:cNvSpPr/>
            <p:nvPr/>
          </p:nvSpPr>
          <p:spPr>
            <a:xfrm>
              <a:off x="228600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976D2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2857500" y="1524000"/>
              <a:ext cx="1905000" cy="762000"/>
              <a:chOff x="2857500" y="1524000"/>
              <a:chExt cx="1905000" cy="762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2857500" y="1524000"/>
                <a:ext cx="1905000" cy="762000"/>
              </a:xfrm>
              <a:prstGeom prst="rect">
                <a:avLst/>
              </a:prstGeom>
              <a:gradFill>
                <a:gsLst>
                  <a:gs pos="0">
                    <a:srgbClr val="2196F3"/>
                  </a:gs>
                  <a:gs pos="100000">
                    <a:srgbClr val="1976D2"/>
                  </a:gs>
                </a:gsLst>
                <a:lin ang="5400000" scaled="1"/>
              </a:gradFill>
              <a:ln>
                <a:noFill/>
              </a:ln>
              <a:effectLst>
                <a:outerShdw blurRad="114300" dist="38100" dir="10799140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402759" y="1691164"/>
                <a:ext cx="81448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需求收集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014424" y="1894999"/>
                <a:ext cx="15911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 val="9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Requirement Gathering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621119" y="2065020"/>
                <a:ext cx="3777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 val="8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1-2 天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476250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976D2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5524500" y="1524000"/>
              <a:ext cx="1524000" cy="762000"/>
              <a:chOff x="5524500" y="1524000"/>
              <a:chExt cx="1524000" cy="762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524500" y="1524000"/>
                <a:ext cx="1524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762000">
                    <a:moveTo>
                      <a:pt x="762000" y="0"/>
                    </a:moveTo>
                    <a:lnTo>
                      <a:pt x="1524000" y="381000"/>
                    </a:lnTo>
                    <a:lnTo>
                      <a:pt x="762000" y="762000"/>
                    </a:lnTo>
                    <a:lnTo>
                      <a:pt x="0" y="381000"/>
                    </a:lnTo>
                    <a:close/>
                  </a:path>
                </a:pathLst>
              </a:custGeom>
              <a:gradFill>
                <a:gsLst>
                  <a:gs pos="0">
                    <a:srgbClr val="FF9800"/>
                  </a:gs>
                  <a:gs pos="100000">
                    <a:srgbClr val="F57C00"/>
                  </a:gs>
                </a:gsLst>
                <a:lin ang="5400000" scaled="1"/>
              </a:gradFill>
              <a:ln>
                <a:noFill/>
              </a:ln>
              <a:effectLst>
                <a:outerShdw blurRad="114300" dist="38100" dir="10799140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811202" y="1746885"/>
                <a:ext cx="9505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是否可行？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982605" y="1941195"/>
                <a:ext cx="6077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 val="9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Feasible?</a:t>
                </a: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704850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976D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36118" y="1590199"/>
              <a:ext cx="465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88E3C"/>
                  </a:solidFill>
                  <a:latin typeface="Segoe UI"/>
                  <a:ea typeface="Microsoft YaHei"/>
                  <a:cs typeface="Segoe UI"/>
                </a:rPr>
                <a:t>是 Yes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286500" y="2286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F57C0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64618" y="2418874"/>
              <a:ext cx="3836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74C3C"/>
                  </a:solidFill>
                  <a:latin typeface="Segoe UI"/>
                  <a:ea typeface="Microsoft YaHei"/>
                  <a:cs typeface="Segoe UI"/>
                </a:rPr>
                <a:t>否 No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7620000" y="1524000"/>
              <a:ext cx="1905000" cy="762000"/>
              <a:chOff x="7620000" y="1524000"/>
              <a:chExt cx="1905000" cy="762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620000" y="1524000"/>
                <a:ext cx="1905000" cy="762000"/>
              </a:xfrm>
              <a:prstGeom prst="rect">
                <a:avLst/>
              </a:prstGeom>
              <a:gradFill>
                <a:gsLst>
                  <a:gs pos="0">
                    <a:srgbClr val="2196F3"/>
                  </a:gs>
                  <a:gs pos="100000">
                    <a:srgbClr val="1976D2"/>
                  </a:gs>
                </a:gsLst>
                <a:lin ang="5400000" scaled="1"/>
              </a:gradFill>
              <a:ln>
                <a:noFill/>
              </a:ln>
              <a:effectLst>
                <a:outerShdw blurRad="114300" dist="38100" dir="10799140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165259" y="1691164"/>
                <a:ext cx="81448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方案设计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043922" y="1894999"/>
                <a:ext cx="10571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 val="9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Solution Design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367189" y="2065020"/>
                <a:ext cx="4106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 val="8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3-5 天</a:t>
                </a:r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8572500" y="22860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1976D2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334000" y="2667000"/>
              <a:ext cx="1905000" cy="762000"/>
              <a:chOff x="5334000" y="2667000"/>
              <a:chExt cx="1905000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334000" y="2667000"/>
                <a:ext cx="1905000" cy="7620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F57C00"/>
                </a:solidFill>
              </a:ln>
              <a:effectLst>
                <a:outerShdw blurRad="114300" dist="38100" dir="10799140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879259" y="2834164"/>
                <a:ext cx="81448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F57C00"/>
                    </a:solidFill>
                    <a:latin typeface="Segoe UI"/>
                    <a:ea typeface="Microsoft YaHei"/>
                    <a:cs typeface="Segoe UI"/>
                  </a:rPr>
                  <a:t>重新评估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800642" y="3037999"/>
                <a:ext cx="97171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57C00"/>
                    </a:solidFill>
                    <a:latin typeface="Segoe UI"/>
                    <a:ea typeface="Microsoft YaHei"/>
                    <a:cs typeface="Segoe UI"/>
                  </a:rPr>
                  <a:t>Re-evaluation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012180" y="3208020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AA0A6"/>
                    </a:solidFill>
                    <a:latin typeface="Segoe UI"/>
                    <a:ea typeface="Microsoft YaHei"/>
                    <a:cs typeface="Segoe UI"/>
                  </a:rPr>
                  <a:t>调整需求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2667000" y="2286000"/>
              <a:ext cx="2667000" cy="762000"/>
            </a:xfrm>
            <a:custGeom>
              <a:avLst/>
              <a:gdLst/>
              <a:ahLst/>
              <a:cxnLst/>
              <a:rect l="l" t="t" r="r" b="b"/>
              <a:pathLst>
                <a:path w="2667000" h="762000">
                  <a:moveTo>
                    <a:pt x="2667000" y="762000"/>
                  </a:moveTo>
                  <a:lnTo>
                    <a:pt x="0" y="762000"/>
                  </a:lnTo>
                  <a:lnTo>
                    <a:pt x="0" y="0"/>
                  </a:lnTo>
                  <a:lnTo>
                    <a:pt x="190500" y="0"/>
                  </a:lnTo>
                </a:path>
              </a:pathLst>
            </a:custGeom>
            <a:noFill/>
            <a:ln w="28575">
              <a:solidFill>
                <a:srgbClr val="F57C00"/>
              </a:solidFill>
              <a:custDash>
                <a:ds d="166666" sp="166666"/>
              </a:custDash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417445" y="25698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7C00"/>
                  </a:solidFill>
                  <a:latin typeface="Segoe UI"/>
                  <a:ea typeface="Microsoft YaHei"/>
                  <a:cs typeface="Segoe UI"/>
                </a:rPr>
                <a:t>重新收集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7620000" y="3048000"/>
              <a:ext cx="1905000" cy="762000"/>
              <a:chOff x="7620000" y="3048000"/>
              <a:chExt cx="1905000" cy="762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7620000" y="3048000"/>
                <a:ext cx="1905000" cy="762000"/>
              </a:xfrm>
              <a:prstGeom prst="rect">
                <a:avLst/>
              </a:prstGeom>
              <a:gradFill>
                <a:gsLst>
                  <a:gs pos="0">
                    <a:srgbClr val="2196F3"/>
                  </a:gs>
                  <a:gs pos="100000">
                    <a:srgbClr val="1976D2"/>
                  </a:gs>
                </a:gsLst>
                <a:lin ang="5400000" scaled="1"/>
              </a:gradFill>
              <a:ln>
                <a:noFill/>
              </a:ln>
              <a:effectLst>
                <a:outerShdw blurRad="114300" dist="38100" dir="10799140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165259" y="3215164"/>
                <a:ext cx="81448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开发实施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32921" y="341899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 val="9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Development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347472" y="3589020"/>
                <a:ext cx="45005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 val="8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7-14 天</a:t>
                </a:r>
              </a:p>
            </p:txBody>
          </p:sp>
        </p:grpSp>
        <p:sp>
          <p:nvSpPr>
            <p:cNvPr id="42" name="Freeform 42"/>
            <p:cNvSpPr/>
            <p:nvPr/>
          </p:nvSpPr>
          <p:spPr>
            <a:xfrm>
              <a:off x="8572500" y="38100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1976D2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620000" y="4572000"/>
              <a:ext cx="1905000" cy="762000"/>
              <a:chOff x="7620000" y="4572000"/>
              <a:chExt cx="1905000" cy="7620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7620000" y="4572000"/>
                <a:ext cx="1905000" cy="762000"/>
              </a:xfrm>
              <a:prstGeom prst="rect">
                <a:avLst/>
              </a:prstGeom>
              <a:gradFill>
                <a:gsLst>
                  <a:gs pos="0">
                    <a:srgbClr val="2196F3"/>
                  </a:gs>
                  <a:gs pos="100000">
                    <a:srgbClr val="1976D2"/>
                  </a:gs>
                </a:gsLst>
                <a:lin ang="5400000" scaled="1"/>
              </a:gradFill>
              <a:ln>
                <a:noFill/>
              </a:ln>
              <a:effectLst>
                <a:outerShdw blurRad="114300" dist="38100" dir="10799140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165259" y="4739164"/>
                <a:ext cx="81448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测试验收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830324" y="4942999"/>
                <a:ext cx="14843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 val="9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Testing &amp; Acceptance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367189" y="5113020"/>
                <a:ext cx="4106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 val="8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2-3 天</a:t>
                </a:r>
              </a:p>
            </p:txBody>
          </p:sp>
        </p:grpSp>
        <p:sp>
          <p:nvSpPr>
            <p:cNvPr id="48" name="Line 48"/>
            <p:cNvSpPr/>
            <p:nvPr/>
          </p:nvSpPr>
          <p:spPr>
            <a:xfrm>
              <a:off x="9525000" y="4953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388E3C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10096500" y="4572000"/>
              <a:ext cx="1714500" cy="762000"/>
              <a:chOff x="10096500" y="4572000"/>
              <a:chExt cx="1714500" cy="7620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10096500" y="4572000"/>
                <a:ext cx="1714500" cy="762000"/>
              </a:xfrm>
              <a:prstGeom prst="rect">
                <a:avLst/>
              </a:prstGeom>
              <a:gradFill>
                <a:gsLst>
                  <a:gs pos="0">
                    <a:srgbClr val="4CAF50"/>
                  </a:gs>
                  <a:gs pos="100000">
                    <a:srgbClr val="388E3C"/>
                  </a:gs>
                </a:gsLst>
                <a:lin ang="5400000" scaled="1"/>
              </a:gradFill>
              <a:ln>
                <a:noFill/>
              </a:ln>
              <a:effectLst>
                <a:outerShdw blurRad="114300" dist="38100" dir="10799140" algn="tl" rotWithShape="0">
                  <a:srgbClr val="000000">
                    <a:alpha val="20000"/>
                  </a:srgbClr>
                </a:outerShdw>
              </a:effectLst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729579" y="4873942"/>
                <a:ext cx="44834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完成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631650" y="5085874"/>
                <a:ext cx="6442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 val="9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Complete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556260" y="4442460"/>
            <a:ext cx="1499235" cy="1939290"/>
            <a:chOff x="556260" y="4442460"/>
            <a:chExt cx="1499235" cy="1939290"/>
          </a:xfrm>
        </p:grpSpPr>
        <p:sp>
          <p:nvSpPr>
            <p:cNvPr id="54" name="TextBox 54"/>
            <p:cNvSpPr txBox="1"/>
            <p:nvPr/>
          </p:nvSpPr>
          <p:spPr>
            <a:xfrm>
              <a:off x="556260" y="44424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图例说明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71500" y="4762500"/>
              <a:ext cx="762000" cy="381000"/>
            </a:xfrm>
            <a:prstGeom prst="rect">
              <a:avLst/>
            </a:prstGeom>
            <a:gradFill>
              <a:gsLst>
                <a:gs pos="0">
                  <a:srgbClr val="2196F3"/>
                </a:gs>
                <a:gs pos="100000">
                  <a:srgbClr val="1976D2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415415" y="48872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流程步骤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666750" y="5429250"/>
              <a:ext cx="571500" cy="381000"/>
            </a:xfrm>
            <a:custGeom>
              <a:avLst/>
              <a:gdLst/>
              <a:ahLst/>
              <a:cxnLst/>
              <a:rect l="l" t="t" r="r" b="b"/>
              <a:pathLst>
                <a:path w="571500" h="381000">
                  <a:moveTo>
                    <a:pt x="285750" y="0"/>
                  </a:moveTo>
                  <a:lnTo>
                    <a:pt x="571500" y="190500"/>
                  </a:lnTo>
                  <a:lnTo>
                    <a:pt x="285750" y="381000"/>
                  </a:lnTo>
                  <a:lnTo>
                    <a:pt x="0" y="190500"/>
                  </a:lnTo>
                  <a:close/>
                </a:path>
              </a:pathLst>
            </a:custGeom>
            <a:gradFill>
              <a:gsLst>
                <a:gs pos="0">
                  <a:srgbClr val="FF9800"/>
                </a:gs>
                <a:gs pos="100000">
                  <a:srgbClr val="F57C0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415415" y="55540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决策节点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71500" y="6000750"/>
              <a:ext cx="762000" cy="381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57C0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415415" y="61255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异常处理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2667000" y="4762500"/>
            <a:ext cx="1905000" cy="1619250"/>
            <a:chOff x="2667000" y="4762500"/>
            <a:chExt cx="1905000" cy="1619250"/>
          </a:xfrm>
        </p:grpSpPr>
        <p:sp>
          <p:nvSpPr>
            <p:cNvPr id="62" name="Rectangle 62"/>
            <p:cNvSpPr/>
            <p:nvPr/>
          </p:nvSpPr>
          <p:spPr>
            <a:xfrm>
              <a:off x="2667000" y="4762500"/>
              <a:ext cx="1905000" cy="1619250"/>
            </a:xfrm>
            <a:prstGeom prst="rect">
              <a:avLst/>
            </a:prstGeom>
            <a:solidFill>
              <a:srgbClr val="FFFFFF">
                <a:alpha val="95000"/>
              </a:srgbClr>
            </a:solidFill>
            <a:ln w="14288">
              <a:solidFill>
                <a:srgbClr val="E0E0E0">
                  <a:alpha val="95000"/>
                </a:srgbClr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087648" y="492680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流程时间统计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2809875" y="519112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797492" y="53239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总周期：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610446" y="5323999"/>
              <a:ext cx="592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2196F3"/>
                  </a:solidFill>
                  <a:latin typeface="Segoe UI"/>
                  <a:ea typeface="Microsoft YaHei"/>
                  <a:cs typeface="Segoe UI"/>
                </a:rPr>
                <a:t>13-24 天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797492" y="556212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关键步骤：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902008" y="5562124"/>
              <a:ext cx="3013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2196F3"/>
                  </a:solidFill>
                  <a:latin typeface="Segoe UI"/>
                  <a:ea typeface="Microsoft YaHei"/>
                  <a:cs typeface="Segoe UI"/>
                </a:rPr>
                <a:t>4 个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797492" y="58002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决策节点：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939388" y="5800249"/>
              <a:ext cx="2639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FF9800"/>
                  </a:solidFill>
                  <a:latin typeface="Segoe UI"/>
                  <a:ea typeface="Microsoft YaHei"/>
                  <a:cs typeface="Segoe UI"/>
                </a:rPr>
                <a:t>1 个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797492" y="60383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风险等级：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029099" y="6038374"/>
              <a:ext cx="1742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388E3C"/>
                  </a:solidFill>
                  <a:latin typeface="Segoe UI"/>
                  <a:ea typeface="Microsoft YaHei"/>
                  <a:cs typeface="Segoe UI"/>
                </a:rPr>
                <a:t>低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559118" y="6609874"/>
            <a:ext cx="46242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AA0A6"/>
                </a:solidFill>
                <a:latin typeface="Segoe UI"/>
                <a:ea typeface="Microsoft YaHei"/>
                <a:cs typeface="Segoe UI"/>
              </a:rPr>
              <a:t>流程版本: v2.1 | 最后更新: 2025-11-09 | Process Management System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407670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温湿度测试循环曲线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870585"/>
            <a:ext cx="31238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环境测试 · 总时长：720分钟（12小时）</a:t>
            </a:r>
          </a:p>
        </p:txBody>
      </p:sp>
      <p:sp>
        <p:nvSpPr>
          <p:cNvPr id="5" name="Rectangle 5"/>
          <p:cNvSpPr/>
          <p:nvPr/>
        </p:nvSpPr>
        <p:spPr>
          <a:xfrm>
            <a:off x="1333500" y="1238250"/>
            <a:ext cx="1504950" cy="3810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2838450" y="1238250"/>
            <a:ext cx="2257425" cy="3810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095875" y="1238250"/>
            <a:ext cx="1504950" cy="3810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600825" y="1238250"/>
            <a:ext cx="2257425" cy="3810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858250" y="1238250"/>
            <a:ext cx="1504950" cy="3810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76443" y="1371124"/>
            <a:ext cx="10190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1.升温(60min)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48304" y="1371124"/>
            <a:ext cx="14377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2.高温保持(240min)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97700" y="1371124"/>
            <a:ext cx="11013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3.降温(120min)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10679" y="1371124"/>
            <a:ext cx="14377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4.低温保持(240min)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82503" y="1371124"/>
            <a:ext cx="10564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5.复位(60min)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-92935" y="1744028"/>
            <a:ext cx="12561894" cy="4466272"/>
            <a:chOff x="-92935" y="1744028"/>
            <a:chExt cx="12561894" cy="4466272"/>
          </a:xfrm>
        </p:grpSpPr>
        <p:sp>
          <p:nvSpPr>
            <p:cNvPr id="15" name="Line 15"/>
            <p:cNvSpPr/>
            <p:nvPr/>
          </p:nvSpPr>
          <p:spPr>
            <a:xfrm>
              <a:off x="2838450" y="1809750"/>
              <a:ext cx="9525" cy="3714750"/>
            </a:xfrm>
            <a:custGeom>
              <a:avLst/>
              <a:gdLst/>
              <a:ahLst/>
              <a:cxnLst/>
              <a:rect l="l" t="t" r="r" b="b"/>
              <a:pathLst>
                <a:path w="9525" h="3714750">
                  <a:moveTo>
                    <a:pt x="0" y="0"/>
                  </a:moveTo>
                  <a:lnTo>
                    <a:pt x="0" y="3714750"/>
                  </a:lnTo>
                </a:path>
              </a:pathLst>
            </a:custGeom>
            <a:noFill/>
            <a:ln w="14288">
              <a:solidFill>
                <a:srgbClr val="BDBDBD"/>
              </a:solidFill>
              <a:custDash>
                <a:ds d="333333" sp="333333"/>
              </a:custDash>
            </a:ln>
          </p:spPr>
        </p:sp>
        <p:sp>
          <p:nvSpPr>
            <p:cNvPr id="16" name="Line 16"/>
            <p:cNvSpPr/>
            <p:nvPr/>
          </p:nvSpPr>
          <p:spPr>
            <a:xfrm>
              <a:off x="5095875" y="1809750"/>
              <a:ext cx="9525" cy="3714750"/>
            </a:xfrm>
            <a:custGeom>
              <a:avLst/>
              <a:gdLst/>
              <a:ahLst/>
              <a:cxnLst/>
              <a:rect l="l" t="t" r="r" b="b"/>
              <a:pathLst>
                <a:path w="9525" h="3714750">
                  <a:moveTo>
                    <a:pt x="0" y="0"/>
                  </a:moveTo>
                  <a:lnTo>
                    <a:pt x="0" y="3714750"/>
                  </a:lnTo>
                </a:path>
              </a:pathLst>
            </a:custGeom>
            <a:noFill/>
            <a:ln w="14288">
              <a:solidFill>
                <a:srgbClr val="BDBDBD"/>
              </a:solidFill>
              <a:custDash>
                <a:ds d="333333" sp="333333"/>
              </a:custDash>
            </a:ln>
          </p:spPr>
        </p:sp>
        <p:sp>
          <p:nvSpPr>
            <p:cNvPr id="17" name="Line 17"/>
            <p:cNvSpPr/>
            <p:nvPr/>
          </p:nvSpPr>
          <p:spPr>
            <a:xfrm>
              <a:off x="6600825" y="1809750"/>
              <a:ext cx="9525" cy="3714750"/>
            </a:xfrm>
            <a:custGeom>
              <a:avLst/>
              <a:gdLst/>
              <a:ahLst/>
              <a:cxnLst/>
              <a:rect l="l" t="t" r="r" b="b"/>
              <a:pathLst>
                <a:path w="9525" h="3714750">
                  <a:moveTo>
                    <a:pt x="0" y="0"/>
                  </a:moveTo>
                  <a:lnTo>
                    <a:pt x="0" y="3714750"/>
                  </a:lnTo>
                </a:path>
              </a:pathLst>
            </a:custGeom>
            <a:noFill/>
            <a:ln w="14288">
              <a:solidFill>
                <a:srgbClr val="BDBDBD"/>
              </a:solidFill>
              <a:custDash>
                <a:ds d="333333" sp="333333"/>
              </a:custDash>
            </a:ln>
          </p:spPr>
        </p:sp>
        <p:sp>
          <p:nvSpPr>
            <p:cNvPr id="18" name="Line 18"/>
            <p:cNvSpPr/>
            <p:nvPr/>
          </p:nvSpPr>
          <p:spPr>
            <a:xfrm>
              <a:off x="8858250" y="1809750"/>
              <a:ext cx="9525" cy="3714750"/>
            </a:xfrm>
            <a:custGeom>
              <a:avLst/>
              <a:gdLst/>
              <a:ahLst/>
              <a:cxnLst/>
              <a:rect l="l" t="t" r="r" b="b"/>
              <a:pathLst>
                <a:path w="9525" h="3714750">
                  <a:moveTo>
                    <a:pt x="0" y="0"/>
                  </a:moveTo>
                  <a:lnTo>
                    <a:pt x="0" y="3714750"/>
                  </a:lnTo>
                </a:path>
              </a:pathLst>
            </a:custGeom>
            <a:noFill/>
            <a:ln w="14288">
              <a:solidFill>
                <a:srgbClr val="BDBDBD"/>
              </a:solidFill>
              <a:custDash>
                <a:ds d="333333" sp="333333"/>
              </a:custDash>
            </a:ln>
          </p:spPr>
        </p:sp>
        <p:sp>
          <p:nvSpPr>
            <p:cNvPr id="19" name="Line 19"/>
            <p:cNvSpPr/>
            <p:nvPr/>
          </p:nvSpPr>
          <p:spPr>
            <a:xfrm>
              <a:off x="1333500" y="5524500"/>
              <a:ext cx="9029700" cy="9525"/>
            </a:xfrm>
            <a:custGeom>
              <a:avLst/>
              <a:gdLst/>
              <a:ahLst/>
              <a:cxnLst/>
              <a:rect l="l" t="t" r="r" b="b"/>
              <a:pathLst>
                <a:path w="9029700" h="9525">
                  <a:moveTo>
                    <a:pt x="0" y="0"/>
                  </a:moveTo>
                  <a:lnTo>
                    <a:pt x="9029700" y="0"/>
                  </a:lnTo>
                </a:path>
              </a:pathLst>
            </a:custGeom>
            <a:noFill/>
            <a:ln w="14288">
              <a:solidFill>
                <a:srgbClr val="E0E0E0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333500" y="4781550"/>
              <a:ext cx="9029700" cy="9525"/>
            </a:xfrm>
            <a:custGeom>
              <a:avLst/>
              <a:gdLst/>
              <a:ahLst/>
              <a:cxnLst/>
              <a:rect l="l" t="t" r="r" b="b"/>
              <a:pathLst>
                <a:path w="9029700" h="9525">
                  <a:moveTo>
                    <a:pt x="0" y="0"/>
                  </a:moveTo>
                  <a:lnTo>
                    <a:pt x="90297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1333500" y="4038600"/>
              <a:ext cx="9029700" cy="9525"/>
            </a:xfrm>
            <a:custGeom>
              <a:avLst/>
              <a:gdLst/>
              <a:ahLst/>
              <a:cxnLst/>
              <a:rect l="l" t="t" r="r" b="b"/>
              <a:pathLst>
                <a:path w="9029700" h="9525">
                  <a:moveTo>
                    <a:pt x="0" y="0"/>
                  </a:moveTo>
                  <a:lnTo>
                    <a:pt x="90297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22" name="Line 22"/>
            <p:cNvSpPr/>
            <p:nvPr/>
          </p:nvSpPr>
          <p:spPr>
            <a:xfrm>
              <a:off x="1333500" y="3295650"/>
              <a:ext cx="9029700" cy="9525"/>
            </a:xfrm>
            <a:custGeom>
              <a:avLst/>
              <a:gdLst/>
              <a:ahLst/>
              <a:cxnLst/>
              <a:rect l="l" t="t" r="r" b="b"/>
              <a:pathLst>
                <a:path w="9029700" h="9525">
                  <a:moveTo>
                    <a:pt x="0" y="0"/>
                  </a:moveTo>
                  <a:lnTo>
                    <a:pt x="90297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1333500" y="2552700"/>
              <a:ext cx="9029700" cy="9525"/>
            </a:xfrm>
            <a:custGeom>
              <a:avLst/>
              <a:gdLst/>
              <a:ahLst/>
              <a:cxnLst/>
              <a:rect l="l" t="t" r="r" b="b"/>
              <a:pathLst>
                <a:path w="9029700" h="9525">
                  <a:moveTo>
                    <a:pt x="0" y="0"/>
                  </a:moveTo>
                  <a:lnTo>
                    <a:pt x="90297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24" name="Line 24"/>
            <p:cNvSpPr/>
            <p:nvPr/>
          </p:nvSpPr>
          <p:spPr>
            <a:xfrm>
              <a:off x="1333500" y="1809750"/>
              <a:ext cx="9029700" cy="9525"/>
            </a:xfrm>
            <a:custGeom>
              <a:avLst/>
              <a:gdLst/>
              <a:ahLst/>
              <a:cxnLst/>
              <a:rect l="l" t="t" r="r" b="b"/>
              <a:pathLst>
                <a:path w="9029700" h="9525">
                  <a:moveTo>
                    <a:pt x="0" y="0"/>
                  </a:moveTo>
                  <a:lnTo>
                    <a:pt x="9029700" y="0"/>
                  </a:lnTo>
                </a:path>
              </a:pathLst>
            </a:custGeom>
            <a:noFill/>
            <a:ln w="14288">
              <a:solidFill>
                <a:srgbClr val="E0E0E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30073" y="5458778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-60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6399" y="471582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-30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0743" y="3972878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8571" y="322992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30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8571" y="2486978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60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4354" y="1744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90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 rot="-5400000">
              <a:off x="-92935" y="3537585"/>
              <a:ext cx="7573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温度 (℃)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32854" y="545877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0%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94899" y="471582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20%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94899" y="397287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40%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194899" y="322992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60%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94899" y="248697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80%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64420" y="1744028"/>
              <a:ext cx="3406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100%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 rot="5400000">
              <a:off x="11343542" y="3537585"/>
              <a:ext cx="11254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相对湿度 (%)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1333500" y="1809750"/>
              <a:ext cx="9525" cy="3714750"/>
            </a:xfrm>
            <a:custGeom>
              <a:avLst/>
              <a:gdLst/>
              <a:ahLst/>
              <a:cxnLst/>
              <a:rect l="l" t="t" r="r" b="b"/>
              <a:pathLst>
                <a:path w="9525" h="3714750">
                  <a:moveTo>
                    <a:pt x="0" y="0"/>
                  </a:moveTo>
                  <a:lnTo>
                    <a:pt x="0" y="3714750"/>
                  </a:lnTo>
                </a:path>
              </a:pathLst>
            </a:custGeom>
            <a:noFill/>
            <a:ln w="19050">
              <a:solidFill>
                <a:srgbClr val="616161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1333500" y="5524500"/>
              <a:ext cx="9029700" cy="9525"/>
            </a:xfrm>
            <a:custGeom>
              <a:avLst/>
              <a:gdLst/>
              <a:ahLst/>
              <a:cxnLst/>
              <a:rect l="l" t="t" r="r" b="b"/>
              <a:pathLst>
                <a:path w="9029700" h="9525">
                  <a:moveTo>
                    <a:pt x="0" y="0"/>
                  </a:moveTo>
                  <a:lnTo>
                    <a:pt x="9029700" y="0"/>
                  </a:lnTo>
                </a:path>
              </a:pathLst>
            </a:custGeom>
            <a:noFill/>
            <a:ln w="19050">
              <a:solidFill>
                <a:srgbClr val="616161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10363200" y="1809750"/>
              <a:ext cx="9525" cy="3714750"/>
            </a:xfrm>
            <a:custGeom>
              <a:avLst/>
              <a:gdLst/>
              <a:ahLst/>
              <a:cxnLst/>
              <a:rect l="l" t="t" r="r" b="b"/>
              <a:pathLst>
                <a:path w="9525" h="3714750">
                  <a:moveTo>
                    <a:pt x="0" y="0"/>
                  </a:moveTo>
                  <a:lnTo>
                    <a:pt x="0" y="3714750"/>
                  </a:lnTo>
                </a:path>
              </a:pathLst>
            </a:custGeom>
            <a:noFill/>
            <a:ln w="19050">
              <a:solidFill>
                <a:srgbClr val="61616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281958" y="57049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747748" y="57049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60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66014" y="570499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300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0964" y="570499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420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28389" y="570499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660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33339" y="570499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720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73052" y="596646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时间 (min)</a:t>
              </a:r>
            </a:p>
          </p:txBody>
        </p:sp>
        <p:sp>
          <p:nvSpPr>
            <p:cNvPr id="49" name="Polyline 49"/>
            <p:cNvSpPr/>
            <p:nvPr/>
          </p:nvSpPr>
          <p:spPr>
            <a:xfrm>
              <a:off x="1333500" y="1933575"/>
              <a:ext cx="9029700" cy="3095625"/>
            </a:xfrm>
            <a:custGeom>
              <a:avLst/>
              <a:gdLst/>
              <a:ahLst/>
              <a:cxnLst/>
              <a:rect l="l" t="t" r="r" b="b"/>
              <a:pathLst>
                <a:path w="9029700" h="3095625">
                  <a:moveTo>
                    <a:pt x="0" y="1609725"/>
                  </a:moveTo>
                  <a:lnTo>
                    <a:pt x="1504950" y="0"/>
                  </a:lnTo>
                  <a:lnTo>
                    <a:pt x="3762375" y="0"/>
                  </a:lnTo>
                  <a:lnTo>
                    <a:pt x="5267325" y="3095625"/>
                  </a:lnTo>
                  <a:lnTo>
                    <a:pt x="7524750" y="3095625"/>
                  </a:lnTo>
                  <a:lnTo>
                    <a:pt x="9029700" y="1609725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round/>
            </a:ln>
          </p:spPr>
        </p:sp>
        <p:sp>
          <p:nvSpPr>
            <p:cNvPr id="50" name="Ellipse 50"/>
            <p:cNvSpPr/>
            <p:nvPr/>
          </p:nvSpPr>
          <p:spPr>
            <a:xfrm>
              <a:off x="1285875" y="3495675"/>
              <a:ext cx="95250" cy="95250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FFFFFF"/>
              </a:solidFill>
            </a:ln>
            <a:effectLst>
              <a:outerShdw blurRad="38100" dist="9525" dir="10796562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51" name="Ellipse 51"/>
            <p:cNvSpPr/>
            <p:nvPr/>
          </p:nvSpPr>
          <p:spPr>
            <a:xfrm>
              <a:off x="2790825" y="1885950"/>
              <a:ext cx="95250" cy="95250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FFFFFF"/>
              </a:solidFill>
            </a:ln>
            <a:effectLst>
              <a:outerShdw blurRad="38100" dist="9525" dir="10796562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52" name="Ellipse 52"/>
            <p:cNvSpPr/>
            <p:nvPr/>
          </p:nvSpPr>
          <p:spPr>
            <a:xfrm>
              <a:off x="5048250" y="1885950"/>
              <a:ext cx="95250" cy="95250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FFFFFF"/>
              </a:solidFill>
            </a:ln>
            <a:effectLst>
              <a:outerShdw blurRad="38100" dist="9525" dir="10796562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53" name="Ellipse 53"/>
            <p:cNvSpPr/>
            <p:nvPr/>
          </p:nvSpPr>
          <p:spPr>
            <a:xfrm>
              <a:off x="6553200" y="4981575"/>
              <a:ext cx="95250" cy="95250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FFFFFF"/>
              </a:solidFill>
            </a:ln>
            <a:effectLst>
              <a:outerShdw blurRad="38100" dist="9525" dir="10796562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54" name="Ellipse 54"/>
            <p:cNvSpPr/>
            <p:nvPr/>
          </p:nvSpPr>
          <p:spPr>
            <a:xfrm>
              <a:off x="8810625" y="4981575"/>
              <a:ext cx="95250" cy="95250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FFFFFF"/>
              </a:solidFill>
            </a:ln>
            <a:effectLst>
              <a:outerShdw blurRad="38100" dist="9525" dir="10796562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55" name="Ellipse 55"/>
            <p:cNvSpPr/>
            <p:nvPr/>
          </p:nvSpPr>
          <p:spPr>
            <a:xfrm>
              <a:off x="10315575" y="3495675"/>
              <a:ext cx="95250" cy="95250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FFFFFF"/>
              </a:solidFill>
            </a:ln>
            <a:effectLst>
              <a:outerShdw blurRad="38100" dist="9525" dir="10796562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56" name="Polyline 56"/>
            <p:cNvSpPr/>
            <p:nvPr/>
          </p:nvSpPr>
          <p:spPr>
            <a:xfrm>
              <a:off x="1333500" y="2362200"/>
              <a:ext cx="9029700" cy="2047875"/>
            </a:xfrm>
            <a:custGeom>
              <a:avLst/>
              <a:gdLst/>
              <a:ahLst/>
              <a:cxnLst/>
              <a:rect l="l" t="t" r="r" b="b"/>
              <a:pathLst>
                <a:path w="9029700" h="2047875">
                  <a:moveTo>
                    <a:pt x="0" y="752475"/>
                  </a:moveTo>
                  <a:lnTo>
                    <a:pt x="1504950" y="0"/>
                  </a:lnTo>
                  <a:lnTo>
                    <a:pt x="3762375" y="0"/>
                  </a:lnTo>
                  <a:lnTo>
                    <a:pt x="5267325" y="2047875"/>
                  </a:lnTo>
                  <a:lnTo>
                    <a:pt x="7524750" y="2047875"/>
                  </a:lnTo>
                  <a:lnTo>
                    <a:pt x="9029700" y="752475"/>
                  </a:lnTo>
                </a:path>
              </a:pathLst>
            </a:custGeom>
            <a:noFill/>
            <a:ln w="23812" cap="rnd">
              <a:solidFill>
                <a:srgbClr val="666666"/>
              </a:solidFill>
              <a:custDash>
                <a:ds d="320000" sp="200000"/>
              </a:custDash>
              <a:round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285875" y="3067050"/>
              <a:ext cx="95250" cy="95250"/>
            </a:xfrm>
            <a:prstGeom prst="rect">
              <a:avLst/>
            </a:prstGeom>
            <a:solidFill>
              <a:srgbClr val="666666"/>
            </a:solidFill>
            <a:ln w="19050">
              <a:solidFill>
                <a:srgbClr val="FFFFFF"/>
              </a:solidFill>
            </a:ln>
            <a:effectLst>
              <a:outerShdw blurRad="38100" dist="9525" dir="10796562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58" name="Rectangle 58"/>
            <p:cNvSpPr/>
            <p:nvPr/>
          </p:nvSpPr>
          <p:spPr>
            <a:xfrm>
              <a:off x="2790825" y="2314575"/>
              <a:ext cx="95250" cy="95250"/>
            </a:xfrm>
            <a:prstGeom prst="rect">
              <a:avLst/>
            </a:prstGeom>
            <a:solidFill>
              <a:srgbClr val="666666"/>
            </a:solidFill>
            <a:ln w="19050">
              <a:solidFill>
                <a:srgbClr val="FFFFFF"/>
              </a:solidFill>
            </a:ln>
            <a:effectLst>
              <a:outerShdw blurRad="38100" dist="9525" dir="10796562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59" name="Rectangle 59"/>
            <p:cNvSpPr/>
            <p:nvPr/>
          </p:nvSpPr>
          <p:spPr>
            <a:xfrm>
              <a:off x="5048250" y="2314575"/>
              <a:ext cx="95250" cy="95250"/>
            </a:xfrm>
            <a:prstGeom prst="rect">
              <a:avLst/>
            </a:prstGeom>
            <a:solidFill>
              <a:srgbClr val="666666"/>
            </a:solidFill>
            <a:ln w="19050">
              <a:solidFill>
                <a:srgbClr val="FFFFFF"/>
              </a:solidFill>
            </a:ln>
            <a:effectLst>
              <a:outerShdw blurRad="38100" dist="9525" dir="10796562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60" name="Rectangle 60"/>
            <p:cNvSpPr/>
            <p:nvPr/>
          </p:nvSpPr>
          <p:spPr>
            <a:xfrm>
              <a:off x="6553200" y="4362450"/>
              <a:ext cx="95250" cy="95250"/>
            </a:xfrm>
            <a:prstGeom prst="rect">
              <a:avLst/>
            </a:prstGeom>
            <a:solidFill>
              <a:srgbClr val="666666"/>
            </a:solidFill>
            <a:ln w="19050">
              <a:solidFill>
                <a:srgbClr val="FFFFFF"/>
              </a:solidFill>
            </a:ln>
            <a:effectLst>
              <a:outerShdw blurRad="38100" dist="9525" dir="10796562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61" name="Rectangle 61"/>
            <p:cNvSpPr/>
            <p:nvPr/>
          </p:nvSpPr>
          <p:spPr>
            <a:xfrm>
              <a:off x="8810625" y="4362450"/>
              <a:ext cx="95250" cy="95250"/>
            </a:xfrm>
            <a:prstGeom prst="rect">
              <a:avLst/>
            </a:prstGeom>
            <a:solidFill>
              <a:srgbClr val="666666"/>
            </a:solidFill>
            <a:ln w="19050">
              <a:solidFill>
                <a:srgbClr val="FFFFFF"/>
              </a:solidFill>
            </a:ln>
            <a:effectLst>
              <a:outerShdw blurRad="38100" dist="9525" dir="10796562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62" name="Rectangle 62"/>
            <p:cNvSpPr/>
            <p:nvPr/>
          </p:nvSpPr>
          <p:spPr>
            <a:xfrm>
              <a:off x="10315575" y="3067050"/>
              <a:ext cx="95250" cy="95250"/>
            </a:xfrm>
            <a:prstGeom prst="rect">
              <a:avLst/>
            </a:prstGeom>
            <a:solidFill>
              <a:srgbClr val="666666"/>
            </a:solidFill>
            <a:ln w="19050">
              <a:solidFill>
                <a:srgbClr val="FFFFFF"/>
              </a:solidFill>
            </a:ln>
            <a:effectLst>
              <a:outerShdw blurRad="38100" dist="9525" dir="10796562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63" name="Rectangle 63"/>
            <p:cNvSpPr/>
            <p:nvPr/>
          </p:nvSpPr>
          <p:spPr>
            <a:xfrm>
              <a:off x="1381125" y="3400425"/>
              <a:ext cx="400050" cy="1905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4762">
              <a:solidFill>
                <a:srgbClr val="000000">
                  <a:alpha val="90000"/>
                </a:srgbClr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466297" y="3435191"/>
              <a:ext cx="2297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20℃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381125" y="2971800"/>
              <a:ext cx="400050" cy="1905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4762">
              <a:solidFill>
                <a:srgbClr val="666666">
                  <a:alpha val="90000"/>
                </a:srgbClr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466297" y="3006566"/>
              <a:ext cx="2297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65%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886075" y="1790700"/>
              <a:ext cx="400050" cy="1905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4762">
              <a:solidFill>
                <a:srgbClr val="000000">
                  <a:alpha val="90000"/>
                </a:srgbClr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971247" y="1825466"/>
              <a:ext cx="2297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85℃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762375" y="2219325"/>
              <a:ext cx="400050" cy="1905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4762">
              <a:solidFill>
                <a:srgbClr val="666666">
                  <a:alpha val="90000"/>
                </a:srgbClr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847547" y="2254091"/>
              <a:ext cx="2297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85%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648450" y="4886325"/>
              <a:ext cx="457200" cy="1905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4762">
              <a:solidFill>
                <a:srgbClr val="000000">
                  <a:alpha val="90000"/>
                </a:srgbClr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27405" y="4921091"/>
              <a:ext cx="2992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-40℃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524750" y="4267200"/>
              <a:ext cx="400050" cy="1905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4762">
              <a:solidFill>
                <a:srgbClr val="666666">
                  <a:alpha val="90000"/>
                </a:srgbClr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609922" y="4301966"/>
              <a:ext cx="2297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30%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715500" y="3400425"/>
              <a:ext cx="400050" cy="1905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4762">
              <a:solidFill>
                <a:srgbClr val="000000">
                  <a:alpha val="90000"/>
                </a:srgbClr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800672" y="3435191"/>
              <a:ext cx="2297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20℃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9715500" y="2971800"/>
              <a:ext cx="400050" cy="1905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w="4762">
              <a:solidFill>
                <a:srgbClr val="666666">
                  <a:alpha val="90000"/>
                </a:srgbClr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800672" y="3006566"/>
              <a:ext cx="2297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65%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4000500" y="6286500"/>
            <a:ext cx="4191000" cy="428625"/>
            <a:chOff x="4000500" y="6286500"/>
            <a:chExt cx="4191000" cy="428625"/>
          </a:xfrm>
        </p:grpSpPr>
        <p:sp>
          <p:nvSpPr>
            <p:cNvPr id="80" name="Rectangle 80"/>
            <p:cNvSpPr/>
            <p:nvPr/>
          </p:nvSpPr>
          <p:spPr>
            <a:xfrm>
              <a:off x="4000500" y="6286500"/>
              <a:ext cx="4191000" cy="428625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CCCCCC"/>
              </a:solidFill>
            </a:ln>
          </p:spPr>
        </p:sp>
        <p:sp>
          <p:nvSpPr>
            <p:cNvPr id="81" name="Line 81"/>
            <p:cNvSpPr/>
            <p:nvPr/>
          </p:nvSpPr>
          <p:spPr>
            <a:xfrm>
              <a:off x="4286250" y="64960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4429125" y="6448425"/>
              <a:ext cx="95250" cy="95250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FFFFFF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795838" y="6422231"/>
              <a:ext cx="7100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温度 (℃)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6191250" y="64960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666666"/>
              </a:solidFill>
              <a:custDash>
                <a:ds d="320000" sp="200000"/>
              </a:custDash>
            </a:ln>
          </p:spPr>
        </p:sp>
        <p:sp>
          <p:nvSpPr>
            <p:cNvPr id="85" name="Rectangle 85"/>
            <p:cNvSpPr/>
            <p:nvPr/>
          </p:nvSpPr>
          <p:spPr>
            <a:xfrm>
              <a:off x="6334125" y="6448425"/>
              <a:ext cx="95250" cy="95250"/>
            </a:xfrm>
            <a:prstGeom prst="rect">
              <a:avLst/>
            </a:prstGeom>
            <a:solidFill>
              <a:srgbClr val="666666"/>
            </a:solidFill>
            <a:ln w="19050">
              <a:solidFill>
                <a:srgbClr val="FFFFFF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700838" y="6422231"/>
              <a:ext cx="1055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相对湿度 (%)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40767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年度利润变化分析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4355" y="854392"/>
            <a:ext cx="30410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F8C8D"/>
                </a:solidFill>
                <a:latin typeface="Segoe UI"/>
                <a:ea typeface="Microsoft YaHei"/>
                <a:cs typeface="Segoe UI"/>
              </a:rPr>
              <a:t>2024年 vs 2025年 · 单位：百万元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382000" y="666750"/>
            <a:ext cx="2396490" cy="242888"/>
            <a:chOff x="8382000" y="666750"/>
            <a:chExt cx="2396490" cy="242888"/>
          </a:xfrm>
        </p:grpSpPr>
        <p:sp>
          <p:nvSpPr>
            <p:cNvPr id="5" name="Rectangle 5"/>
            <p:cNvSpPr/>
            <p:nvPr/>
          </p:nvSpPr>
          <p:spPr>
            <a:xfrm>
              <a:off x="8382000" y="666750"/>
              <a:ext cx="190500" cy="190500"/>
            </a:xfrm>
            <a:prstGeom prst="rect">
              <a:avLst/>
            </a:prstGeom>
            <a:gradFill>
              <a:gsLst>
                <a:gs pos="0">
                  <a:srgbClr val="2196F3"/>
                </a:gs>
                <a:gs pos="100000">
                  <a:srgbClr val="1976D2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35365" y="696278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起止值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334500" y="666750"/>
              <a:ext cx="190500" cy="190500"/>
            </a:xfrm>
            <a:prstGeom prst="rect">
              <a:avLst/>
            </a:prstGeom>
            <a:gradFill>
              <a:gsLst>
                <a:gs pos="0">
                  <a:srgbClr val="4CAF50"/>
                </a:gs>
                <a:gs pos="100000">
                  <a:srgbClr val="388E3C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87865" y="69627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增加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191750" y="666750"/>
              <a:ext cx="190500" cy="190500"/>
            </a:xfrm>
            <a:prstGeom prst="rect">
              <a:avLst/>
            </a:prstGeom>
            <a:gradFill>
              <a:gsLst>
                <a:gs pos="0">
                  <a:srgbClr val="EF5350"/>
                </a:gs>
                <a:gs pos="100000">
                  <a:srgbClr val="D32F2F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45115" y="69627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减少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24258" y="1238250"/>
            <a:ext cx="10505742" cy="4748212"/>
            <a:chOff x="924258" y="1238250"/>
            <a:chExt cx="10505742" cy="4748212"/>
          </a:xfrm>
        </p:grpSpPr>
        <p:sp>
          <p:nvSpPr>
            <p:cNvPr id="12" name="Line 12"/>
            <p:cNvSpPr/>
            <p:nvPr/>
          </p:nvSpPr>
          <p:spPr>
            <a:xfrm>
              <a:off x="1333500" y="53340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3" name="Line 13"/>
            <p:cNvSpPr/>
            <p:nvPr/>
          </p:nvSpPr>
          <p:spPr>
            <a:xfrm>
              <a:off x="1333500" y="45720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4" name="Line 14"/>
            <p:cNvSpPr/>
            <p:nvPr/>
          </p:nvSpPr>
          <p:spPr>
            <a:xfrm>
              <a:off x="1333500" y="38100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5" name="Line 15"/>
            <p:cNvSpPr/>
            <p:nvPr/>
          </p:nvSpPr>
          <p:spPr>
            <a:xfrm>
              <a:off x="1333500" y="30480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6" name="Line 16"/>
            <p:cNvSpPr/>
            <p:nvPr/>
          </p:nvSpPr>
          <p:spPr>
            <a:xfrm>
              <a:off x="1333500" y="22860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7" name="Line 17"/>
            <p:cNvSpPr/>
            <p:nvPr/>
          </p:nvSpPr>
          <p:spPr>
            <a:xfrm>
              <a:off x="1333500" y="15240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  <a:prstDash val="dash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92946" y="5268278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2596" y="4506278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100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4258" y="374427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200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4258" y="298227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300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4258" y="222027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400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24258" y="145827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500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333500" y="12382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333500" y="53340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666875" y="3200400"/>
              <a:ext cx="857250" cy="2133600"/>
            </a:xfrm>
            <a:prstGeom prst="rect">
              <a:avLst/>
            </a:prstGeom>
            <a:gradFill>
              <a:gsLst>
                <a:gs pos="0">
                  <a:srgbClr val="2196F3"/>
                </a:gs>
                <a:gs pos="100000">
                  <a:srgbClr val="1976D2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27" name="TextBox 27"/>
            <p:cNvSpPr txBox="1"/>
            <p:nvPr/>
          </p:nvSpPr>
          <p:spPr>
            <a:xfrm>
              <a:off x="1928441" y="2918460"/>
              <a:ext cx="3341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280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36801" y="5601652"/>
              <a:ext cx="5173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2024年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28812" y="57731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利润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2524125" y="32004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BDC3C7"/>
              </a:solidFill>
              <a:custDash>
                <a:ds d="266666" sp="133333"/>
              </a:custDash>
            </a:ln>
          </p:spPr>
        </p:sp>
        <p:sp>
          <p:nvSpPr>
            <p:cNvPr id="31" name="Rectangle 31"/>
            <p:cNvSpPr/>
            <p:nvPr/>
          </p:nvSpPr>
          <p:spPr>
            <a:xfrm>
              <a:off x="2905125" y="2286000"/>
              <a:ext cx="857250" cy="914400"/>
            </a:xfrm>
            <a:prstGeom prst="rect">
              <a:avLst/>
            </a:prstGeom>
            <a:gradFill>
              <a:gsLst>
                <a:gs pos="0">
                  <a:srgbClr val="4CAF50"/>
                </a:gs>
                <a:gs pos="100000">
                  <a:srgbClr val="388E3C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3151254" y="2021681"/>
              <a:ext cx="364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+120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13710" y="56016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营收增长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762375" y="22860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BDC3C7"/>
              </a:solidFill>
              <a:custDash>
                <a:ds d="266666" sp="133333"/>
              </a:custDash>
            </a:ln>
          </p:spPr>
        </p:sp>
        <p:sp>
          <p:nvSpPr>
            <p:cNvPr id="35" name="Rectangle 35"/>
            <p:cNvSpPr/>
            <p:nvPr/>
          </p:nvSpPr>
          <p:spPr>
            <a:xfrm>
              <a:off x="4143375" y="1790700"/>
              <a:ext cx="857250" cy="495300"/>
            </a:xfrm>
            <a:prstGeom prst="rect">
              <a:avLst/>
            </a:prstGeom>
            <a:gradFill>
              <a:gsLst>
                <a:gs pos="0">
                  <a:srgbClr val="4CAF50"/>
                </a:gs>
                <a:gs pos="100000">
                  <a:srgbClr val="388E3C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6" name="TextBox 36"/>
            <p:cNvSpPr txBox="1"/>
            <p:nvPr/>
          </p:nvSpPr>
          <p:spPr>
            <a:xfrm>
              <a:off x="4415382" y="1526381"/>
              <a:ext cx="3132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+65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28636" y="56016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新产品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000625" y="17907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BDC3C7"/>
              </a:solidFill>
              <a:custDash>
                <a:ds d="266666" sp="133333"/>
              </a:custDash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81625" y="1790700"/>
              <a:ext cx="857250" cy="342900"/>
            </a:xfrm>
            <a:prstGeom prst="rect">
              <a:avLst/>
            </a:prstGeom>
            <a:gradFill>
              <a:gsLst>
                <a:gs pos="0">
                  <a:srgbClr val="EF5350"/>
                </a:gs>
                <a:gs pos="100000">
                  <a:srgbClr val="D32F2F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5653632" y="2164556"/>
              <a:ext cx="3132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F5350"/>
                  </a:solidFill>
                  <a:latin typeface="Segoe UI"/>
                  <a:ea typeface="Microsoft YaHei"/>
                  <a:cs typeface="Segoe UI"/>
                </a:rPr>
                <a:t>-45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66886" y="56016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原材料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43562" y="57731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涨价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238875" y="21336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BDC3C7"/>
              </a:solidFill>
              <a:custDash>
                <a:ds d="266666" sp="133333"/>
              </a:custDash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19875" y="2133600"/>
              <a:ext cx="857250" cy="266700"/>
            </a:xfrm>
            <a:prstGeom prst="rect">
              <a:avLst/>
            </a:prstGeom>
            <a:gradFill>
              <a:gsLst>
                <a:gs pos="0">
                  <a:srgbClr val="EF5350"/>
                </a:gs>
                <a:gs pos="100000">
                  <a:srgbClr val="D32F2F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5" name="TextBox 45"/>
            <p:cNvSpPr txBox="1"/>
            <p:nvPr/>
          </p:nvSpPr>
          <p:spPr>
            <a:xfrm>
              <a:off x="6891882" y="2431256"/>
              <a:ext cx="3132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F5350"/>
                  </a:solidFill>
                  <a:latin typeface="Segoe UI"/>
                  <a:ea typeface="Microsoft YaHei"/>
                  <a:cs typeface="Segoe UI"/>
                </a:rPr>
                <a:t>-35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28460" y="56016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人力成本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7477125" y="24003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BDC3C7"/>
              </a:solidFill>
              <a:custDash>
                <a:ds d="266666" sp="133333"/>
              </a:custDash>
            </a:ln>
          </p:spPr>
        </p:sp>
        <p:sp>
          <p:nvSpPr>
            <p:cNvPr id="48" name="Rectangle 48"/>
            <p:cNvSpPr/>
            <p:nvPr/>
          </p:nvSpPr>
          <p:spPr>
            <a:xfrm>
              <a:off x="7858125" y="2400300"/>
              <a:ext cx="857250" cy="190500"/>
            </a:xfrm>
            <a:prstGeom prst="rect">
              <a:avLst/>
            </a:prstGeom>
            <a:gradFill>
              <a:gsLst>
                <a:gs pos="0">
                  <a:srgbClr val="EF5350"/>
                </a:gs>
                <a:gs pos="100000">
                  <a:srgbClr val="D32F2F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9" name="TextBox 49"/>
            <p:cNvSpPr txBox="1"/>
            <p:nvPr/>
          </p:nvSpPr>
          <p:spPr>
            <a:xfrm>
              <a:off x="8130132" y="2621756"/>
              <a:ext cx="3132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F5350"/>
                  </a:solidFill>
                  <a:latin typeface="Segoe UI"/>
                  <a:ea typeface="Microsoft YaHei"/>
                  <a:cs typeface="Segoe UI"/>
                </a:rPr>
                <a:t>-25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66710" y="56016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营销投入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715375" y="25908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BDC3C7"/>
              </a:solidFill>
              <a:custDash>
                <a:ds d="266666" sp="133333"/>
              </a:custDash>
            </a:ln>
          </p:spPr>
        </p:sp>
        <p:sp>
          <p:nvSpPr>
            <p:cNvPr id="52" name="Rectangle 52"/>
            <p:cNvSpPr/>
            <p:nvPr/>
          </p:nvSpPr>
          <p:spPr>
            <a:xfrm>
              <a:off x="9096375" y="2286000"/>
              <a:ext cx="857250" cy="304800"/>
            </a:xfrm>
            <a:prstGeom prst="rect">
              <a:avLst/>
            </a:prstGeom>
            <a:gradFill>
              <a:gsLst>
                <a:gs pos="0">
                  <a:srgbClr val="4CAF50"/>
                </a:gs>
                <a:gs pos="100000">
                  <a:srgbClr val="388E3C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53" name="TextBox 53"/>
            <p:cNvSpPr txBox="1"/>
            <p:nvPr/>
          </p:nvSpPr>
          <p:spPr>
            <a:xfrm>
              <a:off x="9368382" y="2021681"/>
              <a:ext cx="3132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+40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04960" y="56016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运营优化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9953625" y="22860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BDC3C7"/>
              </a:solidFill>
              <a:custDash>
                <a:ds d="266666" sp="133333"/>
              </a:custDash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334625" y="2286000"/>
              <a:ext cx="857250" cy="3048000"/>
            </a:xfrm>
            <a:prstGeom prst="rect">
              <a:avLst/>
            </a:prstGeom>
            <a:gradFill>
              <a:gsLst>
                <a:gs pos="0">
                  <a:srgbClr val="2196F3"/>
                </a:gs>
                <a:gs pos="100000">
                  <a:srgbClr val="1976D2"/>
                </a:gs>
              </a:gsLst>
              <a:lin ang="5400000" scaled="1"/>
            </a:gradFill>
            <a:ln>
              <a:noFill/>
            </a:ln>
            <a:effectLst>
              <a:outerShdw blurRad="38100" dist="9525" dir="10796562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57" name="TextBox 57"/>
            <p:cNvSpPr txBox="1"/>
            <p:nvPr/>
          </p:nvSpPr>
          <p:spPr>
            <a:xfrm>
              <a:off x="10596191" y="2013585"/>
              <a:ext cx="3341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400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04551" y="5601652"/>
              <a:ext cx="5173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2025年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596562" y="57731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利润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6096000"/>
            <a:ext cx="4762500" cy="476250"/>
            <a:chOff x="571500" y="6096000"/>
            <a:chExt cx="4762500" cy="476250"/>
          </a:xfrm>
        </p:grpSpPr>
        <p:sp>
          <p:nvSpPr>
            <p:cNvPr id="61" name="Rectangle 61"/>
            <p:cNvSpPr/>
            <p:nvPr/>
          </p:nvSpPr>
          <p:spPr>
            <a:xfrm>
              <a:off x="571500" y="6096000"/>
              <a:ext cx="4762500" cy="476250"/>
            </a:xfrm>
            <a:prstGeom prst="rect">
              <a:avLst/>
            </a:prstGeom>
            <a:solidFill>
              <a:srgbClr val="E8F5E9"/>
            </a:solidFill>
            <a:ln w="9525">
              <a:solidFill>
                <a:srgbClr val="4CAF5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8665" y="6192202"/>
              <a:ext cx="11614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88E3C"/>
                  </a:solidFill>
                  <a:latin typeface="Segoe UI"/>
                  <a:ea typeface="Microsoft YaHei"/>
                  <a:cs typeface="Segoe UI"/>
                </a:rPr>
                <a:t>📈 年度利润增长: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985010" y="6176010"/>
              <a:ext cx="13922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+120M (+42.9%)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9618" y="6371749"/>
              <a:ext cx="36844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增加项合计: +225M | 减少项合计: -105M | 净增长: +120M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0249995" y="6506528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5A5A6"/>
                </a:solidFill>
                <a:latin typeface="Segoe UI"/>
                <a:ea typeface="Microsoft YaHei"/>
                <a:cs typeface="Segoe UI"/>
              </a:rPr>
              <a:t>数据来源: 财务部门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销售转化漏斗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4355" y="949642"/>
            <a:ext cx="31298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F8C8D"/>
                </a:solidFill>
                <a:latin typeface="Segoe UI"/>
                <a:ea typeface="Microsoft YaHei"/>
                <a:cs typeface="Segoe UI"/>
              </a:rPr>
              <a:t>2025年第三季度 · 总线索数 10,000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238500" y="1524000"/>
            <a:ext cx="5715000" cy="3905250"/>
            <a:chOff x="3238500" y="1524000"/>
            <a:chExt cx="5715000" cy="3905250"/>
          </a:xfrm>
        </p:grpSpPr>
        <p:sp>
          <p:nvSpPr>
            <p:cNvPr id="5" name="Freeform 5"/>
            <p:cNvSpPr/>
            <p:nvPr/>
          </p:nvSpPr>
          <p:spPr>
            <a:xfrm>
              <a:off x="3238500" y="1524000"/>
              <a:ext cx="5715000" cy="762000"/>
            </a:xfrm>
            <a:custGeom>
              <a:avLst/>
              <a:gdLst/>
              <a:ahLst/>
              <a:cxnLst/>
              <a:rect l="l" t="t" r="r" b="b"/>
              <a:pathLst>
                <a:path w="5715000" h="762000">
                  <a:moveTo>
                    <a:pt x="0" y="0"/>
                  </a:moveTo>
                  <a:lnTo>
                    <a:pt x="5715000" y="0"/>
                  </a:lnTo>
                  <a:lnTo>
                    <a:pt x="5286375" y="762000"/>
                  </a:lnTo>
                  <a:lnTo>
                    <a:pt x="428625" y="762000"/>
                  </a:lnTo>
                  <a:close/>
                </a:path>
              </a:pathLst>
            </a:custGeom>
            <a:gradFill>
              <a:gsLst>
                <a:gs pos="0">
                  <a:srgbClr val="005587"/>
                </a:gs>
                <a:gs pos="100000">
                  <a:srgbClr val="003A5C"/>
                </a:gs>
              </a:gsLst>
              <a:lin ang="5400000" scaled="1"/>
            </a:gradFill>
            <a:ln>
              <a:noFill/>
            </a:ln>
            <a:effectLst>
              <a:outerShdw blurRad="57150" dist="19050" dir="10798281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6" name="TextBox 6"/>
            <p:cNvSpPr txBox="1"/>
            <p:nvPr/>
          </p:nvSpPr>
          <p:spPr>
            <a:xfrm>
              <a:off x="5168336" y="1790700"/>
              <a:ext cx="18553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潜在客户: 10,000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9881" y="2042160"/>
              <a:ext cx="3722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100%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3667125" y="2571750"/>
              <a:ext cx="4857750" cy="762000"/>
            </a:xfrm>
            <a:custGeom>
              <a:avLst/>
              <a:gdLst/>
              <a:ahLst/>
              <a:cxnLst/>
              <a:rect l="l" t="t" r="r" b="b"/>
              <a:pathLst>
                <a:path w="4857750" h="762000">
                  <a:moveTo>
                    <a:pt x="0" y="0"/>
                  </a:moveTo>
                  <a:lnTo>
                    <a:pt x="4857750" y="0"/>
                  </a:lnTo>
                  <a:lnTo>
                    <a:pt x="4429125" y="762000"/>
                  </a:lnTo>
                  <a:lnTo>
                    <a:pt x="428625" y="762000"/>
                  </a:lnTo>
                  <a:close/>
                </a:path>
              </a:pathLst>
            </a:custGeom>
            <a:gradFill>
              <a:gsLst>
                <a:gs pos="0">
                  <a:srgbClr val="0076A8"/>
                </a:gs>
                <a:gs pos="100000">
                  <a:srgbClr val="005587"/>
                </a:gs>
              </a:gsLst>
              <a:lin ang="5400000" scaled="1"/>
            </a:gradFill>
            <a:ln>
              <a:noFill/>
            </a:ln>
            <a:effectLst>
              <a:outerShdw blurRad="57150" dist="19050" dir="10798281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5202841" y="2838450"/>
              <a:ext cx="17863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意向客户: 4,500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36170" y="3089910"/>
              <a:ext cx="3196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45%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4095750" y="3619500"/>
              <a:ext cx="4000500" cy="762000"/>
            </a:xfrm>
            <a:custGeom>
              <a:avLst/>
              <a:gdLst/>
              <a:ahLst/>
              <a:cxnLst/>
              <a:rect l="l" t="t" r="r" b="b"/>
              <a:pathLst>
                <a:path w="4000500" h="762000">
                  <a:moveTo>
                    <a:pt x="0" y="0"/>
                  </a:moveTo>
                  <a:lnTo>
                    <a:pt x="4000500" y="0"/>
                  </a:lnTo>
                  <a:lnTo>
                    <a:pt x="3571875" y="762000"/>
                  </a:lnTo>
                  <a:lnTo>
                    <a:pt x="428625" y="762000"/>
                  </a:lnTo>
                  <a:close/>
                </a:path>
              </a:pathLst>
            </a:custGeom>
            <a:gradFill>
              <a:gsLst>
                <a:gs pos="0">
                  <a:srgbClr val="4A90A4"/>
                </a:gs>
                <a:gs pos="100000">
                  <a:srgbClr val="3B7A8F"/>
                </a:gs>
              </a:gsLst>
              <a:lin ang="5400000" scaled="1"/>
            </a:gradFill>
            <a:ln>
              <a:noFill/>
            </a:ln>
            <a:effectLst>
              <a:outerShdw blurRad="57150" dist="19050" dir="10798281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231594" y="3886200"/>
              <a:ext cx="17288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商务洽谈: 1,800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58078" y="4137660"/>
              <a:ext cx="2758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18%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24375" y="4667250"/>
              <a:ext cx="3143250" cy="762000"/>
            </a:xfrm>
            <a:custGeom>
              <a:avLst/>
              <a:gdLst/>
              <a:ahLst/>
              <a:cxnLst/>
              <a:rect l="l" t="t" r="r" b="b"/>
              <a:pathLst>
                <a:path w="3143250" h="762000">
                  <a:moveTo>
                    <a:pt x="0" y="0"/>
                  </a:moveTo>
                  <a:lnTo>
                    <a:pt x="3143250" y="0"/>
                  </a:lnTo>
                  <a:lnTo>
                    <a:pt x="2714625" y="762000"/>
                  </a:lnTo>
                  <a:lnTo>
                    <a:pt x="428625" y="762000"/>
                  </a:lnTo>
                  <a:close/>
                </a:path>
              </a:pathLst>
            </a:custGeom>
            <a:gradFill>
              <a:gsLst>
                <a:gs pos="0">
                  <a:srgbClr val="F5A623"/>
                </a:gs>
                <a:gs pos="100000">
                  <a:srgbClr val="E89207"/>
                </a:gs>
              </a:gsLst>
              <a:lin ang="5400000" scaled="1"/>
            </a:gradFill>
            <a:ln>
              <a:noFill/>
            </a:ln>
            <a:effectLst>
              <a:outerShdw blurRad="57150" dist="19050" dir="10798281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5329357" y="4933950"/>
              <a:ext cx="15332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成交客户: 650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87974" y="5185410"/>
              <a:ext cx="4160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6.5%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191500" y="2187892"/>
            <a:ext cx="2681876" cy="2538889"/>
            <a:chOff x="8191500" y="2187892"/>
            <a:chExt cx="2681876" cy="2538889"/>
          </a:xfrm>
        </p:grpSpPr>
        <p:sp>
          <p:nvSpPr>
            <p:cNvPr id="18" name="Line 18"/>
            <p:cNvSpPr/>
            <p:nvPr/>
          </p:nvSpPr>
          <p:spPr>
            <a:xfrm>
              <a:off x="9048750" y="23812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rgbClr val="E74C3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93605" y="2187892"/>
              <a:ext cx="10797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74C3C"/>
                  </a:solidFill>
                  <a:latin typeface="Segoe UI"/>
                  <a:ea typeface="Microsoft YaHei"/>
                  <a:cs typeface="Segoe UI"/>
                </a:rPr>
                <a:t>流失 5,500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96462" y="2402681"/>
              <a:ext cx="9322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转化率: 45%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620125" y="3429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rgbClr val="E74C3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64980" y="3235642"/>
              <a:ext cx="10797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74C3C"/>
                  </a:solidFill>
                  <a:latin typeface="Segoe UI"/>
                  <a:ea typeface="Microsoft YaHei"/>
                  <a:cs typeface="Segoe UI"/>
                </a:rPr>
                <a:t>流失 2,700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67838" y="3450431"/>
              <a:ext cx="9322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转化率: 40%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191500" y="44767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rgbClr val="E74C3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36355" y="4283392"/>
              <a:ext cx="9762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74C3C"/>
                  </a:solidFill>
                  <a:latin typeface="Segoe UI"/>
                  <a:ea typeface="Microsoft YaHei"/>
                  <a:cs typeface="Segoe UI"/>
                </a:rPr>
                <a:t>流失 1,150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39212" y="4498181"/>
              <a:ext cx="9322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转化率: 36%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1714500"/>
            <a:ext cx="2095500" cy="3619500"/>
            <a:chOff x="571500" y="1714500"/>
            <a:chExt cx="2095500" cy="3619500"/>
          </a:xfrm>
        </p:grpSpPr>
        <p:sp>
          <p:nvSpPr>
            <p:cNvPr id="28" name="Rectangle 28"/>
            <p:cNvSpPr/>
            <p:nvPr/>
          </p:nvSpPr>
          <p:spPr>
            <a:xfrm>
              <a:off x="571500" y="1714500"/>
              <a:ext cx="2095500" cy="3619500"/>
            </a:xfrm>
            <a:prstGeom prst="rect">
              <a:avLst/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88053" y="1902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关键指标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2333625"/>
              <a:ext cx="38100" cy="476250"/>
            </a:xfrm>
            <a:prstGeom prst="rect">
              <a:avLst/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1540" y="23631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总转化率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4395" y="2455545"/>
              <a:ext cx="87066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5A623"/>
                  </a:solidFill>
                  <a:latin typeface="Segoe UI"/>
                  <a:ea typeface="Microsoft YaHei"/>
                  <a:cs typeface="Segoe UI"/>
                </a:rPr>
                <a:t>6.5%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3048000"/>
              <a:ext cx="38100" cy="476250"/>
            </a:xfrm>
            <a:prstGeom prst="rect">
              <a:avLst/>
            </a:prstGeom>
            <a:solidFill>
              <a:srgbClr val="2196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91540" y="307752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平均客单价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8205" y="3202305"/>
              <a:ext cx="8584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196F3"/>
                  </a:solidFill>
                  <a:latin typeface="Segoe UI"/>
                  <a:ea typeface="Microsoft YaHei"/>
                  <a:cs typeface="Segoe UI"/>
                </a:rPr>
                <a:t>¥125K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000" y="3762375"/>
              <a:ext cx="38100" cy="476250"/>
            </a:xfrm>
            <a:prstGeom prst="rect">
              <a:avLst/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91540" y="37919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总成交额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8205" y="3916680"/>
              <a:ext cx="10999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¥81.3M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4476750"/>
              <a:ext cx="38100" cy="476250"/>
            </a:xfrm>
            <a:prstGeom prst="rect">
              <a:avLst/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91540" y="45062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平均周期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8205" y="4631055"/>
              <a:ext cx="72962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9C27B0"/>
                  </a:solidFill>
                  <a:latin typeface="Segoe UI"/>
                  <a:ea typeface="Microsoft YaHei"/>
                  <a:cs typeface="Segoe UI"/>
                </a:rPr>
                <a:t>42天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048000" y="5810250"/>
            <a:ext cx="8382000" cy="571500"/>
            <a:chOff x="3048000" y="5810250"/>
            <a:chExt cx="8382000" cy="571500"/>
          </a:xfrm>
        </p:grpSpPr>
        <p:sp>
          <p:nvSpPr>
            <p:cNvPr id="43" name="Rectangle 43"/>
            <p:cNvSpPr/>
            <p:nvPr/>
          </p:nvSpPr>
          <p:spPr>
            <a:xfrm>
              <a:off x="3048000" y="5810250"/>
              <a:ext cx="8382000" cy="57150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F5A623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223260" y="5918835"/>
              <a:ext cx="10242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💡 关键发现: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24338" y="5926931"/>
              <a:ext cx="54096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意向客户到商务洽谈阶段转化率偏低(40%)，建议加强跟进频率和提案质量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224212" y="6117431"/>
              <a:ext cx="5080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与商务洽谈到成交的转化率(36%)，需优化报价策略和商务条款灵活性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58165" y="6506528"/>
            <a:ext cx="16675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5A5A6"/>
                </a:solidFill>
                <a:latin typeface="Segoe UI"/>
                <a:ea typeface="Microsoft YaHei"/>
                <a:cs typeface="Segoe UI"/>
              </a:rPr>
              <a:t>数据来源: CRM系统统计</a:t>
            </a:r>
          </a:p>
        </p:txBody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2909526" y="217170"/>
            <a:ext cx="637294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2C3E50"/>
                </a:solidFill>
                <a:latin typeface="Segoe UI"/>
                <a:ea typeface="Microsoft YaHei"/>
                <a:cs typeface="Segoe UI"/>
              </a:rPr>
              <a:t>2025 Annual KPI Achievement Status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7691" y="663892"/>
            <a:ext cx="26566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F8C8D"/>
                </a:solidFill>
                <a:latin typeface="Segoe UI"/>
                <a:ea typeface="Microsoft YaHei"/>
                <a:cs typeface="Segoe UI"/>
              </a:rPr>
              <a:t>Target vs Actual - As of Q4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72500" y="950595"/>
            <a:ext cx="3973830" cy="182880"/>
            <a:chOff x="8572500" y="950595"/>
            <a:chExt cx="3973830" cy="182880"/>
          </a:xfrm>
        </p:grpSpPr>
        <p:sp>
          <p:nvSpPr>
            <p:cNvPr id="5" name="Rectangle 5"/>
            <p:cNvSpPr/>
            <p:nvPr/>
          </p:nvSpPr>
          <p:spPr>
            <a:xfrm>
              <a:off x="8572500" y="952500"/>
              <a:ext cx="190500" cy="114300"/>
            </a:xfrm>
            <a:prstGeom prst="rect">
              <a:avLst/>
            </a:prstGeom>
            <a:solidFill>
              <a:srgbClr val="FFCDD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27770" y="950595"/>
              <a:ext cx="8246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Fair (0-60%)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715500" y="952500"/>
              <a:ext cx="190500" cy="114300"/>
            </a:xfrm>
            <a:prstGeom prst="rect">
              <a:avLst/>
            </a:prstGeom>
            <a:solidFill>
              <a:srgbClr val="FFE08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70770" y="950595"/>
              <a:ext cx="9298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Good (60-80%)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953750" y="952500"/>
              <a:ext cx="190500" cy="114300"/>
            </a:xfrm>
            <a:prstGeom prst="rect">
              <a:avLst/>
            </a:prstGeom>
            <a:solidFill>
              <a:srgbClr val="C8E6C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09020" y="9505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Excellent (80-100%+)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4855" y="1476375"/>
            <a:ext cx="11083742" cy="571500"/>
            <a:chOff x="744855" y="1476375"/>
            <a:chExt cx="11083742" cy="571500"/>
          </a:xfrm>
        </p:grpSpPr>
        <p:sp>
          <p:nvSpPr>
            <p:cNvPr id="12" name="TextBox 12"/>
            <p:cNvSpPr txBox="1"/>
            <p:nvPr/>
          </p:nvSpPr>
          <p:spPr>
            <a:xfrm>
              <a:off x="744855" y="1521142"/>
              <a:ext cx="14110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Sales Revenue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1744028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Target: $100M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76500" y="1524000"/>
              <a:ext cx="8572500" cy="476250"/>
            </a:xfrm>
            <a:prstGeom prst="rect">
              <a:avLst/>
            </a:prstGeom>
            <a:gradFill>
              <a:gsLst>
                <a:gs pos="0">
                  <a:srgbClr val="FFEBEE"/>
                </a:gs>
                <a:gs pos="100000">
                  <a:srgbClr val="FFCDD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476500" y="1524000"/>
              <a:ext cx="6858000" cy="476250"/>
            </a:xfrm>
            <a:prstGeom prst="rect">
              <a:avLst/>
            </a:prstGeom>
            <a:gradFill>
              <a:gsLst>
                <a:gs pos="0">
                  <a:srgbClr val="FFF8E1"/>
                </a:gs>
                <a:gs pos="100000">
                  <a:srgbClr val="FFE08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476500" y="1524000"/>
              <a:ext cx="5143500" cy="476250"/>
            </a:xfrm>
            <a:prstGeom prst="rect">
              <a:avLst/>
            </a:prstGeom>
            <a:gradFill>
              <a:gsLst>
                <a:gs pos="0">
                  <a:srgbClr val="E8F5E9"/>
                </a:gs>
                <a:gs pos="100000">
                  <a:srgbClr val="C8E6C9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476500" y="1638300"/>
              <a:ext cx="7886700" cy="247650"/>
            </a:xfrm>
            <a:prstGeom prst="rect">
              <a:avLst/>
            </a:prstGeom>
            <a:gradFill>
              <a:gsLst>
                <a:gs pos="0">
                  <a:srgbClr val="388E3C"/>
                </a:gs>
                <a:gs pos="100000">
                  <a:srgbClr val="4CAF5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11049000" y="147637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38100">
              <a:solidFill>
                <a:srgbClr val="E74C3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462260" y="1680210"/>
              <a:ext cx="472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$92M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10950" y="164782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92%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44855" y="2428875"/>
            <a:ext cx="11083742" cy="571500"/>
            <a:chOff x="744855" y="2428875"/>
            <a:chExt cx="11083742" cy="571500"/>
          </a:xfrm>
        </p:grpSpPr>
        <p:sp>
          <p:nvSpPr>
            <p:cNvPr id="22" name="TextBox 22"/>
            <p:cNvSpPr txBox="1"/>
            <p:nvPr/>
          </p:nvSpPr>
          <p:spPr>
            <a:xfrm>
              <a:off x="744855" y="2473642"/>
              <a:ext cx="15455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New Customers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8665" y="2696528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Target: 500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476500" y="2476500"/>
              <a:ext cx="8572500" cy="476250"/>
            </a:xfrm>
            <a:prstGeom prst="rect">
              <a:avLst/>
            </a:prstGeom>
            <a:gradFill>
              <a:gsLst>
                <a:gs pos="0">
                  <a:srgbClr val="FFEBEE"/>
                </a:gs>
                <a:gs pos="100000">
                  <a:srgbClr val="FFCDD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476500" y="2476500"/>
              <a:ext cx="6858000" cy="476250"/>
            </a:xfrm>
            <a:prstGeom prst="rect">
              <a:avLst/>
            </a:prstGeom>
            <a:gradFill>
              <a:gsLst>
                <a:gs pos="0">
                  <a:srgbClr val="FFF8E1"/>
                </a:gs>
                <a:gs pos="100000">
                  <a:srgbClr val="FFE08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476500" y="2476500"/>
              <a:ext cx="5143500" cy="476250"/>
            </a:xfrm>
            <a:prstGeom prst="rect">
              <a:avLst/>
            </a:prstGeom>
            <a:gradFill>
              <a:gsLst>
                <a:gs pos="0">
                  <a:srgbClr val="E8F5E9"/>
                </a:gs>
                <a:gs pos="100000">
                  <a:srgbClr val="C8E6C9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476500" y="2590800"/>
              <a:ext cx="8315325" cy="247650"/>
            </a:xfrm>
            <a:prstGeom prst="rect">
              <a:avLst/>
            </a:prstGeom>
            <a:gradFill>
              <a:gsLst>
                <a:gs pos="0">
                  <a:srgbClr val="388E3C"/>
                </a:gs>
                <a:gs pos="100000">
                  <a:srgbClr val="4CAF5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11049000" y="242887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38100">
              <a:solidFill>
                <a:srgbClr val="E74C3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748010" y="2632710"/>
              <a:ext cx="3341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485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10950" y="260032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97%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44855" y="3381375"/>
            <a:ext cx="11083742" cy="571500"/>
            <a:chOff x="744855" y="3381375"/>
            <a:chExt cx="11083742" cy="571500"/>
          </a:xfrm>
        </p:grpSpPr>
        <p:sp>
          <p:nvSpPr>
            <p:cNvPr id="32" name="TextBox 32"/>
            <p:cNvSpPr txBox="1"/>
            <p:nvPr/>
          </p:nvSpPr>
          <p:spPr>
            <a:xfrm>
              <a:off x="744855" y="3426142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Customer Satisfaction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8665" y="3649028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Target: 90%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76500" y="3429000"/>
              <a:ext cx="8572500" cy="476250"/>
            </a:xfrm>
            <a:prstGeom prst="rect">
              <a:avLst/>
            </a:prstGeom>
            <a:gradFill>
              <a:gsLst>
                <a:gs pos="0">
                  <a:srgbClr val="FFEBEE"/>
                </a:gs>
                <a:gs pos="100000">
                  <a:srgbClr val="FFCDD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476500" y="3429000"/>
              <a:ext cx="6858000" cy="476250"/>
            </a:xfrm>
            <a:prstGeom prst="rect">
              <a:avLst/>
            </a:prstGeom>
            <a:gradFill>
              <a:gsLst>
                <a:gs pos="0">
                  <a:srgbClr val="FFF8E1"/>
                </a:gs>
                <a:gs pos="100000">
                  <a:srgbClr val="FFE08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476500" y="3429000"/>
              <a:ext cx="5143500" cy="476250"/>
            </a:xfrm>
            <a:prstGeom prst="rect">
              <a:avLst/>
            </a:prstGeom>
            <a:gradFill>
              <a:gsLst>
                <a:gs pos="0">
                  <a:srgbClr val="E8F5E9"/>
                </a:gs>
                <a:gs pos="100000">
                  <a:srgbClr val="C8E6C9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476500" y="3543300"/>
              <a:ext cx="8382000" cy="247650"/>
            </a:xfrm>
            <a:prstGeom prst="rect">
              <a:avLst/>
            </a:prstGeom>
            <a:gradFill>
              <a:gsLst>
                <a:gs pos="0">
                  <a:srgbClr val="388E3C"/>
                </a:gs>
                <a:gs pos="100000">
                  <a:srgbClr val="4CAF5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10191750" y="338137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38100">
              <a:solidFill>
                <a:srgbClr val="E74C3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748010" y="3585210"/>
              <a:ext cx="3341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88%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410950" y="355282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98%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44855" y="4333875"/>
            <a:ext cx="11083742" cy="571500"/>
            <a:chOff x="744855" y="4333875"/>
            <a:chExt cx="11083742" cy="571500"/>
          </a:xfrm>
        </p:grpSpPr>
        <p:sp>
          <p:nvSpPr>
            <p:cNvPr id="42" name="TextBox 42"/>
            <p:cNvSpPr txBox="1"/>
            <p:nvPr/>
          </p:nvSpPr>
          <p:spPr>
            <a:xfrm>
              <a:off x="744855" y="4378642"/>
              <a:ext cx="13903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Market Share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8665" y="4601528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Target: 25%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476500" y="4381500"/>
              <a:ext cx="8572500" cy="476250"/>
            </a:xfrm>
            <a:prstGeom prst="rect">
              <a:avLst/>
            </a:prstGeom>
            <a:gradFill>
              <a:gsLst>
                <a:gs pos="0">
                  <a:srgbClr val="FFEBEE"/>
                </a:gs>
                <a:gs pos="100000">
                  <a:srgbClr val="FFCDD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2476500" y="4381500"/>
              <a:ext cx="6858000" cy="476250"/>
            </a:xfrm>
            <a:prstGeom prst="rect">
              <a:avLst/>
            </a:prstGeom>
            <a:gradFill>
              <a:gsLst>
                <a:gs pos="0">
                  <a:srgbClr val="FFF8E1"/>
                </a:gs>
                <a:gs pos="100000">
                  <a:srgbClr val="FFE08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476500" y="4381500"/>
              <a:ext cx="5143500" cy="476250"/>
            </a:xfrm>
            <a:prstGeom prst="rect">
              <a:avLst/>
            </a:prstGeom>
            <a:gradFill>
              <a:gsLst>
                <a:gs pos="0">
                  <a:srgbClr val="E8F5E9"/>
                </a:gs>
                <a:gs pos="100000">
                  <a:srgbClr val="C8E6C9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2476500" y="4495800"/>
              <a:ext cx="6172200" cy="247650"/>
            </a:xfrm>
            <a:prstGeom prst="rect">
              <a:avLst/>
            </a:prstGeom>
            <a:gradFill>
              <a:gsLst>
                <a:gs pos="0">
                  <a:srgbClr val="F57C00"/>
                </a:gs>
                <a:gs pos="100000">
                  <a:srgbClr val="FF980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11049000" y="433387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38100">
              <a:solidFill>
                <a:srgbClr val="E74C3C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509635" y="4537710"/>
              <a:ext cx="2881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18%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410950" y="450532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800"/>
                  </a:solidFill>
                  <a:latin typeface="Segoe UI"/>
                  <a:ea typeface="Microsoft YaHei"/>
                  <a:cs typeface="Segoe UI"/>
                </a:rPr>
                <a:t>72%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44855" y="5286375"/>
            <a:ext cx="11095244" cy="571500"/>
            <a:chOff x="744855" y="5286375"/>
            <a:chExt cx="11095244" cy="571500"/>
          </a:xfrm>
        </p:grpSpPr>
        <p:sp>
          <p:nvSpPr>
            <p:cNvPr id="52" name="TextBox 52"/>
            <p:cNvSpPr txBox="1"/>
            <p:nvPr/>
          </p:nvSpPr>
          <p:spPr>
            <a:xfrm>
              <a:off x="744855" y="5331142"/>
              <a:ext cx="12971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Cost Control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8665" y="5554028"/>
              <a:ext cx="10311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Budget: $80M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476500" y="5334000"/>
              <a:ext cx="8572500" cy="476250"/>
            </a:xfrm>
            <a:prstGeom prst="rect">
              <a:avLst/>
            </a:prstGeom>
            <a:gradFill>
              <a:gsLst>
                <a:gs pos="0">
                  <a:srgbClr val="E8F5E9"/>
                </a:gs>
                <a:gs pos="100000">
                  <a:srgbClr val="C8E6C9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620000" y="5334000"/>
              <a:ext cx="3429000" cy="476250"/>
            </a:xfrm>
            <a:prstGeom prst="rect">
              <a:avLst/>
            </a:prstGeom>
            <a:gradFill>
              <a:gsLst>
                <a:gs pos="0">
                  <a:srgbClr val="FFF8E1"/>
                </a:gs>
                <a:gs pos="100000">
                  <a:srgbClr val="FFE08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334500" y="5334000"/>
              <a:ext cx="1714500" cy="476250"/>
            </a:xfrm>
            <a:prstGeom prst="rect">
              <a:avLst/>
            </a:prstGeom>
            <a:gradFill>
              <a:gsLst>
                <a:gs pos="0">
                  <a:srgbClr val="FFEBEE"/>
                </a:gs>
                <a:gs pos="100000">
                  <a:srgbClr val="FFCDD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2476500" y="5448300"/>
              <a:ext cx="8143875" cy="247650"/>
            </a:xfrm>
            <a:prstGeom prst="rect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7620000" y="528637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38100">
              <a:solidFill>
                <a:srgbClr val="4CAF5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462260" y="5490210"/>
              <a:ext cx="472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$95M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410950" y="5457825"/>
              <a:ext cx="4291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4C3C"/>
                  </a:solidFill>
                  <a:latin typeface="Segoe UI"/>
                  <a:ea typeface="Microsoft YaHei"/>
                  <a:cs typeface="Segoe UI"/>
                </a:rPr>
                <a:t>119%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6000750"/>
            <a:ext cx="10668000" cy="571500"/>
            <a:chOff x="762000" y="6000750"/>
            <a:chExt cx="10668000" cy="571500"/>
          </a:xfrm>
        </p:grpSpPr>
        <p:sp>
          <p:nvSpPr>
            <p:cNvPr id="62" name="Rectangle 62"/>
            <p:cNvSpPr/>
            <p:nvPr/>
          </p:nvSpPr>
          <p:spPr>
            <a:xfrm>
              <a:off x="762000" y="6000750"/>
              <a:ext cx="10668000" cy="571500"/>
            </a:xfrm>
            <a:prstGeom prst="rect">
              <a:avLst/>
            </a:prstGeom>
            <a:solidFill>
              <a:srgbClr val="E3F2FD"/>
            </a:solidFill>
            <a:ln w="19050">
              <a:solidFill>
                <a:srgbClr val="2196F3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37260" y="6109335"/>
              <a:ext cx="9137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Segoe UI"/>
                  <a:ea typeface="Microsoft YaHei"/>
                  <a:cs typeface="Segoe UI"/>
                </a:rPr>
                <a:t>Summary: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890712" y="6117431"/>
              <a:ext cx="82521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Segoe UI"/>
                  <a:ea typeface="Microsoft YaHei"/>
                  <a:cs typeface="Segoe UI"/>
                </a:rPr>
                <a:t>3 KPIs exceeded targets. Market share growth needs strengthening. Cost control requires attention.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39165" y="6344602"/>
              <a:ext cx="7395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Segoe UI"/>
                  <a:ea typeface="Microsoft YaHei"/>
                  <a:cs typeface="Segoe UI"/>
                </a:rPr>
                <a:t>Recommendation: Prioritize cutting non-core project expenses while increasing marketing budget.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58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88688" y="2566035"/>
            <a:ext cx="201462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9511" y="3234690"/>
            <a:ext cx="32529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5D6D7E"/>
                </a:solidFill>
                <a:latin typeface="Arial"/>
                <a:ea typeface="Microsoft YaHei"/>
                <a:cs typeface="Arial"/>
              </a:rPr>
              <a:t>AI客服产业深度分析 ·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934658" y="3854768"/>
            <a:ext cx="4322683" cy="845820"/>
            <a:chOff x="3934658" y="3854768"/>
            <a:chExt cx="4322683" cy="845820"/>
          </a:xfrm>
        </p:grpSpPr>
        <p:sp>
          <p:nvSpPr>
            <p:cNvPr id="6" name="TextBox 6"/>
            <p:cNvSpPr txBox="1"/>
            <p:nvPr/>
          </p:nvSpPr>
          <p:spPr>
            <a:xfrm>
              <a:off x="4319135" y="3854768"/>
              <a:ext cx="35537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市场已跨越早期采用阶段，进入务实期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220551" y="4140518"/>
              <a:ext cx="37508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人机协同成为主流，垂直深耕是突围之道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934658" y="4426268"/>
              <a:ext cx="43226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• ROI逻辑重构：体验提升 + 收入增长 + 成本优化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379720" y="539496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零壹 · AI智能助手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8165" y="63636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Page 16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10053" y="6363652"/>
            <a:ext cx="9237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