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905000"/>
          </a:xfrm>
          <a:prstGeom prst="rect">
            <a:avLst/>
          </a:prstGeom>
          <a:gradFill>
            <a:gsLst>
              <a:gs pos="0">
                <a:srgbClr val="2932E1"/>
              </a:gs>
              <a:gs pos="100000">
                <a:srgbClr val="5C67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111627" y="612458"/>
            <a:ext cx="596874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百度智能云 2025 年财报分析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71940" y="1235392"/>
            <a:ext cx="3248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0E0FF"/>
                </a:solidFill>
                <a:latin typeface="Arial"/>
                <a:ea typeface="Microsoft YaHei"/>
                <a:cs typeface="Arial"/>
              </a:rPr>
              <a:t>AI 云兑现元年 · 全栈能力规模化落地</a:t>
            </a:r>
          </a:p>
        </p:txBody>
      </p:sp>
      <p:sp>
        <p:nvSpPr>
          <p:cNvPr id="6" name="Freeform 6"/>
          <p:cNvSpPr/>
          <p:nvPr/>
        </p:nvSpPr>
        <p:spPr>
          <a:xfrm>
            <a:off x="3238500" y="266700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76200" y="0"/>
                </a:moveTo>
                <a:lnTo>
                  <a:pt x="5638800" y="0"/>
                </a:lnTo>
                <a:cubicBezTo>
                  <a:pt x="5680884" y="0"/>
                  <a:pt x="5715000" y="34116"/>
                  <a:pt x="5715000" y="76200"/>
                </a:cubicBezTo>
                <a:lnTo>
                  <a:pt x="5715000" y="685800"/>
                </a:lnTo>
                <a:cubicBezTo>
                  <a:pt x="5715000" y="727884"/>
                  <a:pt x="5680884" y="762000"/>
                  <a:pt x="5638800" y="762000"/>
                </a:cubicBezTo>
                <a:lnTo>
                  <a:pt x="76200" y="762000"/>
                </a:lnTo>
                <a:cubicBezTo>
                  <a:pt x="34116" y="762000"/>
                  <a:pt x="0" y="727884"/>
                  <a:pt x="0" y="68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755541" y="2887028"/>
            <a:ext cx="4680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数据基准：百度集团 2026 年 2 月 26 日发布 2025 年 Q4 及全年财报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07289" y="3125152"/>
            <a:ext cx="33774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财年周期：2025 年 1 月 1 日 — 2025 年 12 月 31 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3301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 年 4 月 · 内部汇报材料 | 1 / 14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407670"/>
            <a:ext cx="32156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数据基准与财年周期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1905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238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40105" y="1473518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📊 数据基准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3915" y="1886902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百度集团 2026 年 2 月 26 日发布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3915" y="2125028"/>
            <a:ext cx="1751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2025 年 Q4 及全年财报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3915" y="2363152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电话会官方披露内容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3915" y="2601278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官方投资者关系材料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77000" y="1238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745605" y="1473518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📅 财年周期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47510" y="1965960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2025 年 1 月 1 日 → 2025 年 12 月 31 日</a:t>
            </a:r>
          </a:p>
        </p:txBody>
      </p:sp>
      <p:sp>
        <p:nvSpPr>
          <p:cNvPr id="14" name="Freeform 14"/>
          <p:cNvSpPr/>
          <p:nvPr/>
        </p:nvSpPr>
        <p:spPr>
          <a:xfrm>
            <a:off x="6762750" y="2286000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76200" y="0"/>
                </a:moveTo>
                <a:lnTo>
                  <a:pt x="4495800" y="0"/>
                </a:lnTo>
                <a:cubicBezTo>
                  <a:pt x="4537884" y="0"/>
                  <a:pt x="4572000" y="34116"/>
                  <a:pt x="4572000" y="76200"/>
                </a:cubicBezTo>
                <a:lnTo>
                  <a:pt x="4572000" y="495300"/>
                </a:lnTo>
                <a:cubicBezTo>
                  <a:pt x="4572000" y="537384"/>
                  <a:pt x="4537884" y="571500"/>
                  <a:pt x="4495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345329" y="2506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百度采用自然年财年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0070" y="63798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2 / 14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408651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整体业绩概览 · 核心财务指标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667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11049000" cy="428625"/>
          </a:xfrm>
          <a:custGeom>
            <a:avLst/>
            <a:gdLst/>
            <a:ahLst/>
            <a:cxnLst/>
            <a:rect l="l" t="t" r="r" b="b"/>
            <a:pathLst>
              <a:path w="11049000" h="42862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352425"/>
                </a:lnTo>
                <a:cubicBezTo>
                  <a:pt x="11049000" y="394509"/>
                  <a:pt x="11014884" y="428625"/>
                  <a:pt x="10972800" y="428625"/>
                </a:cubicBezTo>
                <a:lnTo>
                  <a:pt x="76200" y="428625"/>
                </a:lnTo>
                <a:cubicBezTo>
                  <a:pt x="34116" y="428625"/>
                  <a:pt x="0" y="394509"/>
                  <a:pt x="0" y="352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416368" y="13234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指标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97618" y="1323499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2025 全年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12118" y="1323499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2024 全年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26618" y="13234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同比变化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22118" y="13234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关键说明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619250"/>
            <a:ext cx="11049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16368" y="1799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智能云总收入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9045" y="1726882"/>
            <a:ext cx="43953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300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11165" y="17916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223.9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1855" y="175926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+34%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23070" y="1807845"/>
            <a:ext cx="9758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首次突破 300 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2143125"/>
            <a:ext cx="11049000" cy="4762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416368" y="2323624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— 智能云基础设施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2855" y="2283142"/>
            <a:ext cx="3103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198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11165" y="2315528"/>
            <a:ext cx="2413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148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23760" y="2299335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+34%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23070" y="2331720"/>
            <a:ext cx="11072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 算力/存储/网络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667000"/>
            <a:ext cx="11049000" cy="47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16368" y="28474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— AI 应用与服务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92855" y="2807018"/>
            <a:ext cx="3103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11165" y="28394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75.9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23760" y="2823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+34%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23070" y="2855595"/>
            <a:ext cx="8641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MaaS、大模型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3190875"/>
            <a:ext cx="11049000" cy="476250"/>
          </a:xfrm>
          <a:prstGeom prst="rect">
            <a:avLst/>
          </a:prstGeom>
          <a:solidFill>
            <a:srgbClr val="FEF9E7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416368" y="3371374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AI 云全栈市占率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89045" y="3298508"/>
            <a:ext cx="704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40.2%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11165" y="3363278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23760" y="334708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领跑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23070" y="3379470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中国 AI 市场份额首位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0070" y="63798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3 / 14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34731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整体业绩概览 · 整体特征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667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5334000" cy="2476500"/>
          </a:xfrm>
          <a:custGeom>
            <a:avLst/>
            <a:gdLst/>
            <a:ahLst/>
            <a:cxnLst/>
            <a:rect l="l" t="t" r="r" b="b"/>
            <a:pathLst>
              <a:path w="5334000" h="2476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2362200"/>
                </a:lnTo>
                <a:cubicBezTo>
                  <a:pt x="5334000" y="2425326"/>
                  <a:pt x="5282826" y="2476500"/>
                  <a:pt x="521970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644640" y="1311592"/>
            <a:ext cx="11877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📈 增长韧性强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165" y="1791652"/>
            <a:ext cx="20585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在百度总营收同比 -3% 背景下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92432" y="2136458"/>
            <a:ext cx="109213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+34%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88431" y="269652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智能云逆势高增</a:t>
            </a:r>
          </a:p>
        </p:txBody>
      </p:sp>
      <p:sp>
        <p:nvSpPr>
          <p:cNvPr id="11" name="Freeform 11"/>
          <p:cNvSpPr/>
          <p:nvPr/>
        </p:nvSpPr>
        <p:spPr>
          <a:xfrm>
            <a:off x="6286500" y="1143000"/>
            <a:ext cx="5334000" cy="2476500"/>
          </a:xfrm>
          <a:custGeom>
            <a:avLst/>
            <a:gdLst/>
            <a:ahLst/>
            <a:cxnLst/>
            <a:rect l="l" t="t" r="r" b="b"/>
            <a:pathLst>
              <a:path w="5334000" h="2476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2362200"/>
                </a:lnTo>
                <a:cubicBezTo>
                  <a:pt x="5334000" y="2425326"/>
                  <a:pt x="5282826" y="2476500"/>
                  <a:pt x="5219700" y="2476500"/>
                </a:cubicBezTo>
                <a:lnTo>
                  <a:pt x="114300" y="2476500"/>
                </a:lnTo>
                <a:cubicBezTo>
                  <a:pt x="51174" y="2476500"/>
                  <a:pt x="0" y="2425326"/>
                  <a:pt x="0" y="2362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6286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344852" y="1311592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⚡ AI 算力爆发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54165" y="1791652"/>
            <a:ext cx="18745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AI 高性能计算订阅 Q4 同比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38423" y="2136458"/>
            <a:ext cx="123015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dirty="0">
                <a:solidFill>
                  <a:srgbClr val="E74C3C"/>
                </a:solidFill>
                <a:latin typeface="Arial Black"/>
                <a:ea typeface="Microsoft YaHei"/>
                <a:cs typeface="Arial Black"/>
              </a:rPr>
              <a:t>+143%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56784" y="26965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核心增长极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3905250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981200"/>
                </a:lnTo>
                <a:cubicBezTo>
                  <a:pt x="5334000" y="2044326"/>
                  <a:pt x="5282826" y="2095500"/>
                  <a:pt x="52197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571500" y="39052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2689003" y="4073842"/>
            <a:ext cx="10989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🏗️ 全栈壁垒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0014" y="4514374"/>
            <a:ext cx="37769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昆仑芯 → 天池智算 → 千帆 MaaS → 文心大模型 → 行业 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98921" y="4847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完整闭环落地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76019" y="5236845"/>
            <a:ext cx="31249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自研芯片 | 智算平台 | 模型服务 | 大模型 | 智能体应用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3905250"/>
            <a:ext cx="5334000" cy="2095500"/>
          </a:xfrm>
          <a:custGeom>
            <a:avLst/>
            <a:gdLst/>
            <a:ahLst/>
            <a:cxnLst/>
            <a:rect l="l" t="t" r="r" b="b"/>
            <a:pathLst>
              <a:path w="5334000" h="2095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981200"/>
                </a:lnTo>
                <a:cubicBezTo>
                  <a:pt x="5334000" y="2044326"/>
                  <a:pt x="5282826" y="2095500"/>
                  <a:pt x="52197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286500" y="39052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DEDE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458224" y="4073842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74C3C"/>
                </a:solidFill>
                <a:latin typeface="Arial Black"/>
                <a:ea typeface="Microsoft YaHei"/>
                <a:cs typeface="Arial Black"/>
              </a:rPr>
              <a:t>💰 盈利阶段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751683" y="4553902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2025 年仍处高投入期，整体未盈利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52088" y="4942999"/>
            <a:ext cx="24028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 算力/高毛利 MaaS 利润率持续改善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0070" y="63798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4 / 14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37798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分季度表现 · 季度核心数据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667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5524500" cy="3619500"/>
          </a:xfrm>
          <a:custGeom>
            <a:avLst/>
            <a:gdLst/>
            <a:ahLst/>
            <a:cxnLst/>
            <a:rect l="l" t="t" r="r" b="b"/>
            <a:pathLst>
              <a:path w="5524500" h="36195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3543300"/>
                </a:lnTo>
                <a:cubicBezTo>
                  <a:pt x="5524500" y="3585384"/>
                  <a:pt x="5490384" y="3619500"/>
                  <a:pt x="5448300" y="3619500"/>
                </a:cubicBezTo>
                <a:lnTo>
                  <a:pt x="76200" y="3619500"/>
                </a:lnTo>
                <a:cubicBezTo>
                  <a:pt x="34116" y="3619500"/>
                  <a:pt x="0" y="3585384"/>
                  <a:pt x="0" y="3543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5524500" cy="381000"/>
          </a:xfrm>
          <a:custGeom>
            <a:avLst/>
            <a:gdLst/>
            <a:ahLst/>
            <a:cxnLst/>
            <a:rect l="l" t="t" r="r" b="b"/>
            <a:pathLst>
              <a:path w="5524500" h="381000">
                <a:moveTo>
                  <a:pt x="76200" y="0"/>
                </a:moveTo>
                <a:lnTo>
                  <a:pt x="5448300" y="0"/>
                </a:lnTo>
                <a:cubicBezTo>
                  <a:pt x="5490384" y="0"/>
                  <a:pt x="5524500" y="34116"/>
                  <a:pt x="5524500" y="76200"/>
                </a:cubicBezTo>
                <a:lnTo>
                  <a:pt x="5524500" y="304800"/>
                </a:lnTo>
                <a:cubicBezTo>
                  <a:pt x="5524500" y="346884"/>
                  <a:pt x="5490384" y="381000"/>
                  <a:pt x="54483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5820" y="130302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季度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93570" y="1303020"/>
            <a:ext cx="6012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收入 (亿)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6570" y="130302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同比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84320" y="1303020"/>
            <a:ext cx="6998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算力订阅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1571625"/>
            <a:ext cx="55245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010" y="1775460"/>
            <a:ext cx="2145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Q1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9760" y="1775460"/>
            <a:ext cx="3196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~65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32760" y="17754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+28%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82415" y="17916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+95%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095500"/>
            <a:ext cx="5524500" cy="523875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42010" y="2299335"/>
            <a:ext cx="2583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Q2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89760" y="2299335"/>
            <a:ext cx="3196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~70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32760" y="2299335"/>
            <a:ext cx="372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+31%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82415" y="2315528"/>
            <a:ext cx="3717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+112%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619375"/>
            <a:ext cx="55245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2010" y="2823210"/>
            <a:ext cx="2583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Q3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89760" y="2823210"/>
            <a:ext cx="3196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~77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32760" y="282321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+32%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82415" y="283940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+128%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143250"/>
            <a:ext cx="5524500" cy="523875"/>
          </a:xfrm>
          <a:prstGeom prst="rect">
            <a:avLst/>
          </a:prstGeom>
          <a:solidFill>
            <a:srgbClr val="FEF9E7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42010" y="3347085"/>
            <a:ext cx="2583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Q4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89760" y="3347085"/>
            <a:ext cx="2232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88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32760" y="3347085"/>
            <a:ext cx="3722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+41%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82415" y="3363278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+143%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3714750"/>
            <a:ext cx="5524500" cy="476250"/>
          </a:xfrm>
          <a:prstGeom prst="rect">
            <a:avLst/>
          </a:prstGeom>
          <a:solidFill>
            <a:srgbClr val="E8F6F3"/>
          </a:solidFill>
          <a:ln w="19050">
            <a:solidFill>
              <a:srgbClr val="1ABC9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43915" y="39062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全年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85950" y="3857625"/>
            <a:ext cx="3995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300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30855" y="3873818"/>
            <a:ext cx="468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+34%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84320" y="3922395"/>
            <a:ext cx="8443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首次破 300 亿</a:t>
            </a:r>
          </a:p>
        </p:txBody>
      </p:sp>
      <p:sp>
        <p:nvSpPr>
          <p:cNvPr id="36" name="Freeform 36"/>
          <p:cNvSpPr/>
          <p:nvPr/>
        </p:nvSpPr>
        <p:spPr>
          <a:xfrm>
            <a:off x="6477000" y="1143000"/>
            <a:ext cx="5143500" cy="3619500"/>
          </a:xfrm>
          <a:custGeom>
            <a:avLst/>
            <a:gdLst/>
            <a:ahLst/>
            <a:cxnLst/>
            <a:rect l="l" t="t" r="r" b="b"/>
            <a:pathLst>
              <a:path w="5143500" h="36195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3543300"/>
                </a:lnTo>
                <a:cubicBezTo>
                  <a:pt x="5143500" y="3585384"/>
                  <a:pt x="5109384" y="3619500"/>
                  <a:pt x="5067300" y="3619500"/>
                </a:cubicBezTo>
                <a:lnTo>
                  <a:pt x="76200" y="3619500"/>
                </a:lnTo>
                <a:cubicBezTo>
                  <a:pt x="34116" y="3619500"/>
                  <a:pt x="0" y="3585384"/>
                  <a:pt x="0" y="3543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268652" y="13154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季度收入趋势（亿元）</a:t>
            </a:r>
          </a:p>
        </p:txBody>
      </p:sp>
      <p:sp>
        <p:nvSpPr>
          <p:cNvPr id="38" name="Freeform 38"/>
          <p:cNvSpPr/>
          <p:nvPr/>
        </p:nvSpPr>
        <p:spPr>
          <a:xfrm>
            <a:off x="7048500" y="1714500"/>
            <a:ext cx="666750" cy="1524000"/>
          </a:xfrm>
          <a:custGeom>
            <a:avLst/>
            <a:gdLst/>
            <a:ahLst/>
            <a:cxnLst/>
            <a:rect l="l" t="t" r="r" b="b"/>
            <a:pathLst>
              <a:path w="666750" h="152400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1485900"/>
                </a:lnTo>
                <a:cubicBezTo>
                  <a:pt x="666750" y="1506942"/>
                  <a:pt x="649692" y="1524000"/>
                  <a:pt x="628650" y="1524000"/>
                </a:cubicBezTo>
                <a:lnTo>
                  <a:pt x="38100" y="1524000"/>
                </a:lnTo>
                <a:cubicBezTo>
                  <a:pt x="17058" y="1524000"/>
                  <a:pt x="0" y="1506942"/>
                  <a:pt x="0" y="1485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5C67FF">
              <a:alpha val="60000"/>
            </a:srgbClr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301436" y="3284220"/>
            <a:ext cx="160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05127" y="1720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41" name="Freeform 41"/>
          <p:cNvSpPr/>
          <p:nvPr/>
        </p:nvSpPr>
        <p:spPr>
          <a:xfrm>
            <a:off x="7905750" y="1714500"/>
            <a:ext cx="666750" cy="1714500"/>
          </a:xfrm>
          <a:custGeom>
            <a:avLst/>
            <a:gdLst/>
            <a:ahLst/>
            <a:cxnLst/>
            <a:rect l="l" t="t" r="r" b="b"/>
            <a:pathLst>
              <a:path w="666750" h="171450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1676400"/>
                </a:lnTo>
                <a:cubicBezTo>
                  <a:pt x="666750" y="1697442"/>
                  <a:pt x="649692" y="1714500"/>
                  <a:pt x="628650" y="1714500"/>
                </a:cubicBezTo>
                <a:lnTo>
                  <a:pt x="38100" y="1714500"/>
                </a:lnTo>
                <a:cubicBezTo>
                  <a:pt x="17058" y="1714500"/>
                  <a:pt x="0" y="1697442"/>
                  <a:pt x="0" y="1676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5C67FF">
              <a:alpha val="7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142256" y="3284220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62377" y="1720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70</a:t>
            </a:r>
          </a:p>
        </p:txBody>
      </p:sp>
      <p:sp>
        <p:nvSpPr>
          <p:cNvPr id="44" name="Freeform 44"/>
          <p:cNvSpPr/>
          <p:nvPr/>
        </p:nvSpPr>
        <p:spPr>
          <a:xfrm>
            <a:off x="8763000" y="1714500"/>
            <a:ext cx="666750" cy="1905000"/>
          </a:xfrm>
          <a:custGeom>
            <a:avLst/>
            <a:gdLst/>
            <a:ahLst/>
            <a:cxnLst/>
            <a:rect l="l" t="t" r="r" b="b"/>
            <a:pathLst>
              <a:path w="666750" h="190500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1866900"/>
                </a:lnTo>
                <a:cubicBezTo>
                  <a:pt x="666750" y="1887942"/>
                  <a:pt x="649692" y="1905000"/>
                  <a:pt x="628650" y="1905000"/>
                </a:cubicBezTo>
                <a:lnTo>
                  <a:pt x="38100" y="1905000"/>
                </a:lnTo>
                <a:cubicBezTo>
                  <a:pt x="17058" y="1905000"/>
                  <a:pt x="0" y="1887942"/>
                  <a:pt x="0" y="1866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5C67FF">
              <a:alpha val="8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8999506" y="3284220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019627" y="1720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77</a:t>
            </a:r>
          </a:p>
        </p:txBody>
      </p:sp>
      <p:sp>
        <p:nvSpPr>
          <p:cNvPr id="47" name="Freeform 47"/>
          <p:cNvSpPr/>
          <p:nvPr/>
        </p:nvSpPr>
        <p:spPr>
          <a:xfrm>
            <a:off x="9620250" y="1714500"/>
            <a:ext cx="666750" cy="2286000"/>
          </a:xfrm>
          <a:custGeom>
            <a:avLst/>
            <a:gdLst/>
            <a:ahLst/>
            <a:cxnLst/>
            <a:rect l="l" t="t" r="r" b="b"/>
            <a:pathLst>
              <a:path w="666750" h="228600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2247900"/>
                </a:lnTo>
                <a:cubicBezTo>
                  <a:pt x="666750" y="2268942"/>
                  <a:pt x="649692" y="2286000"/>
                  <a:pt x="628650" y="2286000"/>
                </a:cubicBezTo>
                <a:lnTo>
                  <a:pt x="38100" y="2286000"/>
                </a:lnTo>
                <a:cubicBezTo>
                  <a:pt x="17058" y="2286000"/>
                  <a:pt x="0" y="2268942"/>
                  <a:pt x="0" y="2247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856756" y="3284220"/>
            <a:ext cx="1937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876877" y="172069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88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0070" y="63798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5 / 14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37798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分季度表现 · 季度趋势分析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667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11049000" cy="1428750"/>
          </a:xfrm>
          <a:custGeom>
            <a:avLst/>
            <a:gdLst/>
            <a:ahLst/>
            <a:cxnLst/>
            <a:rect l="l" t="t" r="r" b="b"/>
            <a:pathLst>
              <a:path w="11049000" h="14287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314450"/>
                </a:lnTo>
                <a:cubicBezTo>
                  <a:pt x="11049000" y="1377576"/>
                  <a:pt x="10997826" y="1428750"/>
                  <a:pt x="10934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361950"/>
                </a:lnTo>
                <a:cubicBezTo>
                  <a:pt x="11049000" y="425076"/>
                  <a:pt x="10997826" y="476250"/>
                  <a:pt x="1093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42010" y="1327785"/>
            <a:ext cx="13799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1️⃣ 增速逐季抬升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3915" y="1744028"/>
            <a:ext cx="4174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Q1(28%) → Q2(31%) → Q3(32%) → Q4(41%)，AI 需求加速释放</a:t>
            </a:r>
          </a:p>
        </p:txBody>
      </p:sp>
      <p:sp>
        <p:nvSpPr>
          <p:cNvPr id="9" name="Freeform 9"/>
          <p:cNvSpPr/>
          <p:nvPr/>
        </p:nvSpPr>
        <p:spPr>
          <a:xfrm>
            <a:off x="7620000" y="1333500"/>
            <a:ext cx="666750" cy="952500"/>
          </a:xfrm>
          <a:custGeom>
            <a:avLst/>
            <a:gdLst/>
            <a:ahLst/>
            <a:cxnLst/>
            <a:rect l="l" t="t" r="r" b="b"/>
            <a:pathLst>
              <a:path w="666750" h="95250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914400"/>
                </a:lnTo>
                <a:cubicBezTo>
                  <a:pt x="666750" y="935442"/>
                  <a:pt x="649692" y="952500"/>
                  <a:pt x="628650" y="952500"/>
                </a:cubicBezTo>
                <a:lnTo>
                  <a:pt x="38100" y="952500"/>
                </a:lnTo>
                <a:cubicBezTo>
                  <a:pt x="17058" y="952500"/>
                  <a:pt x="0" y="935442"/>
                  <a:pt x="0" y="9144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7DC6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843492" y="21016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28%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86343" y="2300288"/>
            <a:ext cx="134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Q1</a:t>
            </a:r>
          </a:p>
        </p:txBody>
      </p:sp>
      <p:sp>
        <p:nvSpPr>
          <p:cNvPr id="12" name="Freeform 12"/>
          <p:cNvSpPr/>
          <p:nvPr/>
        </p:nvSpPr>
        <p:spPr>
          <a:xfrm>
            <a:off x="8382000" y="1333500"/>
            <a:ext cx="666750" cy="1047750"/>
          </a:xfrm>
          <a:custGeom>
            <a:avLst/>
            <a:gdLst/>
            <a:ahLst/>
            <a:cxnLst/>
            <a:rect l="l" t="t" r="r" b="b"/>
            <a:pathLst>
              <a:path w="666750" h="1047750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1009650"/>
                </a:lnTo>
                <a:cubicBezTo>
                  <a:pt x="666750" y="1030692"/>
                  <a:pt x="649692" y="1047750"/>
                  <a:pt x="628650" y="1047750"/>
                </a:cubicBezTo>
                <a:lnTo>
                  <a:pt x="38100" y="1047750"/>
                </a:lnTo>
                <a:cubicBezTo>
                  <a:pt x="17058" y="1047750"/>
                  <a:pt x="0" y="1030692"/>
                  <a:pt x="0" y="1009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B04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620554" y="2101691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31%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34651" y="2300288"/>
            <a:ext cx="1614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Q2</a:t>
            </a:r>
          </a:p>
        </p:txBody>
      </p:sp>
      <p:sp>
        <p:nvSpPr>
          <p:cNvPr id="15" name="Freeform 15"/>
          <p:cNvSpPr/>
          <p:nvPr/>
        </p:nvSpPr>
        <p:spPr>
          <a:xfrm>
            <a:off x="9144000" y="1333500"/>
            <a:ext cx="666750" cy="1095375"/>
          </a:xfrm>
          <a:custGeom>
            <a:avLst/>
            <a:gdLst/>
            <a:ahLst/>
            <a:cxnLst/>
            <a:rect l="l" t="t" r="r" b="b"/>
            <a:pathLst>
              <a:path w="666750" h="1095375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1057275"/>
                </a:lnTo>
                <a:cubicBezTo>
                  <a:pt x="666750" y="1078317"/>
                  <a:pt x="649692" y="1095375"/>
                  <a:pt x="628650" y="1095375"/>
                </a:cubicBezTo>
                <a:lnTo>
                  <a:pt x="38100" y="1095375"/>
                </a:lnTo>
                <a:cubicBezTo>
                  <a:pt x="17058" y="1095375"/>
                  <a:pt x="0" y="1078317"/>
                  <a:pt x="0" y="1057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39C1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67492" y="210169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32%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6651" y="2300288"/>
            <a:ext cx="1614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Q3</a:t>
            </a:r>
          </a:p>
        </p:txBody>
      </p:sp>
      <p:sp>
        <p:nvSpPr>
          <p:cNvPr id="18" name="Freeform 18"/>
          <p:cNvSpPr/>
          <p:nvPr/>
        </p:nvSpPr>
        <p:spPr>
          <a:xfrm>
            <a:off x="9906000" y="1333500"/>
            <a:ext cx="666750" cy="1285875"/>
          </a:xfrm>
          <a:custGeom>
            <a:avLst/>
            <a:gdLst/>
            <a:ahLst/>
            <a:cxnLst/>
            <a:rect l="l" t="t" r="r" b="b"/>
            <a:pathLst>
              <a:path w="666750" h="1285875">
                <a:moveTo>
                  <a:pt x="38100" y="0"/>
                </a:moveTo>
                <a:lnTo>
                  <a:pt x="628650" y="0"/>
                </a:lnTo>
                <a:cubicBezTo>
                  <a:pt x="649692" y="0"/>
                  <a:pt x="666750" y="17058"/>
                  <a:pt x="666750" y="38100"/>
                </a:cubicBezTo>
                <a:lnTo>
                  <a:pt x="666750" y="1247775"/>
                </a:lnTo>
                <a:cubicBezTo>
                  <a:pt x="666750" y="1268817"/>
                  <a:pt x="649692" y="1285875"/>
                  <a:pt x="628650" y="1285875"/>
                </a:cubicBezTo>
                <a:lnTo>
                  <a:pt x="38100" y="1285875"/>
                </a:lnTo>
                <a:cubicBezTo>
                  <a:pt x="17058" y="1285875"/>
                  <a:pt x="0" y="1268817"/>
                  <a:pt x="0" y="12477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144554" y="2101691"/>
            <a:ext cx="18964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41%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58651" y="2300288"/>
            <a:ext cx="16144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Q4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809875"/>
            <a:ext cx="11049000" cy="1428750"/>
          </a:xfrm>
          <a:custGeom>
            <a:avLst/>
            <a:gdLst/>
            <a:ahLst/>
            <a:cxnLst/>
            <a:rect l="l" t="t" r="r" b="b"/>
            <a:pathLst>
              <a:path w="11049000" h="14287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314450"/>
                </a:lnTo>
                <a:cubicBezTo>
                  <a:pt x="11049000" y="1377576"/>
                  <a:pt x="10997826" y="1428750"/>
                  <a:pt x="10934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571500" y="2809875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361950"/>
                </a:lnTo>
                <a:cubicBezTo>
                  <a:pt x="11049000" y="425076"/>
                  <a:pt x="10997826" y="476250"/>
                  <a:pt x="1093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42010" y="2994660"/>
            <a:ext cx="10031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2️⃣ Q4 拐点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3915" y="3410902"/>
            <a:ext cx="53940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单季收入</a:t>
            </a:r>
            <a:r>
              <a:rPr lang="zh-CN" sz="1200" b="1" dirty="0">
                <a:solidFill>
                  <a:srgbClr val="2932E1"/>
                </a:solidFill>
                <a:latin typeface="Arial"/>
                <a:ea typeface="Microsoft YaHei"/>
                <a:cs typeface="Arial"/>
              </a:rPr>
              <a:t>88 亿</a:t>
            </a:r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（占全年 29%），算力订阅</a:t>
            </a:r>
            <a:r>
              <a:rPr lang="zh-CN" sz="120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+143%</a:t>
            </a:r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增速，企业从试点 → 规模化采购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4476750"/>
            <a:ext cx="11049000" cy="1428750"/>
          </a:xfrm>
          <a:custGeom>
            <a:avLst/>
            <a:gdLst/>
            <a:ahLst/>
            <a:cxnLst/>
            <a:rect l="l" t="t" r="r" b="b"/>
            <a:pathLst>
              <a:path w="11049000" h="14287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314450"/>
                </a:lnTo>
                <a:cubicBezTo>
                  <a:pt x="11049000" y="1377576"/>
                  <a:pt x="10997826" y="1428750"/>
                  <a:pt x="10934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571500" y="447675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361950"/>
                </a:lnTo>
                <a:cubicBezTo>
                  <a:pt x="11049000" y="425076"/>
                  <a:pt x="10997826" y="476250"/>
                  <a:pt x="1093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42010" y="4661535"/>
            <a:ext cx="10732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3️⃣ 结构优化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3915" y="5077778"/>
            <a:ext cx="530966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高毛利 MaaS/模型服务占比从 2024 年</a:t>
            </a:r>
            <a:r>
              <a:rPr lang="zh-CN" sz="1200" b="1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13%</a:t>
            </a:r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→ 2025 年</a:t>
            </a:r>
            <a:r>
              <a:rPr lang="zh-CN" sz="1200" b="1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22%</a:t>
            </a:r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，拉动整体毛利率提升</a:t>
            </a:r>
          </a:p>
        </p:txBody>
      </p:sp>
      <p:sp>
        <p:nvSpPr>
          <p:cNvPr id="29" name="Freeform 29"/>
          <p:cNvSpPr/>
          <p:nvPr/>
        </p:nvSpPr>
        <p:spPr>
          <a:xfrm>
            <a:off x="8572500" y="4905375"/>
            <a:ext cx="1714500" cy="171450"/>
          </a:xfrm>
          <a:custGeom>
            <a:avLst/>
            <a:gdLst/>
            <a:ahLst/>
            <a:cxnLst/>
            <a:rect l="l" t="t" r="r" b="b"/>
            <a:pathLst>
              <a:path w="1714500" h="171450">
                <a:moveTo>
                  <a:pt x="85725" y="0"/>
                </a:moveTo>
                <a:lnTo>
                  <a:pt x="1628775" y="0"/>
                </a:lnTo>
                <a:cubicBezTo>
                  <a:pt x="1676120" y="0"/>
                  <a:pt x="1714500" y="38380"/>
                  <a:pt x="1714500" y="85725"/>
                </a:cubicBezTo>
                <a:lnTo>
                  <a:pt x="1714500" y="85725"/>
                </a:lnTo>
                <a:cubicBezTo>
                  <a:pt x="1714500" y="133070"/>
                  <a:pt x="1676120" y="171450"/>
                  <a:pt x="1628775" y="171450"/>
                </a:cubicBezTo>
                <a:lnTo>
                  <a:pt x="85725" y="171450"/>
                </a:lnTo>
                <a:cubicBezTo>
                  <a:pt x="38380" y="171450"/>
                  <a:pt x="0" y="133070"/>
                  <a:pt x="0" y="8572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>
            <a:srgbClr val="E8EAED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8572500" y="4905375"/>
            <a:ext cx="1114425" cy="171450"/>
          </a:xfrm>
          <a:custGeom>
            <a:avLst/>
            <a:gdLst/>
            <a:ahLst/>
            <a:cxnLst/>
            <a:rect l="l" t="t" r="r" b="b"/>
            <a:pathLst>
              <a:path w="1114425" h="171450">
                <a:moveTo>
                  <a:pt x="85725" y="0"/>
                </a:moveTo>
                <a:lnTo>
                  <a:pt x="1028700" y="0"/>
                </a:lnTo>
                <a:cubicBezTo>
                  <a:pt x="1076045" y="0"/>
                  <a:pt x="1114425" y="38380"/>
                  <a:pt x="1114425" y="85725"/>
                </a:cubicBezTo>
                <a:lnTo>
                  <a:pt x="1114425" y="85725"/>
                </a:lnTo>
                <a:cubicBezTo>
                  <a:pt x="1114425" y="133070"/>
                  <a:pt x="1076045" y="171450"/>
                  <a:pt x="1028700" y="171450"/>
                </a:cubicBezTo>
                <a:lnTo>
                  <a:pt x="85725" y="171450"/>
                </a:lnTo>
                <a:cubicBezTo>
                  <a:pt x="38380" y="171450"/>
                  <a:pt x="0" y="133070"/>
                  <a:pt x="0" y="8572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176504" y="4948238"/>
            <a:ext cx="5064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2024: 13%</a:t>
            </a:r>
          </a:p>
        </p:txBody>
      </p:sp>
      <p:sp>
        <p:nvSpPr>
          <p:cNvPr id="32" name="Freeform 32"/>
          <p:cNvSpPr/>
          <p:nvPr/>
        </p:nvSpPr>
        <p:spPr>
          <a:xfrm>
            <a:off x="8572500" y="5191125"/>
            <a:ext cx="1714500" cy="171450"/>
          </a:xfrm>
          <a:custGeom>
            <a:avLst/>
            <a:gdLst/>
            <a:ahLst/>
            <a:cxnLst/>
            <a:rect l="l" t="t" r="r" b="b"/>
            <a:pathLst>
              <a:path w="1714500" h="171450">
                <a:moveTo>
                  <a:pt x="85725" y="0"/>
                </a:moveTo>
                <a:lnTo>
                  <a:pt x="1628775" y="0"/>
                </a:lnTo>
                <a:cubicBezTo>
                  <a:pt x="1676120" y="0"/>
                  <a:pt x="1714500" y="38380"/>
                  <a:pt x="1714500" y="85725"/>
                </a:cubicBezTo>
                <a:lnTo>
                  <a:pt x="1714500" y="85725"/>
                </a:lnTo>
                <a:cubicBezTo>
                  <a:pt x="1714500" y="133070"/>
                  <a:pt x="1676120" y="171450"/>
                  <a:pt x="1628775" y="171450"/>
                </a:cubicBezTo>
                <a:lnTo>
                  <a:pt x="85725" y="171450"/>
                </a:lnTo>
                <a:cubicBezTo>
                  <a:pt x="38380" y="171450"/>
                  <a:pt x="0" y="133070"/>
                  <a:pt x="0" y="8572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>
            <a:srgbClr val="E8EAED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572500" y="5191125"/>
            <a:ext cx="1543050" cy="171450"/>
          </a:xfrm>
          <a:custGeom>
            <a:avLst/>
            <a:gdLst/>
            <a:ahLst/>
            <a:cxnLst/>
            <a:rect l="l" t="t" r="r" b="b"/>
            <a:pathLst>
              <a:path w="1543050" h="171450">
                <a:moveTo>
                  <a:pt x="85725" y="0"/>
                </a:moveTo>
                <a:lnTo>
                  <a:pt x="1457325" y="0"/>
                </a:lnTo>
                <a:cubicBezTo>
                  <a:pt x="1504670" y="0"/>
                  <a:pt x="1543050" y="38380"/>
                  <a:pt x="1543050" y="85725"/>
                </a:cubicBezTo>
                <a:lnTo>
                  <a:pt x="1543050" y="85725"/>
                </a:lnTo>
                <a:cubicBezTo>
                  <a:pt x="1543050" y="133070"/>
                  <a:pt x="1504670" y="171450"/>
                  <a:pt x="1457325" y="171450"/>
                </a:cubicBezTo>
                <a:lnTo>
                  <a:pt x="85725" y="171450"/>
                </a:lnTo>
                <a:cubicBezTo>
                  <a:pt x="38380" y="171450"/>
                  <a:pt x="0" y="133070"/>
                  <a:pt x="0" y="85725"/>
                </a:cubicBezTo>
                <a:lnTo>
                  <a:pt x="0" y="85725"/>
                </a:lnTo>
                <a:cubicBezTo>
                  <a:pt x="0" y="38380"/>
                  <a:pt x="38380" y="0"/>
                  <a:pt x="85725" y="0"/>
                </a:cubicBezTo>
                <a:close/>
              </a:path>
            </a:pathLst>
          </a:custGeom>
          <a:solidFill>
            <a:srgbClr val="5C67FF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162812" y="5233988"/>
            <a:ext cx="5338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2025: 22%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0070" y="63798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6 / 14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37798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业务结构 · 智能云基础设施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3048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195340" y="421958"/>
            <a:ext cx="132216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31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198 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24323" y="894874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同比 +34%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2382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781050"/>
                </a:lnTo>
                <a:cubicBezTo>
                  <a:pt x="5334000" y="823134"/>
                  <a:pt x="5299884" y="857250"/>
                  <a:pt x="5257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0118" y="1466374"/>
            <a:ext cx="38552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构成：</a:t>
            </a:r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AI 算力（GPU/昆仑芯）、存储、网络、私有云/混合云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1070" y="1760220"/>
            <a:ext cx="2119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核心主力业务，占智能云总收入 66%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2381250"/>
            <a:ext cx="2667000" cy="1809750"/>
          </a:xfrm>
          <a:custGeom>
            <a:avLst/>
            <a:gdLst/>
            <a:ahLst/>
            <a:cxnLst/>
            <a:rect l="l" t="t" r="r" b="b"/>
            <a:pathLst>
              <a:path w="2667000" h="180975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695450"/>
                </a:lnTo>
                <a:cubicBezTo>
                  <a:pt x="2667000" y="1758576"/>
                  <a:pt x="2615826" y="1809750"/>
                  <a:pt x="2552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571500" y="2381250"/>
            <a:ext cx="2667000" cy="428625"/>
          </a:xfrm>
          <a:custGeom>
            <a:avLst/>
            <a:gdLst/>
            <a:ahLst/>
            <a:cxnLst/>
            <a:rect l="l" t="t" r="r" b="b"/>
            <a:pathLst>
              <a:path w="2667000" h="428625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314325"/>
                </a:lnTo>
                <a:cubicBezTo>
                  <a:pt x="2667000" y="377451"/>
                  <a:pt x="2615826" y="428625"/>
                  <a:pt x="2552700" y="428625"/>
                </a:cubicBezTo>
                <a:lnTo>
                  <a:pt x="114300" y="428625"/>
                </a:lnTo>
                <a:cubicBezTo>
                  <a:pt x="51174" y="428625"/>
                  <a:pt x="0" y="377451"/>
                  <a:pt x="0" y="314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289756" y="255365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🚀 大模型训练爆发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570" y="29508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服务字节、快手、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3141345"/>
            <a:ext cx="123215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智谱 AI、MiniMax 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492" y="3522345"/>
            <a:ext cx="12650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67E22"/>
                </a:solidFill>
                <a:latin typeface="Arial"/>
                <a:ea typeface="Microsoft YaHei"/>
                <a:cs typeface="Arial"/>
              </a:rPr>
              <a:t>万卡级集群订单大增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863816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头部客户需求旺盛</a:t>
            </a:r>
          </a:p>
        </p:txBody>
      </p:sp>
      <p:sp>
        <p:nvSpPr>
          <p:cNvPr id="17" name="Freeform 17"/>
          <p:cNvSpPr/>
          <p:nvPr/>
        </p:nvSpPr>
        <p:spPr>
          <a:xfrm>
            <a:off x="3429000" y="2381250"/>
            <a:ext cx="2667000" cy="1809750"/>
          </a:xfrm>
          <a:custGeom>
            <a:avLst/>
            <a:gdLst/>
            <a:ahLst/>
            <a:cxnLst/>
            <a:rect l="l" t="t" r="r" b="b"/>
            <a:pathLst>
              <a:path w="2667000" h="180975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695450"/>
                </a:lnTo>
                <a:cubicBezTo>
                  <a:pt x="2667000" y="1758576"/>
                  <a:pt x="2615826" y="1809750"/>
                  <a:pt x="2552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3429000" y="2381250"/>
            <a:ext cx="2667000" cy="428625"/>
          </a:xfrm>
          <a:custGeom>
            <a:avLst/>
            <a:gdLst/>
            <a:ahLst/>
            <a:cxnLst/>
            <a:rect l="l" t="t" r="r" b="b"/>
            <a:pathLst>
              <a:path w="2667000" h="428625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314325"/>
                </a:lnTo>
                <a:cubicBezTo>
                  <a:pt x="2667000" y="377451"/>
                  <a:pt x="2615826" y="428625"/>
                  <a:pt x="2552700" y="428625"/>
                </a:cubicBezTo>
                <a:lnTo>
                  <a:pt x="114300" y="428625"/>
                </a:lnTo>
                <a:cubicBezTo>
                  <a:pt x="51174" y="428625"/>
                  <a:pt x="0" y="377451"/>
                  <a:pt x="0" y="314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223933" y="255365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💎 昆仑芯规模化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08070" y="2950845"/>
            <a:ext cx="11664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全年交付</a:t>
            </a:r>
            <a:r>
              <a:rPr lang="zh-CN" sz="900" b="1" dirty="0">
                <a:solidFill>
                  <a:srgbClr val="2932E1"/>
                </a:solidFill>
                <a:latin typeface="Arial"/>
                <a:ea typeface="Microsoft YaHei"/>
                <a:cs typeface="Arial"/>
              </a:rPr>
              <a:t>超 30 万片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60021" y="3331845"/>
            <a:ext cx="804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70% 外部客户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02514" y="3569970"/>
            <a:ext cx="919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成本下降 25%+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270058" y="3863816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自研芯片成本优势</a:t>
            </a:r>
          </a:p>
        </p:txBody>
      </p:sp>
      <p:sp>
        <p:nvSpPr>
          <p:cNvPr id="24" name="Freeform 24"/>
          <p:cNvSpPr/>
          <p:nvPr/>
        </p:nvSpPr>
        <p:spPr>
          <a:xfrm>
            <a:off x="6286500" y="2381250"/>
            <a:ext cx="2667000" cy="1809750"/>
          </a:xfrm>
          <a:custGeom>
            <a:avLst/>
            <a:gdLst/>
            <a:ahLst/>
            <a:cxnLst/>
            <a:rect l="l" t="t" r="r" b="b"/>
            <a:pathLst>
              <a:path w="2667000" h="180975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695450"/>
                </a:lnTo>
                <a:cubicBezTo>
                  <a:pt x="2667000" y="1758576"/>
                  <a:pt x="2615826" y="1809750"/>
                  <a:pt x="2552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6286500" y="2381250"/>
            <a:ext cx="2667000" cy="428625"/>
          </a:xfrm>
          <a:custGeom>
            <a:avLst/>
            <a:gdLst/>
            <a:ahLst/>
            <a:cxnLst/>
            <a:rect l="l" t="t" r="r" b="b"/>
            <a:pathLst>
              <a:path w="2667000" h="428625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314325"/>
                </a:lnTo>
                <a:cubicBezTo>
                  <a:pt x="2667000" y="377451"/>
                  <a:pt x="2615826" y="428625"/>
                  <a:pt x="2552700" y="428625"/>
                </a:cubicBezTo>
                <a:lnTo>
                  <a:pt x="114300" y="428625"/>
                </a:lnTo>
                <a:cubicBezTo>
                  <a:pt x="51174" y="428625"/>
                  <a:pt x="0" y="377451"/>
                  <a:pt x="0" y="314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039261" y="2553652"/>
            <a:ext cx="11614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🏦 政企/金融刚需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48966" y="2950845"/>
            <a:ext cx="542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80% 央企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00637" y="3188970"/>
            <a:ext cx="12387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100% 系统重要性银行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8937" y="3569970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金融 AI 云市占率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40192" y="37118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38%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68540" y="40066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深度渗透</a:t>
            </a:r>
          </a:p>
        </p:txBody>
      </p:sp>
      <p:sp>
        <p:nvSpPr>
          <p:cNvPr id="32" name="Freeform 32"/>
          <p:cNvSpPr/>
          <p:nvPr/>
        </p:nvSpPr>
        <p:spPr>
          <a:xfrm>
            <a:off x="9144000" y="2381250"/>
            <a:ext cx="2667000" cy="1809750"/>
          </a:xfrm>
          <a:custGeom>
            <a:avLst/>
            <a:gdLst/>
            <a:ahLst/>
            <a:cxnLst/>
            <a:rect l="l" t="t" r="r" b="b"/>
            <a:pathLst>
              <a:path w="2667000" h="180975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695450"/>
                </a:lnTo>
                <a:cubicBezTo>
                  <a:pt x="2667000" y="1758576"/>
                  <a:pt x="2615826" y="1809750"/>
                  <a:pt x="2552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9144000" y="2381250"/>
            <a:ext cx="2667000" cy="428625"/>
          </a:xfrm>
          <a:custGeom>
            <a:avLst/>
            <a:gdLst/>
            <a:ahLst/>
            <a:cxnLst/>
            <a:rect l="l" t="t" r="r" b="b"/>
            <a:pathLst>
              <a:path w="2667000" h="428625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314325"/>
                </a:lnTo>
                <a:cubicBezTo>
                  <a:pt x="2667000" y="377451"/>
                  <a:pt x="2615826" y="428625"/>
                  <a:pt x="2552700" y="428625"/>
                </a:cubicBezTo>
                <a:lnTo>
                  <a:pt x="114300" y="428625"/>
                </a:lnTo>
                <a:cubicBezTo>
                  <a:pt x="51174" y="428625"/>
                  <a:pt x="0" y="377451"/>
                  <a:pt x="0" y="314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DEDE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015609" y="2553652"/>
            <a:ext cx="923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4C3C"/>
                </a:solidFill>
                <a:latin typeface="Arial Black"/>
                <a:ea typeface="Microsoft YaHei"/>
                <a:cs typeface="Arial Black"/>
              </a:rPr>
              <a:t>⚡ 天池超节点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882729" y="2950845"/>
            <a:ext cx="9035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512 卡集群落地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40290" y="323659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支持万亿参数训练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017514" y="3617595"/>
            <a:ext cx="919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0392B"/>
                </a:solidFill>
                <a:latin typeface="Arial"/>
                <a:ea typeface="Microsoft YaHei"/>
                <a:cs typeface="Arial"/>
              </a:rPr>
              <a:t>单价提升 30%+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05549" y="3911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高端算力溢价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0070" y="63798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7 / 14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351910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业务结构 · AI 应用与服务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8575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195340" y="421958"/>
            <a:ext cx="1322165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315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102 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24323" y="894874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同比 +34%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2382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781050"/>
                </a:lnTo>
                <a:cubicBezTo>
                  <a:pt x="5334000" y="823134"/>
                  <a:pt x="5299884" y="857250"/>
                  <a:pt x="52578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0118" y="1466374"/>
            <a:ext cx="46028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构成：</a:t>
            </a:r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千帆 MaaS、文心大模型服务、行业 AI 解决方案、智能体、数字人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1070" y="1760220"/>
            <a:ext cx="1987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高毛利业务，占智能云总收入 34%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238125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571500" y="2381250"/>
            <a:ext cx="5334000" cy="428625"/>
          </a:xfrm>
          <a:custGeom>
            <a:avLst/>
            <a:gdLst/>
            <a:ahLst/>
            <a:cxnLst/>
            <a:rect l="l" t="t" r="r" b="b"/>
            <a:pathLst>
              <a:path w="5334000" h="428625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14325"/>
                </a:lnTo>
                <a:cubicBezTo>
                  <a:pt x="5334000" y="377451"/>
                  <a:pt x="5282826" y="428625"/>
                  <a:pt x="5219700" y="428625"/>
                </a:cubicBezTo>
                <a:lnTo>
                  <a:pt x="114300" y="428625"/>
                </a:lnTo>
                <a:cubicBezTo>
                  <a:pt x="51174" y="428625"/>
                  <a:pt x="0" y="377451"/>
                  <a:pt x="0" y="314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535364" y="2537460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🌊 千帆 MaaS 平台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5889" y="2895124"/>
            <a:ext cx="25452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模型训练/微调/推理/Agent 开发一体化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0340" y="3234690"/>
            <a:ext cx="25563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Token 消耗月增 50%+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0212" y="3665220"/>
            <a:ext cx="23165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一站式模型服务，降低企业 AI 使用门槛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06303" y="3959066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平台化效应显著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86500" y="238125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6286500" y="2381250"/>
            <a:ext cx="5334000" cy="428625"/>
          </a:xfrm>
          <a:custGeom>
            <a:avLst/>
            <a:gdLst/>
            <a:ahLst/>
            <a:cxnLst/>
            <a:rect l="l" t="t" r="r" b="b"/>
            <a:pathLst>
              <a:path w="5334000" h="428625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14325"/>
                </a:lnTo>
                <a:cubicBezTo>
                  <a:pt x="5334000" y="377451"/>
                  <a:pt x="5282826" y="428625"/>
                  <a:pt x="5219700" y="428625"/>
                </a:cubicBezTo>
                <a:lnTo>
                  <a:pt x="114300" y="428625"/>
                </a:lnTo>
                <a:cubicBezTo>
                  <a:pt x="51174" y="428625"/>
                  <a:pt x="0" y="377451"/>
                  <a:pt x="0" y="314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254746" y="2537460"/>
            <a:ext cx="13975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🧠 文心大模型 4.0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75724" y="2895124"/>
            <a:ext cx="155555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2025 年迭代至 4.0 版本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29538" y="3267075"/>
            <a:ext cx="24479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E67E22"/>
                </a:solidFill>
                <a:latin typeface="Arial Black"/>
                <a:ea typeface="Microsoft YaHei"/>
                <a:cs typeface="Arial Black"/>
              </a:rPr>
              <a:t>企业付费调用量季度翻倍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9065" y="3665220"/>
            <a:ext cx="23888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全模态、长文本、工具调用、智能体能力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81549" y="3959066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技术领先优势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4476750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314450"/>
                </a:lnTo>
                <a:cubicBezTo>
                  <a:pt x="5334000" y="1377576"/>
                  <a:pt x="5282826" y="1428750"/>
                  <a:pt x="5219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571500" y="4476750"/>
            <a:ext cx="5334000" cy="428625"/>
          </a:xfrm>
          <a:custGeom>
            <a:avLst/>
            <a:gdLst/>
            <a:ahLst/>
            <a:cxnLst/>
            <a:rect l="l" t="t" r="r" b="b"/>
            <a:pathLst>
              <a:path w="5334000" h="428625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14325"/>
                </a:lnTo>
                <a:cubicBezTo>
                  <a:pt x="5334000" y="377451"/>
                  <a:pt x="5282826" y="428625"/>
                  <a:pt x="5219700" y="428625"/>
                </a:cubicBezTo>
                <a:lnTo>
                  <a:pt x="114300" y="428625"/>
                </a:lnTo>
                <a:cubicBezTo>
                  <a:pt x="51174" y="428625"/>
                  <a:pt x="0" y="377451"/>
                  <a:pt x="0" y="314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671191" y="46329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🏭 行业 AI 落地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81091" y="5038249"/>
            <a:ext cx="31148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金融风控 | 智能制造 | 自动驾驶云 | 电网智能调度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06955" y="5379720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规模化交付，垂直行业深度渗透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661714" y="5673566"/>
            <a:ext cx="11535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行业 Know-how 积累</a:t>
            </a:r>
          </a:p>
        </p:txBody>
      </p:sp>
      <p:sp>
        <p:nvSpPr>
          <p:cNvPr id="30" name="Freeform 30"/>
          <p:cNvSpPr/>
          <p:nvPr/>
        </p:nvSpPr>
        <p:spPr>
          <a:xfrm>
            <a:off x="6286500" y="4476750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314450"/>
                </a:lnTo>
                <a:cubicBezTo>
                  <a:pt x="5334000" y="1377576"/>
                  <a:pt x="5282826" y="1428750"/>
                  <a:pt x="5219700" y="1428750"/>
                </a:cubicBezTo>
                <a:lnTo>
                  <a:pt x="114300" y="1428750"/>
                </a:lnTo>
                <a:cubicBezTo>
                  <a:pt x="51174" y="1428750"/>
                  <a:pt x="0" y="1377576"/>
                  <a:pt x="0" y="1314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6286500" y="4476750"/>
            <a:ext cx="5334000" cy="428625"/>
          </a:xfrm>
          <a:custGeom>
            <a:avLst/>
            <a:gdLst/>
            <a:ahLst/>
            <a:cxnLst/>
            <a:rect l="l" t="t" r="r" b="b"/>
            <a:pathLst>
              <a:path w="5334000" h="428625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14325"/>
                </a:lnTo>
                <a:cubicBezTo>
                  <a:pt x="5334000" y="377451"/>
                  <a:pt x="5282826" y="428625"/>
                  <a:pt x="5219700" y="428625"/>
                </a:cubicBezTo>
                <a:lnTo>
                  <a:pt x="114300" y="428625"/>
                </a:lnTo>
                <a:cubicBezTo>
                  <a:pt x="51174" y="428625"/>
                  <a:pt x="0" y="377451"/>
                  <a:pt x="0" y="31432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DEDE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425624" y="463296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74C3C"/>
                </a:solidFill>
                <a:latin typeface="Arial Black"/>
                <a:ea typeface="Microsoft YaHei"/>
                <a:cs typeface="Arial Black"/>
              </a:rPr>
              <a:t>🤖 超级智能体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3486" y="5038249"/>
            <a:ext cx="19400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"百度伐谋"获 2000+ 企业试用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12550" y="5379720"/>
            <a:ext cx="1481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"曦灵"数字人商业化落地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18291" y="5673566"/>
            <a:ext cx="8704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Agent 生态布局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0070" y="63798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8 / 14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220027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客户与市场地位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286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5334000" cy="3810000"/>
          </a:xfrm>
          <a:custGeom>
            <a:avLst/>
            <a:gdLst/>
            <a:ahLst/>
            <a:cxnLst/>
            <a:rect l="l" t="t" r="r" b="b"/>
            <a:pathLst>
              <a:path w="5334000" h="3810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95700"/>
                </a:lnTo>
                <a:cubicBezTo>
                  <a:pt x="5334000" y="3758826"/>
                  <a:pt x="5282826" y="3810000"/>
                  <a:pt x="5219700" y="3810000"/>
                </a:cubicBezTo>
                <a:lnTo>
                  <a:pt x="114300" y="3810000"/>
                </a:lnTo>
                <a:cubicBezTo>
                  <a:pt x="51174" y="3810000"/>
                  <a:pt x="0" y="3758826"/>
                  <a:pt x="0" y="3695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855214" y="13944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客户结构</a:t>
            </a:r>
          </a:p>
        </p:txBody>
      </p:sp>
      <p:sp>
        <p:nvSpPr>
          <p:cNvPr id="7" name="Ellipse 7"/>
          <p:cNvSpPr/>
          <p:nvPr/>
        </p:nvSpPr>
        <p:spPr>
          <a:xfrm>
            <a:off x="1238250" y="2000250"/>
            <a:ext cx="2095500" cy="2095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EAED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286000" y="2000250"/>
            <a:ext cx="952500" cy="1047750"/>
          </a:xfrm>
          <a:custGeom>
            <a:avLst/>
            <a:gdLst/>
            <a:ahLst/>
            <a:cxnLst/>
            <a:rect l="l" t="t" r="r" b="b"/>
            <a:pathLst>
              <a:path w="952500" h="1047750">
                <a:moveTo>
                  <a:pt x="0" y="0"/>
                </a:moveTo>
                <a:cubicBezTo>
                  <a:pt x="411538" y="1401"/>
                  <a:pt x="784145" y="243596"/>
                  <a:pt x="952500" y="619125"/>
                </a:cubicBezTo>
                <a:lnTo>
                  <a:pt x="0" y="1047750"/>
                </a:ln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2286000" y="2619375"/>
            <a:ext cx="1091538" cy="1095375"/>
          </a:xfrm>
          <a:custGeom>
            <a:avLst/>
            <a:gdLst/>
            <a:ahLst/>
            <a:cxnLst/>
            <a:rect l="l" t="t" r="r" b="b"/>
            <a:pathLst>
              <a:path w="1091538" h="1095375">
                <a:moveTo>
                  <a:pt x="952500" y="0"/>
                </a:moveTo>
                <a:cubicBezTo>
                  <a:pt x="1091538" y="380458"/>
                  <a:pt x="998817" y="806978"/>
                  <a:pt x="714375" y="1095375"/>
                </a:cubicBezTo>
                <a:lnTo>
                  <a:pt x="0" y="428625"/>
                </a:lnTo>
                <a:close/>
              </a:path>
            </a:pathLst>
          </a:custGeom>
          <a:solidFill>
            <a:srgbClr val="5C67FF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1571625" y="3048000"/>
            <a:ext cx="1428750" cy="1041814"/>
          </a:xfrm>
          <a:custGeom>
            <a:avLst/>
            <a:gdLst/>
            <a:ahLst/>
            <a:cxnLst/>
            <a:rect l="l" t="t" r="r" b="b"/>
            <a:pathLst>
              <a:path w="1428750" h="1041814">
                <a:moveTo>
                  <a:pt x="1428750" y="666750"/>
                </a:moveTo>
                <a:cubicBezTo>
                  <a:pt x="1026344" y="1041814"/>
                  <a:pt x="402406" y="1041814"/>
                  <a:pt x="0" y="666750"/>
                </a:cubicBezTo>
                <a:lnTo>
                  <a:pt x="714375" y="0"/>
                </a:lnTo>
                <a:close/>
              </a:path>
            </a:pathLst>
          </a:custGeom>
          <a:solidFill>
            <a:srgbClr val="3498DB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158705" y="2619375"/>
            <a:ext cx="1127295" cy="1095375"/>
          </a:xfrm>
          <a:custGeom>
            <a:avLst/>
            <a:gdLst/>
            <a:ahLst/>
            <a:cxnLst/>
            <a:rect l="l" t="t" r="r" b="b"/>
            <a:pathLst>
              <a:path w="1127295" h="1095375">
                <a:moveTo>
                  <a:pt x="412920" y="1095375"/>
                </a:moveTo>
                <a:cubicBezTo>
                  <a:pt x="111644" y="817556"/>
                  <a:pt x="0" y="389587"/>
                  <a:pt x="127170" y="0"/>
                </a:cubicBezTo>
                <a:lnTo>
                  <a:pt x="1127295" y="428625"/>
                </a:lnTo>
                <a:close/>
              </a:path>
            </a:pathLst>
          </a:custGeom>
          <a:solidFill>
            <a:srgbClr val="2ECC71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1285875" y="1982374"/>
            <a:ext cx="1000125" cy="1065626"/>
          </a:xfrm>
          <a:custGeom>
            <a:avLst/>
            <a:gdLst/>
            <a:ahLst/>
            <a:cxnLst/>
            <a:rect l="l" t="t" r="r" b="b"/>
            <a:pathLst>
              <a:path w="1000125" h="1065626">
                <a:moveTo>
                  <a:pt x="0" y="637001"/>
                </a:moveTo>
                <a:cubicBezTo>
                  <a:pt x="175156" y="245311"/>
                  <a:pt x="571428" y="0"/>
                  <a:pt x="1000125" y="17876"/>
                </a:cubicBezTo>
                <a:lnTo>
                  <a:pt x="1000125" y="1065626"/>
                </a:lnTo>
                <a:close/>
              </a:path>
            </a:pathLst>
          </a:custGeom>
          <a:solidFill>
            <a:srgbClr val="F39C1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989070" y="2093595"/>
            <a:ext cx="7852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■ 互联网 35%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89070" y="2331720"/>
            <a:ext cx="6537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■ 金融 22%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89070" y="256984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■ 制造 18%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89070" y="2807970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■ 政企 15%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89070" y="3046095"/>
            <a:ext cx="620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■ 其他 10%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14300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6286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513254" y="1327785"/>
            <a:ext cx="880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🏆 市场份额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92251" y="1886902"/>
            <a:ext cx="13224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中国 AI 云全栈服务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20777" y="2007870"/>
            <a:ext cx="1665446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40.2%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57070" y="2656999"/>
            <a:ext cx="13928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行业第一 · 领跑市场</a:t>
            </a:r>
          </a:p>
        </p:txBody>
      </p:sp>
      <p:sp>
        <p:nvSpPr>
          <p:cNvPr id="24" name="Freeform 24"/>
          <p:cNvSpPr/>
          <p:nvPr/>
        </p:nvSpPr>
        <p:spPr>
          <a:xfrm>
            <a:off x="6286500" y="314325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6286500" y="31432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513254" y="3328035"/>
            <a:ext cx="8804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📋 中标表现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88417" y="3887152"/>
            <a:ext cx="13301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2025 年大模型项目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48778" y="4170045"/>
            <a:ext cx="24094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E67E22"/>
                </a:solidFill>
                <a:latin typeface="Arial Black"/>
                <a:ea typeface="Microsoft YaHei"/>
                <a:cs typeface="Arial Black"/>
              </a:rPr>
              <a:t>109 个 / 9 亿元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0460" y="4657249"/>
            <a:ext cx="1946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连续两年 项目数/金额双第一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0070" y="6379845"/>
            <a:ext cx="21588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9 / 14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36111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关键战略 · 昆仑芯 AI 芯片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667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11049000" cy="1047750"/>
          </a:xfrm>
          <a:custGeom>
            <a:avLst/>
            <a:gdLst/>
            <a:ahLst/>
            <a:cxnLst/>
            <a:rect l="l" t="t" r="r" b="b"/>
            <a:pathLst>
              <a:path w="11049000" h="10477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933450"/>
                </a:lnTo>
                <a:cubicBezTo>
                  <a:pt x="11049000" y="996576"/>
                  <a:pt x="10997826" y="1047750"/>
                  <a:pt x="109347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409575"/>
                </a:lnTo>
                <a:cubicBezTo>
                  <a:pt x="11049000" y="472701"/>
                  <a:pt x="10997826" y="523875"/>
                  <a:pt x="10934700" y="523875"/>
                </a:cubicBezTo>
                <a:lnTo>
                  <a:pt x="114300" y="523875"/>
                </a:lnTo>
                <a:cubicBezTo>
                  <a:pt x="51174" y="523875"/>
                  <a:pt x="0" y="472701"/>
                  <a:pt x="0" y="409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0605" y="1359218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💡 核心动作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7545" y="1383506"/>
            <a:ext cx="38569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0E0FF"/>
                </a:solidFill>
                <a:latin typeface="Arial"/>
                <a:ea typeface="Microsoft YaHei"/>
                <a:cs typeface="Arial"/>
              </a:rPr>
              <a:t>二代昆仑芯（P800）量产，覆盖训练/微调/推理全栈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2524125"/>
            <a:ext cx="3429000" cy="2190750"/>
          </a:xfrm>
          <a:custGeom>
            <a:avLst/>
            <a:gdLst/>
            <a:ahLst/>
            <a:cxnLst/>
            <a:rect l="l" t="t" r="r" b="b"/>
            <a:pathLst>
              <a:path w="3429000" h="2190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2076450"/>
                </a:lnTo>
                <a:cubicBezTo>
                  <a:pt x="3429000" y="2139576"/>
                  <a:pt x="3377826" y="2190750"/>
                  <a:pt x="3314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71500" y="2524125"/>
            <a:ext cx="3429000" cy="476250"/>
          </a:xfrm>
          <a:custGeom>
            <a:avLst/>
            <a:gdLst/>
            <a:ahLst/>
            <a:cxnLst/>
            <a:rect l="l" t="t" r="r" b="b"/>
            <a:pathLst>
              <a:path w="3429000" h="47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361950"/>
                </a:lnTo>
                <a:cubicBezTo>
                  <a:pt x="3429000" y="425076"/>
                  <a:pt x="3377826" y="476250"/>
                  <a:pt x="331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91117" y="2717006"/>
            <a:ext cx="9897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📈 新增长曲线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5023" y="3137535"/>
            <a:ext cx="192195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超 50 亿元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46421" y="3704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芯片相关收入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48790" y="40462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成为独立增长引擎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74294" y="434006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商业化成功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2524125"/>
            <a:ext cx="3429000" cy="2190750"/>
          </a:xfrm>
          <a:custGeom>
            <a:avLst/>
            <a:gdLst/>
            <a:ahLst/>
            <a:cxnLst/>
            <a:rect l="l" t="t" r="r" b="b"/>
            <a:pathLst>
              <a:path w="3429000" h="2190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2076450"/>
                </a:lnTo>
                <a:cubicBezTo>
                  <a:pt x="3429000" y="2139576"/>
                  <a:pt x="3377826" y="2190750"/>
                  <a:pt x="3314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191000" y="2524125"/>
            <a:ext cx="3429000" cy="476250"/>
          </a:xfrm>
          <a:custGeom>
            <a:avLst/>
            <a:gdLst/>
            <a:ahLst/>
            <a:cxnLst/>
            <a:rect l="l" t="t" r="r" b="b"/>
            <a:pathLst>
              <a:path w="3429000" h="47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361950"/>
                </a:lnTo>
                <a:cubicBezTo>
                  <a:pt x="3429000" y="425076"/>
                  <a:pt x="3377826" y="476250"/>
                  <a:pt x="331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492770" y="2717006"/>
            <a:ext cx="8254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💰 成本优化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07483" y="3169920"/>
            <a:ext cx="179603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-25%~-30%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52323" y="37047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云基础设施成本下降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56562" y="4046220"/>
            <a:ext cx="12978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毛利率改善 +3~+5pct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33549" y="4340066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自研替代优势</a:t>
            </a:r>
          </a:p>
        </p:txBody>
      </p:sp>
      <p:sp>
        <p:nvSpPr>
          <p:cNvPr id="23" name="Freeform 23"/>
          <p:cNvSpPr/>
          <p:nvPr/>
        </p:nvSpPr>
        <p:spPr>
          <a:xfrm>
            <a:off x="7810500" y="2524125"/>
            <a:ext cx="3810000" cy="2190750"/>
          </a:xfrm>
          <a:custGeom>
            <a:avLst/>
            <a:gdLst/>
            <a:ahLst/>
            <a:cxnLst/>
            <a:rect l="l" t="t" r="r" b="b"/>
            <a:pathLst>
              <a:path w="3810000" h="219075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2076450"/>
                </a:lnTo>
                <a:cubicBezTo>
                  <a:pt x="3810000" y="2139576"/>
                  <a:pt x="3758826" y="2190750"/>
                  <a:pt x="3695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7810500" y="252412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361950"/>
                </a:lnTo>
                <a:cubicBezTo>
                  <a:pt x="3810000" y="425076"/>
                  <a:pt x="3758826" y="476250"/>
                  <a:pt x="3695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093279" y="2717006"/>
            <a:ext cx="12444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🛡️ 国产替代壁垒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88755" y="322040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强化自主可控能力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92039" y="3535680"/>
            <a:ext cx="20469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政企订单 +40%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62323" y="403812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国产芯片首选供应商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53775" y="4340066"/>
            <a:ext cx="11234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政策红利 + 技术实力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5000625"/>
            <a:ext cx="11049000" cy="714375"/>
          </a:xfrm>
          <a:custGeom>
            <a:avLst/>
            <a:gdLst/>
            <a:ahLst/>
            <a:cxnLst/>
            <a:rect l="l" t="t" r="r" b="b"/>
            <a:pathLst>
              <a:path w="11049000" h="71437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38175"/>
                </a:lnTo>
                <a:cubicBezTo>
                  <a:pt x="11049000" y="680259"/>
                  <a:pt x="11014884" y="714375"/>
                  <a:pt x="10972800" y="714375"/>
                </a:cubicBezTo>
                <a:lnTo>
                  <a:pt x="76200" y="714375"/>
                </a:lnTo>
                <a:cubicBezTo>
                  <a:pt x="34116" y="714375"/>
                  <a:pt x="0" y="680259"/>
                  <a:pt x="0" y="63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321082" y="5228749"/>
            <a:ext cx="55498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昆仑芯规模化商用是百度智能云 2025 年核心竞争力之一，实现成本优化与收入增长双赢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49854" y="5483066"/>
            <a:ext cx="32922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自研芯片战略 | 全栈覆盖 | 外部客户占比 70% | 成本下降 25%+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0070" y="637984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10 / 14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37798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关键战略 · 千帆 MaaS 平台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667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11049000" cy="1047750"/>
          </a:xfrm>
          <a:custGeom>
            <a:avLst/>
            <a:gdLst/>
            <a:ahLst/>
            <a:cxnLst/>
            <a:rect l="l" t="t" r="r" b="b"/>
            <a:pathLst>
              <a:path w="11049000" h="10477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933450"/>
                </a:lnTo>
                <a:cubicBezTo>
                  <a:pt x="11049000" y="996576"/>
                  <a:pt x="10997826" y="1047750"/>
                  <a:pt x="109347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409575"/>
                </a:lnTo>
                <a:cubicBezTo>
                  <a:pt x="11049000" y="472701"/>
                  <a:pt x="10997826" y="523875"/>
                  <a:pt x="10934700" y="523875"/>
                </a:cubicBezTo>
                <a:lnTo>
                  <a:pt x="114300" y="523875"/>
                </a:lnTo>
                <a:cubicBezTo>
                  <a:pt x="51174" y="523875"/>
                  <a:pt x="0" y="472701"/>
                  <a:pt x="0" y="409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0605" y="1359218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💡 核心动作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10038" y="1383506"/>
            <a:ext cx="3971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0E0FF"/>
                </a:solidFill>
                <a:latin typeface="Arial"/>
                <a:ea typeface="Microsoft YaHei"/>
                <a:cs typeface="Arial"/>
              </a:rPr>
              <a:t>一站式模型商店、行业大模型定制、智能体开发工具链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2524125"/>
            <a:ext cx="3429000" cy="2190750"/>
          </a:xfrm>
          <a:custGeom>
            <a:avLst/>
            <a:gdLst/>
            <a:ahLst/>
            <a:cxnLst/>
            <a:rect l="l" t="t" r="r" b="b"/>
            <a:pathLst>
              <a:path w="3429000" h="2190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2076450"/>
                </a:lnTo>
                <a:cubicBezTo>
                  <a:pt x="3429000" y="2139576"/>
                  <a:pt x="3377826" y="2190750"/>
                  <a:pt x="3314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71500" y="2524125"/>
            <a:ext cx="3429000" cy="476250"/>
          </a:xfrm>
          <a:custGeom>
            <a:avLst/>
            <a:gdLst/>
            <a:ahLst/>
            <a:cxnLst/>
            <a:rect l="l" t="t" r="r" b="b"/>
            <a:pathLst>
              <a:path w="3429000" h="47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361950"/>
                </a:lnTo>
                <a:cubicBezTo>
                  <a:pt x="3429000" y="425076"/>
                  <a:pt x="3377826" y="476250"/>
                  <a:pt x="331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873270" y="2717006"/>
            <a:ext cx="8254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📈 收入高增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9499" y="3137535"/>
            <a:ext cx="11530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E67E22"/>
                </a:solidFill>
                <a:latin typeface="Arial Black"/>
                <a:ea typeface="Microsoft YaHei"/>
                <a:cs typeface="Arial Black"/>
              </a:rPr>
              <a:t>+225%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6582" y="3704749"/>
            <a:ext cx="97883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MaaS 收入增长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83521" y="4046220"/>
            <a:ext cx="8049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占比升至 22%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74294" y="434006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平台化效应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2524125"/>
            <a:ext cx="3429000" cy="2190750"/>
          </a:xfrm>
          <a:custGeom>
            <a:avLst/>
            <a:gdLst/>
            <a:ahLst/>
            <a:cxnLst/>
            <a:rect l="l" t="t" r="r" b="b"/>
            <a:pathLst>
              <a:path w="3429000" h="2190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2076450"/>
                </a:lnTo>
                <a:cubicBezTo>
                  <a:pt x="3429000" y="2139576"/>
                  <a:pt x="3377826" y="2190750"/>
                  <a:pt x="3314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191000" y="2524125"/>
            <a:ext cx="3429000" cy="476250"/>
          </a:xfrm>
          <a:custGeom>
            <a:avLst/>
            <a:gdLst/>
            <a:ahLst/>
            <a:cxnLst/>
            <a:rect l="l" t="t" r="r" b="b"/>
            <a:pathLst>
              <a:path w="3429000" h="47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361950"/>
                </a:lnTo>
                <a:cubicBezTo>
                  <a:pt x="3429000" y="425076"/>
                  <a:pt x="3377826" y="476250"/>
                  <a:pt x="331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410617" y="2717006"/>
            <a:ext cx="9897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💎 高毛利拉动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00269" y="3169920"/>
            <a:ext cx="141046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65%~70%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87281" y="3704749"/>
            <a:ext cx="8364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MaaS 毛利率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68290" y="40462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拉动整体盈利改善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33549" y="4340066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高附加值服务</a:t>
            </a:r>
          </a:p>
        </p:txBody>
      </p:sp>
      <p:sp>
        <p:nvSpPr>
          <p:cNvPr id="23" name="Freeform 23"/>
          <p:cNvSpPr/>
          <p:nvPr/>
        </p:nvSpPr>
        <p:spPr>
          <a:xfrm>
            <a:off x="7810500" y="2524125"/>
            <a:ext cx="3810000" cy="2190750"/>
          </a:xfrm>
          <a:custGeom>
            <a:avLst/>
            <a:gdLst/>
            <a:ahLst/>
            <a:cxnLst/>
            <a:rect l="l" t="t" r="r" b="b"/>
            <a:pathLst>
              <a:path w="3810000" h="219075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2076450"/>
                </a:lnTo>
                <a:cubicBezTo>
                  <a:pt x="3810000" y="2139576"/>
                  <a:pt x="3758826" y="2190750"/>
                  <a:pt x="3695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7810500" y="252412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361950"/>
                </a:lnTo>
                <a:cubicBezTo>
                  <a:pt x="3810000" y="425076"/>
                  <a:pt x="3758826" y="476250"/>
                  <a:pt x="3695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138464" y="2717006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👥 客户粘性提升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70085" y="3180874"/>
            <a:ext cx="1690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客户 LTV</a:t>
            </a:r>
            <a:r>
              <a:rPr lang="zh-CN" sz="1350" b="1" dirty="0">
                <a:solidFill>
                  <a:srgbClr val="27AE60"/>
                </a:solidFill>
                <a:latin typeface="Arial"/>
                <a:ea typeface="Microsoft YaHei"/>
                <a:cs typeface="Arial"/>
              </a:rPr>
              <a:t>+60%</a:t>
            </a:r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| 流失率</a:t>
            </a:r>
            <a:r>
              <a:rPr lang="zh-CN" sz="1350" b="1" dirty="0">
                <a:solidFill>
                  <a:srgbClr val="E74C3C"/>
                </a:solidFill>
                <a:latin typeface="Arial"/>
                <a:ea typeface="Microsoft YaHei"/>
                <a:cs typeface="Arial"/>
              </a:rPr>
              <a:t>-15%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97923" y="3657124"/>
            <a:ext cx="12351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外部收入占比 90%+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44012" y="399859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平台化效应显著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43549" y="4340066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生态锁定效应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5000625"/>
            <a:ext cx="11049000" cy="714375"/>
          </a:xfrm>
          <a:custGeom>
            <a:avLst/>
            <a:gdLst/>
            <a:ahLst/>
            <a:cxnLst/>
            <a:rect l="l" t="t" r="r" b="b"/>
            <a:pathLst>
              <a:path w="11049000" h="71437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38175"/>
                </a:lnTo>
                <a:cubicBezTo>
                  <a:pt x="11049000" y="680259"/>
                  <a:pt x="11014884" y="714375"/>
                  <a:pt x="10972800" y="714375"/>
                </a:cubicBezTo>
                <a:lnTo>
                  <a:pt x="76200" y="714375"/>
                </a:lnTo>
                <a:cubicBezTo>
                  <a:pt x="34116" y="714375"/>
                  <a:pt x="0" y="680259"/>
                  <a:pt x="0" y="63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35642" y="5228749"/>
            <a:ext cx="57207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千帆 MaaS 平台是百度智能云商业化成功的核心引擎，实现收入、毛利、客户粘性三重提升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04075" y="5483066"/>
            <a:ext cx="31838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模型商店 | 行业定制 | 智能体工具链 | Token 消耗月增 50%+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0070" y="6379845"/>
            <a:ext cx="21654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11 / 14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376447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关键战略 · 文心大模型 4.0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667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11049000" cy="1047750"/>
          </a:xfrm>
          <a:custGeom>
            <a:avLst/>
            <a:gdLst/>
            <a:ahLst/>
            <a:cxnLst/>
            <a:rect l="l" t="t" r="r" b="b"/>
            <a:pathLst>
              <a:path w="11049000" h="10477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933450"/>
                </a:lnTo>
                <a:cubicBezTo>
                  <a:pt x="11049000" y="996576"/>
                  <a:pt x="10997826" y="1047750"/>
                  <a:pt x="10934700" y="1047750"/>
                </a:cubicBezTo>
                <a:lnTo>
                  <a:pt x="114300" y="1047750"/>
                </a:lnTo>
                <a:cubicBezTo>
                  <a:pt x="51174" y="1047750"/>
                  <a:pt x="0" y="996576"/>
                  <a:pt x="0" y="933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11049000" cy="523875"/>
          </a:xfrm>
          <a:custGeom>
            <a:avLst/>
            <a:gdLst/>
            <a:ahLst/>
            <a:cxnLst/>
            <a:rect l="l" t="t" r="r" b="b"/>
            <a:pathLst>
              <a:path w="11049000" h="523875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409575"/>
                </a:lnTo>
                <a:cubicBezTo>
                  <a:pt x="11049000" y="472701"/>
                  <a:pt x="10997826" y="523875"/>
                  <a:pt x="10934700" y="523875"/>
                </a:cubicBezTo>
                <a:lnTo>
                  <a:pt x="114300" y="523875"/>
                </a:lnTo>
                <a:cubicBezTo>
                  <a:pt x="51174" y="523875"/>
                  <a:pt x="0" y="472701"/>
                  <a:pt x="0" y="409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932E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30605" y="1359218"/>
            <a:ext cx="9905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💡 核心动作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74344" y="1383506"/>
            <a:ext cx="3643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0E0FF"/>
                </a:solidFill>
                <a:latin typeface="Arial"/>
                <a:ea typeface="Microsoft YaHei"/>
                <a:cs typeface="Arial"/>
              </a:rPr>
              <a:t>全模态、长文本、工具调用、智能体能力全面开放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2524125"/>
            <a:ext cx="3429000" cy="2190750"/>
          </a:xfrm>
          <a:custGeom>
            <a:avLst/>
            <a:gdLst/>
            <a:ahLst/>
            <a:cxnLst/>
            <a:rect l="l" t="t" r="r" b="b"/>
            <a:pathLst>
              <a:path w="3429000" h="2190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2076450"/>
                </a:lnTo>
                <a:cubicBezTo>
                  <a:pt x="3429000" y="2139576"/>
                  <a:pt x="3377826" y="2190750"/>
                  <a:pt x="3314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571500" y="2524125"/>
            <a:ext cx="3429000" cy="476250"/>
          </a:xfrm>
          <a:custGeom>
            <a:avLst/>
            <a:gdLst/>
            <a:ahLst/>
            <a:cxnLst/>
            <a:rect l="l" t="t" r="r" b="b"/>
            <a:pathLst>
              <a:path w="3429000" h="47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361950"/>
                </a:lnTo>
                <a:cubicBezTo>
                  <a:pt x="3429000" y="425076"/>
                  <a:pt x="3377826" y="476250"/>
                  <a:pt x="331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873270" y="2717006"/>
            <a:ext cx="8254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📈 收入带动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9499" y="3137535"/>
            <a:ext cx="11530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E67E22"/>
                </a:solidFill>
                <a:latin typeface="Arial Black"/>
                <a:ea typeface="Microsoft YaHei"/>
                <a:cs typeface="Arial Black"/>
              </a:rPr>
              <a:t>+200%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7743" y="3704749"/>
            <a:ext cx="1256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MaaS/API 收入增长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14512" y="40462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成为核心竞争力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4049" y="4340066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技术变现能力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2524125"/>
            <a:ext cx="3429000" cy="2190750"/>
          </a:xfrm>
          <a:custGeom>
            <a:avLst/>
            <a:gdLst/>
            <a:ahLst/>
            <a:cxnLst/>
            <a:rect l="l" t="t" r="r" b="b"/>
            <a:pathLst>
              <a:path w="3429000" h="21907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2076450"/>
                </a:lnTo>
                <a:cubicBezTo>
                  <a:pt x="3429000" y="2139576"/>
                  <a:pt x="3377826" y="2190750"/>
                  <a:pt x="3314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4191000" y="2524125"/>
            <a:ext cx="3429000" cy="476250"/>
          </a:xfrm>
          <a:custGeom>
            <a:avLst/>
            <a:gdLst/>
            <a:ahLst/>
            <a:cxnLst/>
            <a:rect l="l" t="t" r="r" b="b"/>
            <a:pathLst>
              <a:path w="3429000" h="47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361950"/>
                </a:lnTo>
                <a:cubicBezTo>
                  <a:pt x="3429000" y="425076"/>
                  <a:pt x="3377826" y="476250"/>
                  <a:pt x="3314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492770" y="2717006"/>
            <a:ext cx="8254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🔄 能力升级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37121" y="31332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全模态理解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37121" y="337137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长文本处理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08320" y="360949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工具调用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37121" y="38476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智能体编排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02567" y="41890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企业级能力全面开放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54040" y="44353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技术领先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2524125"/>
            <a:ext cx="3810000" cy="2190750"/>
          </a:xfrm>
          <a:custGeom>
            <a:avLst/>
            <a:gdLst/>
            <a:ahLst/>
            <a:cxnLst/>
            <a:rect l="l" t="t" r="r" b="b"/>
            <a:pathLst>
              <a:path w="3810000" h="219075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2076450"/>
                </a:lnTo>
                <a:cubicBezTo>
                  <a:pt x="3810000" y="2139576"/>
                  <a:pt x="3758826" y="2190750"/>
                  <a:pt x="3695700" y="2190750"/>
                </a:cubicBezTo>
                <a:lnTo>
                  <a:pt x="114300" y="2190750"/>
                </a:lnTo>
                <a:cubicBezTo>
                  <a:pt x="51174" y="2190750"/>
                  <a:pt x="0" y="2139576"/>
                  <a:pt x="0" y="2076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7810500" y="2524125"/>
            <a:ext cx="3810000" cy="476250"/>
          </a:xfrm>
          <a:custGeom>
            <a:avLst/>
            <a:gdLst/>
            <a:ahLst/>
            <a:cxnLst/>
            <a:rect l="l" t="t" r="r" b="b"/>
            <a:pathLst>
              <a:path w="3810000" h="476250">
                <a:moveTo>
                  <a:pt x="114300" y="0"/>
                </a:moveTo>
                <a:lnTo>
                  <a:pt x="3695700" y="0"/>
                </a:lnTo>
                <a:cubicBezTo>
                  <a:pt x="3758826" y="0"/>
                  <a:pt x="3810000" y="51174"/>
                  <a:pt x="3810000" y="114300"/>
                </a:cubicBezTo>
                <a:lnTo>
                  <a:pt x="3810000" y="361950"/>
                </a:lnTo>
                <a:cubicBezTo>
                  <a:pt x="3810000" y="425076"/>
                  <a:pt x="3758826" y="476250"/>
                  <a:pt x="3695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02770" y="2717006"/>
            <a:ext cx="82546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🌐 生态协同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858726" y="32204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与搜索、网盘、文库协同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92050" y="3584258"/>
            <a:ext cx="2246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27AE60"/>
                </a:solidFill>
                <a:latin typeface="Arial Black"/>
                <a:ea typeface="Microsoft YaHei"/>
                <a:cs typeface="Arial Black"/>
              </a:rPr>
              <a:t>C 端 + B 端 闭环形成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47121" y="40381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全场景覆盖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64040" y="43400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生态优势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5000625"/>
            <a:ext cx="11049000" cy="714375"/>
          </a:xfrm>
          <a:custGeom>
            <a:avLst/>
            <a:gdLst/>
            <a:ahLst/>
            <a:cxnLst/>
            <a:rect l="l" t="t" r="r" b="b"/>
            <a:pathLst>
              <a:path w="11049000" h="71437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638175"/>
                </a:lnTo>
                <a:cubicBezTo>
                  <a:pt x="11049000" y="680259"/>
                  <a:pt x="11014884" y="714375"/>
                  <a:pt x="10972800" y="714375"/>
                </a:cubicBezTo>
                <a:lnTo>
                  <a:pt x="76200" y="714375"/>
                </a:lnTo>
                <a:cubicBezTo>
                  <a:pt x="34116" y="714375"/>
                  <a:pt x="0" y="680259"/>
                  <a:pt x="0" y="638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075444" y="5228749"/>
            <a:ext cx="6041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文心大模型 4.0 是百度 AI 技术实力的集中体现，驱动 MaaS 收入增长，构建 C 端+B 端生态闭环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44463" y="5483066"/>
            <a:ext cx="25030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全模态 | 长文本 | 工具调用 | 智能体 | 生态协同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0070" y="637984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12 / 14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4830" y="440055"/>
            <a:ext cx="220027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 Black"/>
                <a:ea typeface="Microsoft YaHei"/>
                <a:cs typeface="Arial Black"/>
              </a:rPr>
              <a:t>核心风险与挑战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762000"/>
            <a:ext cx="2286000" cy="38100"/>
          </a:xfrm>
          <a:prstGeom prst="rect">
            <a:avLst/>
          </a:prstGeom>
          <a:solidFill>
            <a:srgbClr val="2932E1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571500" y="114300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71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DEDE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574798" y="1327785"/>
            <a:ext cx="13274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74C3C"/>
                </a:solidFill>
                <a:latin typeface="Arial Black"/>
                <a:ea typeface="Microsoft YaHei"/>
                <a:cs typeface="Arial Black"/>
              </a:rPr>
              <a:t>⚠️ 行业竞争加剧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0118" y="1752124"/>
            <a:ext cx="2773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阿里云、华为云、腾讯云持续加大 AI 投入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0118" y="1990249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价格战压力可能影响利润率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0118" y="2228374"/>
            <a:ext cx="185458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需要持续保持技术领先优势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87040" y="26255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竞争格局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0" y="1143000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286500" y="114300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250364" y="1327785"/>
            <a:ext cx="14062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💸 高资本开支压力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55118" y="1752124"/>
            <a:ext cx="21322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2025 年智算投入 250~280 亿元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5118" y="19902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昆仑芯研发 + 产能扩张持续投入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55118" y="2228374"/>
            <a:ext cx="22817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短期盈利承压，需平衡投入与回报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02040" y="26255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投入压力</a:t>
            </a:r>
          </a:p>
        </p:txBody>
      </p:sp>
      <p:sp>
        <p:nvSpPr>
          <p:cNvPr id="19" name="Freeform 19"/>
          <p:cNvSpPr/>
          <p:nvPr/>
        </p:nvSpPr>
        <p:spPr>
          <a:xfrm>
            <a:off x="571500" y="3190875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571500" y="3190875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EEF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622994" y="337566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B59B6"/>
                </a:solidFill>
                <a:latin typeface="Arial Black"/>
                <a:ea typeface="Microsoft YaHei"/>
                <a:cs typeface="Arial Black"/>
              </a:rPr>
              <a:t>🔄 技术迭代风险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0118" y="3799999"/>
            <a:ext cx="2566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大模型技术快速演进，需持续研发投入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0118" y="4038124"/>
            <a:ext cx="27161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国际头部模型（GPT-5 等）可能形成代差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0118" y="4276249"/>
            <a:ext cx="2566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人才竞争激烈，核心技术人员流失风险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87040" y="4673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技术风险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3190875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286500" y="3190875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361950"/>
                </a:lnTo>
                <a:cubicBezTo>
                  <a:pt x="5334000" y="425076"/>
                  <a:pt x="5282826" y="476250"/>
                  <a:pt x="52197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37994" y="337566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🌍 宏观经济环境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5118" y="3799999"/>
            <a:ext cx="22034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企业 IT 预算可能受经济波动影响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118" y="4038124"/>
            <a:ext cx="1762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AI 项目 ROI 验证周期较长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5118" y="4276249"/>
            <a:ext cx="19969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• 政企客户决策周期长、回款慢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02040" y="4673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宏观风险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523875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590550"/>
                </a:lnTo>
                <a:cubicBezTo>
                  <a:pt x="11049000" y="632634"/>
                  <a:pt x="11014884" y="666750"/>
                  <a:pt x="10972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43915" y="5411152"/>
            <a:ext cx="9237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💡 应对策略：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87868" y="5419249"/>
            <a:ext cx="39336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持续技术创新 · 优化成本结构 · 深化行业落地 · 加强生态合作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0070" y="637984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13 / 14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gradFill>
            <a:gsLst>
              <a:gs pos="0">
                <a:srgbClr val="2932E1"/>
              </a:gs>
              <a:gs pos="100000">
                <a:srgbClr val="5C67FF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257627" y="470535"/>
            <a:ext cx="367674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FFFFFF"/>
                </a:solidFill>
                <a:latin typeface="Arial Black"/>
                <a:ea typeface="Microsoft YaHei"/>
                <a:cs typeface="Arial Black"/>
              </a:rPr>
              <a:t>总结：AI 云兑现元年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59096" y="1061085"/>
            <a:ext cx="2273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0E0FF"/>
                </a:solidFill>
                <a:latin typeface="Arial"/>
                <a:ea typeface="Microsoft YaHei"/>
                <a:cs typeface="Arial"/>
              </a:rPr>
              <a:t>百度智能云 2025 年核心洞察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905000"/>
            <a:ext cx="5334000" cy="2000250"/>
          </a:xfrm>
          <a:custGeom>
            <a:avLst/>
            <a:gdLst/>
            <a:ahLst/>
            <a:cxnLst/>
            <a:rect l="l" t="t" r="r" b="b"/>
            <a:pathLst>
              <a:path w="5334000" h="2000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885950"/>
                </a:lnTo>
                <a:cubicBezTo>
                  <a:pt x="5334000" y="1949076"/>
                  <a:pt x="5282826" y="2000250"/>
                  <a:pt x="5219700" y="2000250"/>
                </a:cubicBezTo>
                <a:lnTo>
                  <a:pt x="114300" y="2000250"/>
                </a:lnTo>
                <a:cubicBezTo>
                  <a:pt x="51174" y="2000250"/>
                  <a:pt x="0" y="1949076"/>
                  <a:pt x="0" y="1885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905000"/>
            <a:ext cx="5334000" cy="523875"/>
          </a:xfrm>
          <a:custGeom>
            <a:avLst/>
            <a:gdLst/>
            <a:ahLst/>
            <a:cxnLst/>
            <a:rect l="l" t="t" r="r" b="b"/>
            <a:pathLst>
              <a:path w="5334000" h="523875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09575"/>
                </a:lnTo>
                <a:cubicBezTo>
                  <a:pt x="5334000" y="472701"/>
                  <a:pt x="5282826" y="523875"/>
                  <a:pt x="5219700" y="523875"/>
                </a:cubicBezTo>
                <a:lnTo>
                  <a:pt x="114300" y="523875"/>
                </a:lnTo>
                <a:cubicBezTo>
                  <a:pt x="51174" y="523875"/>
                  <a:pt x="0" y="472701"/>
                  <a:pt x="0" y="409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EF9E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710624" y="2108835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39C12"/>
                </a:solidFill>
                <a:latin typeface="Arial Black"/>
                <a:ea typeface="Microsoft YaHei"/>
                <a:cs typeface="Arial Black"/>
              </a:rPr>
              <a:t>✅ 高增长验证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24219" y="2553652"/>
            <a:ext cx="18285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总收入 300 亿，同比 +34%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11526" y="2895124"/>
            <a:ext cx="20539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在百度整体 -3% 背景下逆势高增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25709" y="3284220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AI 成为核心增长引擎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87040" y="35780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增长质量</a:t>
            </a:r>
          </a:p>
        </p:txBody>
      </p:sp>
      <p:sp>
        <p:nvSpPr>
          <p:cNvPr id="13" name="Freeform 13"/>
          <p:cNvSpPr/>
          <p:nvPr/>
        </p:nvSpPr>
        <p:spPr>
          <a:xfrm>
            <a:off x="6286500" y="1905000"/>
            <a:ext cx="5334000" cy="2000250"/>
          </a:xfrm>
          <a:custGeom>
            <a:avLst/>
            <a:gdLst/>
            <a:ahLst/>
            <a:cxnLst/>
            <a:rect l="l" t="t" r="r" b="b"/>
            <a:pathLst>
              <a:path w="5334000" h="20002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885950"/>
                </a:lnTo>
                <a:cubicBezTo>
                  <a:pt x="5334000" y="1949076"/>
                  <a:pt x="5282826" y="2000250"/>
                  <a:pt x="5219700" y="2000250"/>
                </a:cubicBezTo>
                <a:lnTo>
                  <a:pt x="114300" y="2000250"/>
                </a:lnTo>
                <a:cubicBezTo>
                  <a:pt x="51174" y="2000250"/>
                  <a:pt x="0" y="1949076"/>
                  <a:pt x="0" y="1885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6286500" y="1905000"/>
            <a:ext cx="5334000" cy="523875"/>
          </a:xfrm>
          <a:custGeom>
            <a:avLst/>
            <a:gdLst/>
            <a:ahLst/>
            <a:cxnLst/>
            <a:rect l="l" t="t" r="r" b="b"/>
            <a:pathLst>
              <a:path w="5334000" h="523875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09575"/>
                </a:lnTo>
                <a:cubicBezTo>
                  <a:pt x="5334000" y="472701"/>
                  <a:pt x="5282826" y="523875"/>
                  <a:pt x="5219700" y="523875"/>
                </a:cubicBezTo>
                <a:lnTo>
                  <a:pt x="114300" y="523875"/>
                </a:lnTo>
                <a:cubicBezTo>
                  <a:pt x="51174" y="523875"/>
                  <a:pt x="0" y="472701"/>
                  <a:pt x="0" y="409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8F6F3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337994" y="2108835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ABC9C"/>
                </a:solidFill>
                <a:latin typeface="Arial Black"/>
                <a:ea typeface="Microsoft YaHei"/>
                <a:cs typeface="Arial Black"/>
              </a:rPr>
              <a:t>✅ 全栈壁垒形成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86508" y="2553652"/>
            <a:ext cx="25339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昆仑芯 → 天池 → 千帆 → 文心 →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1523" y="289512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完整技术闭环落地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43542" y="3284220"/>
            <a:ext cx="1619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自研芯片 + 平台化双轮驱动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02040" y="35780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技术壁垒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4143375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71500" y="4143375"/>
            <a:ext cx="5334000" cy="523875"/>
          </a:xfrm>
          <a:custGeom>
            <a:avLst/>
            <a:gdLst/>
            <a:ahLst/>
            <a:cxnLst/>
            <a:rect l="l" t="t" r="r" b="b"/>
            <a:pathLst>
              <a:path w="5334000" h="523875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09575"/>
                </a:lnTo>
                <a:cubicBezTo>
                  <a:pt x="5334000" y="472701"/>
                  <a:pt x="5282826" y="523875"/>
                  <a:pt x="5219700" y="523875"/>
                </a:cubicBezTo>
                <a:lnTo>
                  <a:pt x="114300" y="523875"/>
                </a:lnTo>
                <a:cubicBezTo>
                  <a:pt x="51174" y="523875"/>
                  <a:pt x="0" y="472701"/>
                  <a:pt x="0" y="409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BF5F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622994" y="434721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932E1"/>
                </a:solidFill>
                <a:latin typeface="Arial Black"/>
                <a:ea typeface="Microsoft YaHei"/>
                <a:cs typeface="Arial Black"/>
              </a:rPr>
              <a:t>✅ 市场地位稳固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13359" y="4792028"/>
            <a:ext cx="22502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AI 云全栈市占率 40.2% 行业第一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0686" y="5133499"/>
            <a:ext cx="19756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大模型中标 109 个/9 亿 双第一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65143" y="5474970"/>
            <a:ext cx="11467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政企/金融深度渗透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87040" y="57211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市场地位</a:t>
            </a:r>
          </a:p>
        </p:txBody>
      </p:sp>
      <p:sp>
        <p:nvSpPr>
          <p:cNvPr id="27" name="Freeform 27"/>
          <p:cNvSpPr/>
          <p:nvPr/>
        </p:nvSpPr>
        <p:spPr>
          <a:xfrm>
            <a:off x="6286500" y="4143375"/>
            <a:ext cx="5334000" cy="1809750"/>
          </a:xfrm>
          <a:custGeom>
            <a:avLst/>
            <a:gdLst/>
            <a:ahLst/>
            <a:cxnLst/>
            <a:rect l="l" t="t" r="r" b="b"/>
            <a:pathLst>
              <a:path w="5334000" h="180975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1695450"/>
                </a:lnTo>
                <a:cubicBezTo>
                  <a:pt x="5334000" y="1758576"/>
                  <a:pt x="5282826" y="1809750"/>
                  <a:pt x="5219700" y="1809750"/>
                </a:cubicBezTo>
                <a:lnTo>
                  <a:pt x="114300" y="1809750"/>
                </a:lnTo>
                <a:cubicBezTo>
                  <a:pt x="51174" y="1809750"/>
                  <a:pt x="0" y="1758576"/>
                  <a:pt x="0" y="1695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286500" y="4143375"/>
            <a:ext cx="5334000" cy="523875"/>
          </a:xfrm>
          <a:custGeom>
            <a:avLst/>
            <a:gdLst/>
            <a:ahLst/>
            <a:cxnLst/>
            <a:rect l="l" t="t" r="r" b="b"/>
            <a:pathLst>
              <a:path w="5334000" h="523875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09575"/>
                </a:lnTo>
                <a:cubicBezTo>
                  <a:pt x="5334000" y="472701"/>
                  <a:pt x="5282826" y="523875"/>
                  <a:pt x="5219700" y="523875"/>
                </a:cubicBezTo>
                <a:lnTo>
                  <a:pt x="114300" y="523875"/>
                </a:lnTo>
                <a:cubicBezTo>
                  <a:pt x="51174" y="523875"/>
                  <a:pt x="0" y="472701"/>
                  <a:pt x="0" y="409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DEDE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77428" y="4347210"/>
            <a:ext cx="11521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E74C3C"/>
                </a:solidFill>
                <a:latin typeface="Arial Black"/>
                <a:ea typeface="Microsoft YaHei"/>
                <a:cs typeface="Arial Black"/>
              </a:rPr>
              <a:t>⚠️ 投入期持续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51683" y="4792028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55555"/>
                </a:solidFill>
                <a:latin typeface="Arial"/>
                <a:ea typeface="Microsoft YaHei"/>
                <a:cs typeface="Arial"/>
              </a:rPr>
              <a:t>2025 年仍处高投入期，整体未盈利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94487" y="5133499"/>
            <a:ext cx="21180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 算力/高毛利 MaaS 利润率改善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84845" y="5474970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平衡投入与回报是关键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702040" y="57211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盈利挑战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0070" y="6379845"/>
            <a:ext cx="21982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百度智能云 2025 年财报分析 | 14 / 14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