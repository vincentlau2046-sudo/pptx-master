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E"/>
              </a:gs>
              <a:gs pos="100000">
                <a:srgbClr val="0F0F1A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824212" y="2229802"/>
            <a:ext cx="4543575" cy="822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 全球情报日报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92534" y="3027998"/>
            <a:ext cx="440693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FFFFFF">
                    <a:alpha val="85000"/>
                  </a:srgbClr>
                </a:solidFill>
                <a:latin typeface="Arial"/>
                <a:ea typeface="Microsoft YaHei"/>
                <a:cs typeface="Arial"/>
              </a:rPr>
              <a:t>2026-04-09 | 第 109 期 | 零壹情报</a:t>
            </a:r>
          </a:p>
        </p:txBody>
      </p:sp>
      <p:sp>
        <p:nvSpPr>
          <p:cNvPr id="5" name="Rectangle 5"/>
          <p:cNvSpPr/>
          <p:nvPr/>
        </p:nvSpPr>
        <p:spPr>
          <a:xfrm>
            <a:off x="5143500" y="3619500"/>
            <a:ext cx="1905000" cy="28575"/>
          </a:xfrm>
          <a:prstGeom prst="rect">
            <a:avLst/>
          </a:prstGeom>
          <a:gradFill>
            <a:gsLst>
              <a:gs pos="0">
                <a:srgbClr val="1565C0"/>
              </a:gs>
              <a:gs pos="100000">
                <a:srgbClr val="00BFA5"/>
              </a:gs>
            </a:gsLst>
            <a:lin ang="0" scaled="1"/>
          </a:gradFill>
          <a:ln>
            <a:noFill/>
          </a:ln>
        </p:spPr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9FA"/>
              </a:gs>
              <a:gs pos="100000">
                <a:srgbClr val="ECF0F1"/>
              </a:gs>
            </a:gsLst>
            <a:lin ang="27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422910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252F"/>
                </a:solidFill>
                <a:latin typeface="Segoe UI"/>
                <a:ea typeface="Microsoft YaHei"/>
                <a:cs typeface="Segoe UI"/>
              </a:rPr>
              <a:t>关键业绩指标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6260" y="870585"/>
            <a:ext cx="23964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F8C8D"/>
                </a:solidFill>
                <a:latin typeface="Segoe UI"/>
                <a:ea typeface="Microsoft YaHei"/>
                <a:cs typeface="Segoe UI"/>
              </a:rPr>
              <a:t>Key Performance Indicators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71500" y="1428750"/>
            <a:ext cx="5334000" cy="2381250"/>
            <a:chOff x="571500" y="1428750"/>
            <a:chExt cx="5334000" cy="2381250"/>
          </a:xfrm>
          <a:effectLst>
            <a:outerShdw blurRad="114300" dist="28575" dir="10798854" algn="tl" rotWithShape="0">
              <a:srgbClr val="000000">
                <a:alpha val="15000"/>
              </a:srgbClr>
            </a:outerShdw>
          </a:effectLst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5334000" cy="2381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6" name="Rectangle 6"/>
            <p:cNvSpPr/>
            <p:nvPr/>
          </p:nvSpPr>
          <p:spPr>
            <a:xfrm>
              <a:off x="723900" y="1619250"/>
              <a:ext cx="76200" cy="666750"/>
            </a:xfrm>
            <a:prstGeom prst="rect">
              <a:avLst/>
            </a:prstGeom>
            <a:solidFill>
              <a:srgbClr val="2196F3"/>
            </a:solidFill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935355" y="1664018"/>
              <a:ext cx="625792" cy="27432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总收入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39165" y="1915478"/>
              <a:ext cx="1046464" cy="21336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Total Revenue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1540" y="2196465"/>
              <a:ext cx="2146173" cy="97536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A252F"/>
                  </a:solidFill>
                  <a:latin typeface="Segoe UI"/>
                  <a:ea typeface="Microsoft YaHei"/>
                  <a:cs typeface="Segoe UI"/>
                </a:rPr>
                <a:t>¥2.45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26080" y="2487930"/>
              <a:ext cx="360045" cy="42672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亿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876300" y="3067050"/>
              <a:ext cx="342900" cy="342900"/>
            </a:xfrm>
            <a:prstGeom prst="ellipse">
              <a:avLst/>
            </a:prstGeom>
            <a:solidFill>
              <a:srgbClr val="E8F5E9"/>
            </a:solidFill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2" name="Polygon 12"/>
            <p:cNvSpPr/>
            <p:nvPr/>
          </p:nvSpPr>
          <p:spPr>
            <a:xfrm>
              <a:off x="990600" y="31718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57150" y="0"/>
                  </a:moveTo>
                  <a:lnTo>
                    <a:pt x="11430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14450" y="3162300"/>
              <a:ext cx="739688" cy="30480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+18.5%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18385" y="3194685"/>
              <a:ext cx="906780" cy="24384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较去年同期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86500" y="1428750"/>
            <a:ext cx="5334000" cy="2381250"/>
            <a:chOff x="6286500" y="1428750"/>
            <a:chExt cx="5334000" cy="2381250"/>
          </a:xfrm>
          <a:effectLst>
            <a:outerShdw blurRad="114300" dist="28575" dir="10798854" algn="tl" rotWithShape="0">
              <a:srgbClr val="000000">
                <a:alpha val="15000"/>
              </a:srgbClr>
            </a:outerShdw>
          </a:effectLst>
        </p:grpSpPr>
        <p:sp>
          <p:nvSpPr>
            <p:cNvPr id="16" name="Rectangle 16"/>
            <p:cNvSpPr/>
            <p:nvPr/>
          </p:nvSpPr>
          <p:spPr>
            <a:xfrm>
              <a:off x="6286500" y="1428750"/>
              <a:ext cx="5334000" cy="2381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7" name="Rectangle 17"/>
            <p:cNvSpPr/>
            <p:nvPr/>
          </p:nvSpPr>
          <p:spPr>
            <a:xfrm>
              <a:off x="6438900" y="1619250"/>
              <a:ext cx="76200" cy="666750"/>
            </a:xfrm>
            <a:prstGeom prst="rect">
              <a:avLst/>
            </a:prstGeom>
            <a:solidFill>
              <a:srgbClr val="4CAF50"/>
            </a:solidFill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6650355" y="1664018"/>
              <a:ext cx="822960" cy="27432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活跃用户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54165" y="1915478"/>
              <a:ext cx="962120" cy="21336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Active Users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06540" y="2196465"/>
              <a:ext cx="1962150" cy="97536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A252F"/>
                  </a:solidFill>
                  <a:latin typeface="Segoe UI"/>
                  <a:ea typeface="Microsoft YaHei"/>
                  <a:cs typeface="Segoe UI"/>
                </a:rPr>
                <a:t>128.3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31580" y="2487930"/>
              <a:ext cx="360045" cy="42672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万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591300" y="3067050"/>
              <a:ext cx="342900" cy="342900"/>
            </a:xfrm>
            <a:prstGeom prst="ellipse">
              <a:avLst/>
            </a:prstGeom>
            <a:solidFill>
              <a:srgbClr val="E8F5E9"/>
            </a:solidFill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3" name="Polygon 23"/>
            <p:cNvSpPr/>
            <p:nvPr/>
          </p:nvSpPr>
          <p:spPr>
            <a:xfrm>
              <a:off x="6705600" y="31718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57150" y="0"/>
                  </a:moveTo>
                  <a:lnTo>
                    <a:pt x="11430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29450" y="3162300"/>
              <a:ext cx="739688" cy="30480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+12.3%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033385" y="3194685"/>
              <a:ext cx="906780" cy="24384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月同比增长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4191000"/>
            <a:ext cx="5334000" cy="2381250"/>
            <a:chOff x="571500" y="4191000"/>
            <a:chExt cx="5334000" cy="2381250"/>
          </a:xfrm>
          <a:effectLst>
            <a:outerShdw blurRad="114300" dist="28575" dir="10798854" algn="tl" rotWithShape="0">
              <a:srgbClr val="000000">
                <a:alpha val="15000"/>
              </a:srgbClr>
            </a:outerShdw>
          </a:effectLst>
        </p:grpSpPr>
        <p:sp>
          <p:nvSpPr>
            <p:cNvPr id="27" name="Rectangle 27"/>
            <p:cNvSpPr/>
            <p:nvPr/>
          </p:nvSpPr>
          <p:spPr>
            <a:xfrm>
              <a:off x="571500" y="4191000"/>
              <a:ext cx="5334000" cy="2381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8" name="Rectangle 28"/>
            <p:cNvSpPr/>
            <p:nvPr/>
          </p:nvSpPr>
          <p:spPr>
            <a:xfrm>
              <a:off x="723900" y="4381500"/>
              <a:ext cx="76200" cy="666750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935355" y="4426268"/>
              <a:ext cx="1020127" cy="27432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平均客单价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9165" y="4677728"/>
              <a:ext cx="1207484" cy="21336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Avg Order Value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1540" y="4958715"/>
              <a:ext cx="1741322" cy="97536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A252F"/>
                  </a:solidFill>
                  <a:latin typeface="Segoe UI"/>
                  <a:ea typeface="Microsoft YaHei"/>
                  <a:cs typeface="Segoe UI"/>
                </a:rPr>
                <a:t>¥432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876300" y="5829300"/>
              <a:ext cx="342900" cy="342900"/>
            </a:xfrm>
            <a:prstGeom prst="ellipse">
              <a:avLst/>
            </a:prstGeom>
            <a:solidFill>
              <a:srgbClr val="FFEBEE"/>
            </a:solidFill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3" name="Polygon 33"/>
            <p:cNvSpPr/>
            <p:nvPr/>
          </p:nvSpPr>
          <p:spPr>
            <a:xfrm>
              <a:off x="990600" y="59912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57150" y="133350"/>
                  </a:moveTo>
                  <a:lnTo>
                    <a:pt x="1143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74C3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14450" y="5924550"/>
              <a:ext cx="670679" cy="30480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74C3C"/>
                  </a:solidFill>
                  <a:latin typeface="Segoe UI"/>
                  <a:ea typeface="Microsoft YaHei"/>
                  <a:cs typeface="Segoe UI"/>
                </a:rPr>
                <a:t>-3.2%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23135" y="5956935"/>
              <a:ext cx="731520" cy="24384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环比上月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86500" y="4191000"/>
            <a:ext cx="5334000" cy="2381250"/>
            <a:chOff x="6286500" y="4191000"/>
            <a:chExt cx="5334000" cy="2381250"/>
          </a:xfrm>
          <a:effectLst>
            <a:outerShdw blurRad="114300" dist="28575" dir="10798854" algn="tl" rotWithShape="0">
              <a:srgbClr val="000000">
                <a:alpha val="15000"/>
              </a:srgbClr>
            </a:outerShdw>
          </a:effectLst>
        </p:grpSpPr>
        <p:sp>
          <p:nvSpPr>
            <p:cNvPr id="37" name="Rectangle 37"/>
            <p:cNvSpPr/>
            <p:nvPr/>
          </p:nvSpPr>
          <p:spPr>
            <a:xfrm>
              <a:off x="6286500" y="4191000"/>
              <a:ext cx="5334000" cy="2381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8EAED"/>
              </a:solidFill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8" name="Rectangle 38"/>
            <p:cNvSpPr/>
            <p:nvPr/>
          </p:nvSpPr>
          <p:spPr>
            <a:xfrm>
              <a:off x="6438900" y="4381500"/>
              <a:ext cx="76200" cy="666750"/>
            </a:xfrm>
            <a:prstGeom prst="rect">
              <a:avLst/>
            </a:prstGeom>
            <a:solidFill>
              <a:srgbClr val="9C27B0"/>
            </a:solidFill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39" name="TextBox 39"/>
            <p:cNvSpPr txBox="1"/>
            <p:nvPr/>
          </p:nvSpPr>
          <p:spPr>
            <a:xfrm>
              <a:off x="6650355" y="4426268"/>
              <a:ext cx="625792" cy="27432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转化率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54165" y="4677728"/>
              <a:ext cx="1215152" cy="21336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Conversion Rate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06540" y="4958715"/>
              <a:ext cx="1741322" cy="97536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A252F"/>
                  </a:solidFill>
                  <a:latin typeface="Segoe UI"/>
                  <a:ea typeface="Microsoft YaHei"/>
                  <a:cs typeface="Segoe UI"/>
                </a:rPr>
                <a:t>8.7%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591300" y="5829300"/>
              <a:ext cx="342900" cy="342900"/>
            </a:xfrm>
            <a:prstGeom prst="ellipse">
              <a:avLst/>
            </a:prstGeom>
            <a:solidFill>
              <a:srgbClr val="E8F5E9"/>
            </a:solidFill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</p:sp>
        <p:sp>
          <p:nvSpPr>
            <p:cNvPr id="43" name="Polygon 43"/>
            <p:cNvSpPr/>
            <p:nvPr/>
          </p:nvSpPr>
          <p:spPr>
            <a:xfrm>
              <a:off x="6705600" y="59340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57150" y="0"/>
                  </a:moveTo>
                  <a:lnTo>
                    <a:pt x="114300" y="13335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29450" y="5924550"/>
              <a:ext cx="670679" cy="30480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7AE60"/>
                  </a:solidFill>
                  <a:latin typeface="Segoe UI"/>
                  <a:ea typeface="Microsoft YaHei"/>
                  <a:cs typeface="Segoe UI"/>
                </a:rPr>
                <a:t>+0.8%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38135" y="5956935"/>
              <a:ext cx="906780" cy="243840"/>
            </a:xfrm>
            <a:prstGeom prst="rect">
              <a:avLst/>
            </a:prstGeom>
            <a:noFill/>
            <a:ln>
              <a:noFill/>
            </a:ln>
            <a:effectLst>
              <a:outerShdw blurRad="114300" dist="28575" dir="10798854" algn="tl" rotWithShape="0">
                <a:srgbClr val="000000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百分点提升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8266962" y="6609874"/>
            <a:ext cx="27944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9AA0A6"/>
                </a:solidFill>
                <a:latin typeface="Segoe UI"/>
                <a:ea typeface="Microsoft YaHei"/>
                <a:cs typeface="Segoe UI"/>
              </a:rPr>
              <a:t>数据截至 2025年11月 | Data as of Nov 2025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972" y="177641"/>
            <a:ext cx="1788296" cy="472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3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🚀 重磅头条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523875"/>
            <a:ext cx="952500" cy="2857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711518"/>
            <a:ext cx="97940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**为什么重要**：NVIDIA 在 GTC 2026 正式揭晓 Rubin 平台，单芯片 50 petaflops FP4 推理性能，较 Blackwell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4355" y="1187768"/>
            <a:ext cx="145389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**关键数据**：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355" y="1664018"/>
            <a:ext cx="40367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- 50 PFLOPS FP4 推理 / 35 PFLOPS FP4 训练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4355" y="2140268"/>
            <a:ext cx="30410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- 288GB HBM4 内存，13 TB/s 带宽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4355" y="2616518"/>
            <a:ext cx="54958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- 2026 年产能 20-30 万片（受限于 TSMC 封装和 HBM4 供应）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355" y="3092768"/>
            <a:ext cx="51803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- Vera CPU 集成 88 个 ARM 核心，NVLink 6 带宽 3.6 TB/s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4355" y="3569018"/>
            <a:ext cx="116671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**深层解读**：产能限制反而强化了 NVIDIA 的定价权。供需失衡下，Rubin 将成为 2026-2027 年 AI 工厂的"硬通货"。微软、CoreWe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4355" y="4045268"/>
            <a:ext cx="111643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**为什么重要**：2026 年 3 月成为 AI 模型史上发布最密集的月份。三款旗舰模型在 Intelligence Index 上几乎并列（57.17-57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972" y="177641"/>
            <a:ext cx="3071857" cy="472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3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📊 PESTEL 宏观分析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523875"/>
            <a:ext cx="952500" cy="2857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711518"/>
            <a:ext cx="67084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- EU AI Act 高风险条款 2026 年 8 月 2 日生效，违规罚款最高达全球营收 7%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4355" y="1187768"/>
            <a:ext cx="63436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- 中国网络安全法修订案 2026 年 1 月生效，强化 AI 风险评估和伦理治理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355" y="1664018"/>
            <a:ext cx="66591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- 韩国 AI Basic Act 2026 年 1 月 22 日生效，成为全球第二部综合性 AI 法律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4355" y="2140268"/>
            <a:ext cx="38199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- 新加坡发布全球首个 Agentic AI 治理框架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4355" y="2616518"/>
            <a:ext cx="447055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- 2026 年 Q1 全球 AI 融资$3000 亿，创单季度纪录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355" y="3092768"/>
            <a:ext cx="374103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- Anthropic 估值$3500 亿，Sequoia 领投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4355" y="3569018"/>
            <a:ext cx="51507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- 95% 企业生成式 AI 试点失败，ROI 成为 2026 年核心议题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4355" y="4045268"/>
            <a:ext cx="47761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- AI 成本优化需求爆发，企业期望削减 60-95% AI 支出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972" y="177641"/>
            <a:ext cx="1788296" cy="472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3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🏢 巨头动向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523875"/>
            <a:ext cx="952500" cy="2857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711518"/>
            <a:ext cx="2597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公司 | 核心动作 | 战略意图 |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4355" y="1187768"/>
            <a:ext cx="30903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|------|----------|----------|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355" y="1664018"/>
            <a:ext cx="70633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**NVIDIA** | Rubin 发布，2026 产能 20-30 万片 | 巩固算力垄断，强化定价权 |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4355" y="2140268"/>
            <a:ext cx="60774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**OpenAI** | GPT-5.4 原生电脑控制 | 从对话模型转向自主 Agent |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4355" y="2616518"/>
            <a:ext cx="56239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**Google** | ADK + A2A 完整生态 | 成为企业 Agent 首选平台 |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355" y="3092768"/>
            <a:ext cx="72309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**Anthropic** | MCP 协议开源，Claude 4.6 发布 | 以安全 + 开放协议建立标准 |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4355" y="3569018"/>
            <a:ext cx="65605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**阿里** | 3 年 3800 亿投入，千问整合生态 | 打造中国版"AI 操作系统" |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4355" y="4045268"/>
            <a:ext cx="597889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**字节** | 豆包 DAU 破亿，重启 APP 工厂 | 流量优势平移 AI 时代 |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972" y="177641"/>
            <a:ext cx="1788296" cy="472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3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💰 资本风向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523875"/>
            <a:ext cx="952500" cy="2857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711518"/>
            <a:ext cx="314953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公司 | 金额 | 估值 | 投资方 | 赛道 |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4355" y="1187768"/>
            <a:ext cx="385933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|------|------|------|--------|------|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355" y="1664018"/>
            <a:ext cx="41156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Anthropic | - | $3500 亿 | Sequoia | 大模型 |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4355" y="2140268"/>
            <a:ext cx="28636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xAI | $200 亿+ | - | - | 大模型 |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4355" y="2616518"/>
            <a:ext cx="57422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Sierra | $3.5 亿 | $100 亿 | Sequoia/Benchmark | 企业 Agent |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355" y="3092768"/>
            <a:ext cx="385933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Perplexity | $2 亿 | $200 亿 | - | AI 搜索 |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4355" y="3569018"/>
            <a:ext cx="35833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Harvey | $1.5 亿 | $80 亿 | - | 法律 AI |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4355" y="4045268"/>
            <a:ext cx="51014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OpenEvidence | $2.1 亿 | $35 亿 | GV/Kleiner | 医疗 AI |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AFBFC"/>
              </a:gs>
              <a:gs pos="100000">
                <a:srgbClr val="F5F6F8"/>
              </a:gs>
            </a:gsLst>
            <a:lin ang="5400000" scaled="1"/>
          </a:gra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37210" y="375285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252F"/>
                </a:solidFill>
                <a:latin typeface="Segoe UI"/>
                <a:ea typeface="Microsoft YaHei"/>
                <a:cs typeface="Segoe UI"/>
              </a:rPr>
              <a:t>产品组合矩阵分析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57212" y="783431"/>
            <a:ext cx="34461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AA0A6"/>
                </a:solidFill>
                <a:latin typeface="Segoe UI"/>
                <a:ea typeface="Microsoft YaHei"/>
                <a:cs typeface="Segoe UI"/>
              </a:rPr>
              <a:t>Boston Matrix · Product Portfolio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1013460"/>
            <a:ext cx="40351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6368"/>
                </a:solidFill>
                <a:latin typeface="Segoe UI"/>
                <a:ea typeface="Microsoft YaHei"/>
                <a:cs typeface="Segoe UI"/>
              </a:rPr>
              <a:t>市场增长率 vs 市场占有率 · 气泡大小代表营收规模</a:t>
            </a:r>
          </a:p>
        </p:txBody>
      </p:sp>
      <p:grpSp>
        <p:nvGrpSpPr>
          <p:cNvPr id="52" name="Group 52"/>
          <p:cNvGrpSpPr/>
          <p:nvPr/>
        </p:nvGrpSpPr>
        <p:grpSpPr>
          <a:xfrm>
            <a:off x="-167640" y="1601152"/>
            <a:ext cx="10121265" cy="4990148"/>
            <a:chOff x="-167640" y="1601152"/>
            <a:chExt cx="10121265" cy="4990148"/>
          </a:xfrm>
        </p:grpSpPr>
        <p:sp>
          <p:nvSpPr>
            <p:cNvPr id="6" name="Rectangle 6"/>
            <p:cNvSpPr/>
            <p:nvPr/>
          </p:nvSpPr>
          <p:spPr>
            <a:xfrm>
              <a:off x="5381625" y="1619250"/>
              <a:ext cx="4572000" cy="2286000"/>
            </a:xfrm>
            <a:prstGeom prst="rect">
              <a:avLst/>
            </a:prstGeom>
            <a:gradFill>
              <a:gsLst>
                <a:gs pos="0">
                  <a:srgbClr val="E8F5E9"/>
                </a:gs>
                <a:gs pos="100000">
                  <a:srgbClr val="C8E6C9"/>
                </a:gs>
              </a:gsLst>
              <a:lin ang="2700000" scaled="1"/>
            </a:gradFill>
            <a:ln w="28575">
              <a:solidFill>
                <a:srgbClr val="FFFFF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809625" y="1619250"/>
              <a:ext cx="4572000" cy="2286000"/>
            </a:xfrm>
            <a:prstGeom prst="rect">
              <a:avLst/>
            </a:prstGeom>
            <a:gradFill>
              <a:gsLst>
                <a:gs pos="0">
                  <a:srgbClr val="FFF8E1"/>
                </a:gs>
                <a:gs pos="100000">
                  <a:srgbClr val="FFE082"/>
                </a:gs>
              </a:gsLst>
              <a:lin ang="2700000" scaled="1"/>
            </a:gradFill>
            <a:ln w="28575">
              <a:solidFill>
                <a:srgbClr val="FFFFFF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09625" y="3905250"/>
              <a:ext cx="4572000" cy="2286000"/>
            </a:xfrm>
            <a:prstGeom prst="rect">
              <a:avLst/>
            </a:prstGeom>
            <a:gradFill>
              <a:gsLst>
                <a:gs pos="0">
                  <a:srgbClr val="FFEBEE"/>
                </a:gs>
                <a:gs pos="100000">
                  <a:srgbClr val="FFCDD2"/>
                </a:gs>
              </a:gsLst>
              <a:lin ang="2700000" scaled="1"/>
            </a:gradFill>
            <a:ln w="28575">
              <a:solidFill>
                <a:srgbClr val="FFFFF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81625" y="3905250"/>
              <a:ext cx="4572000" cy="2286000"/>
            </a:xfrm>
            <a:prstGeom prst="rect">
              <a:avLst/>
            </a:prstGeom>
            <a:gradFill>
              <a:gsLst>
                <a:gs pos="0">
                  <a:srgbClr val="E3F2FD"/>
                </a:gs>
                <a:gs pos="100000">
                  <a:srgbClr val="BBDEFB"/>
                </a:gs>
              </a:gsLst>
              <a:lin ang="2700000" scaled="1"/>
            </a:gradFill>
            <a:ln w="28575">
              <a:solidFill>
                <a:srgbClr val="FFFFF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09625" y="3905250"/>
              <a:ext cx="9144000" cy="9525"/>
            </a:xfrm>
            <a:custGeom>
              <a:avLst/>
              <a:gdLst/>
              <a:ahLst/>
              <a:cxnLst/>
              <a:rect l="l" t="t" r="r" b="b"/>
              <a:pathLst>
                <a:path w="9144000" h="9525">
                  <a:moveTo>
                    <a:pt x="0" y="0"/>
                  </a:moveTo>
                  <a:lnTo>
                    <a:pt x="9144000" y="0"/>
                  </a:lnTo>
                </a:path>
              </a:pathLst>
            </a:custGeom>
            <a:noFill/>
            <a:ln w="38100">
              <a:solidFill>
                <a:srgbClr val="1A252F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381625" y="161925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38100">
              <a:solidFill>
                <a:srgbClr val="1A252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276049" y="6347460"/>
              <a:ext cx="221115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52F"/>
                  </a:solidFill>
                  <a:latin typeface="Segoe UI"/>
                  <a:ea typeface="Microsoft YaHei"/>
                  <a:cs typeface="Segoe UI"/>
                </a:rPr>
                <a:t>市场占有率 Market Share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40635" y="6363652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低 Low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05217" y="6363652"/>
              <a:ext cx="52506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高 High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 rot="-5400000">
              <a:off x="-94297" y="3775710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52F"/>
                  </a:solidFill>
                  <a:latin typeface="Segoe UI"/>
                  <a:ea typeface="Microsoft YaHei"/>
                  <a:cs typeface="Segoe UI"/>
                </a:rPr>
                <a:t>市场增长率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 rot="-5400000">
              <a:off x="-167640" y="38080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Growth Rate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2915" y="6125528"/>
              <a:ext cx="1800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772" y="6273641"/>
              <a:ext cx="24386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Low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2915" y="1601152"/>
              <a:ext cx="1800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F6368"/>
                  </a:solidFill>
                  <a:latin typeface="Segoe UI"/>
                  <a:ea typeface="Microsoft YaHei"/>
                  <a:cs typeface="Segoe UI"/>
                </a:rPr>
                <a:t>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5772" y="1749266"/>
              <a:ext cx="2559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High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1075" y="1743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7C00"/>
                  </a:solidFill>
                  <a:latin typeface="Segoe UI"/>
                  <a:ea typeface="Microsoft YaHei"/>
                  <a:cs typeface="Segoe UI"/>
                </a:rPr>
                <a:t>问题产品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8695" y="1998345"/>
              <a:ext cx="10218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65100"/>
                  </a:solidFill>
                  <a:latin typeface="Segoe UI"/>
                  <a:ea typeface="Microsoft YaHei"/>
                  <a:cs typeface="Segoe UI"/>
                </a:rPr>
                <a:t>Question Marks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6790" y="2153602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84315"/>
                  </a:solidFill>
                  <a:latin typeface="Segoe UI"/>
                  <a:ea typeface="Microsoft YaHei"/>
                  <a:cs typeface="Segoe UI"/>
                </a:rPr>
                <a:t>高投入 · 低回报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53075" y="1743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88E3C"/>
                  </a:solidFill>
                  <a:latin typeface="Segoe UI"/>
                  <a:ea typeface="Microsoft YaHei"/>
                  <a:cs typeface="Segoe UI"/>
                </a:rPr>
                <a:t>明星产品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60695" y="1998345"/>
              <a:ext cx="3843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Stars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58790" y="2153602"/>
              <a:ext cx="1123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B5E20"/>
                  </a:solidFill>
                  <a:latin typeface="Segoe UI"/>
                  <a:ea typeface="Microsoft YaHei"/>
                  <a:cs typeface="Segoe UI"/>
                </a:rPr>
                <a:t>高投入 · 高回报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1075" y="564832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32F2F"/>
                  </a:solidFill>
                  <a:latin typeface="Segoe UI"/>
                  <a:ea typeface="Microsoft YaHei"/>
                  <a:cs typeface="Segoe UI"/>
                </a:rPr>
                <a:t>瘦狗产品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8695" y="5903595"/>
              <a:ext cx="3120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62828"/>
                  </a:solidFill>
                  <a:latin typeface="Segoe UI"/>
                  <a:ea typeface="Microsoft YaHei"/>
                  <a:cs typeface="Segoe UI"/>
                </a:rPr>
                <a:t>Dogs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53075" y="5648325"/>
              <a:ext cx="118824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976D2"/>
                  </a:solidFill>
                  <a:latin typeface="Segoe UI"/>
                  <a:ea typeface="Microsoft YaHei"/>
                  <a:cs typeface="Segoe UI"/>
                </a:rPr>
                <a:t>现金牛产品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60695" y="5903595"/>
              <a:ext cx="6669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565C0"/>
                  </a:solidFill>
                  <a:latin typeface="Segoe UI"/>
                  <a:ea typeface="Microsoft YaHei"/>
                  <a:cs typeface="Segoe UI"/>
                </a:rPr>
                <a:t>Cash Cows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848600" y="1828800"/>
              <a:ext cx="1047750" cy="1047750"/>
            </a:xfrm>
            <a:prstGeom prst="ellipse">
              <a:avLst/>
            </a:prstGeom>
            <a:solidFill>
              <a:srgbClr val="4CAF50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106989" y="2186464"/>
              <a:ext cx="5309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01508" y="2391728"/>
              <a:ext cx="541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¥3.2亿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8239125" y="4514850"/>
              <a:ext cx="1333500" cy="1333500"/>
            </a:xfrm>
            <a:prstGeom prst="ellipse">
              <a:avLst/>
            </a:prstGeom>
            <a:solidFill>
              <a:srgbClr val="2196F3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8624772" y="4997768"/>
              <a:ext cx="5622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15553" y="5212556"/>
              <a:ext cx="5806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¥4.8亿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2162175" y="1771650"/>
              <a:ext cx="800100" cy="800100"/>
            </a:xfrm>
            <a:prstGeom prst="ellipse">
              <a:avLst/>
            </a:prstGeom>
            <a:solidFill>
              <a:srgbClr val="FF9800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38" name="TextBox 38"/>
            <p:cNvSpPr txBox="1"/>
            <p:nvPr/>
          </p:nvSpPr>
          <p:spPr>
            <a:xfrm>
              <a:off x="2312356" y="2013585"/>
              <a:ext cx="4997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329302" y="2209324"/>
              <a:ext cx="4658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¥1.6亿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2733675" y="2581275"/>
              <a:ext cx="723900" cy="723900"/>
            </a:xfrm>
            <a:prstGeom prst="ellipse">
              <a:avLst/>
            </a:prstGeom>
            <a:solidFill>
              <a:srgbClr val="FF9800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1" name="TextBox 41"/>
            <p:cNvSpPr txBox="1"/>
            <p:nvPr/>
          </p:nvSpPr>
          <p:spPr>
            <a:xfrm>
              <a:off x="2861373" y="2793206"/>
              <a:ext cx="4685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862702" y="2971324"/>
              <a:ext cx="4658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¥1.2亿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1571625" y="5172075"/>
              <a:ext cx="571500" cy="571500"/>
            </a:xfrm>
            <a:prstGeom prst="ellipse">
              <a:avLst/>
            </a:prstGeom>
            <a:solidFill>
              <a:srgbClr val="E74C3C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4" name="TextBox 44"/>
            <p:cNvSpPr txBox="1"/>
            <p:nvPr/>
          </p:nvSpPr>
          <p:spPr>
            <a:xfrm>
              <a:off x="1638739" y="5325428"/>
              <a:ext cx="4372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625117" y="5494020"/>
              <a:ext cx="4645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¥0.5亿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629400" y="4391025"/>
              <a:ext cx="857250" cy="857250"/>
            </a:xfrm>
            <a:prstGeom prst="ellipse">
              <a:avLst/>
            </a:prstGeom>
            <a:solidFill>
              <a:srgbClr val="2196F3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47" name="TextBox 47"/>
            <p:cNvSpPr txBox="1"/>
            <p:nvPr/>
          </p:nvSpPr>
          <p:spPr>
            <a:xfrm>
              <a:off x="6808156" y="4661535"/>
              <a:ext cx="4997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产品F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825102" y="4857274"/>
              <a:ext cx="4658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¥1.8亿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238875" y="2333625"/>
              <a:ext cx="762000" cy="762000"/>
            </a:xfrm>
            <a:prstGeom prst="ellipse">
              <a:avLst/>
            </a:prstGeom>
            <a:solidFill>
              <a:srgbClr val="4CAF50">
                <a:alpha val="90000"/>
              </a:srgbClr>
            </a:solidFill>
            <a:ln>
              <a:noFill/>
            </a:ln>
            <a:effectLst>
              <a:outerShdw blurRad="114300" dist="38100" dir="10799140" algn="t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50" name="TextBox 50"/>
            <p:cNvSpPr txBox="1"/>
            <p:nvPr/>
          </p:nvSpPr>
          <p:spPr>
            <a:xfrm>
              <a:off x="6385623" y="2564606"/>
              <a:ext cx="4685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产品G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86952" y="2742724"/>
              <a:ext cx="4658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¥1.4亿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191750" y="1714500"/>
            <a:ext cx="1619250" cy="2286000"/>
            <a:chOff x="10191750" y="1714500"/>
            <a:chExt cx="1619250" cy="2286000"/>
          </a:xfrm>
        </p:grpSpPr>
        <p:sp>
          <p:nvSpPr>
            <p:cNvPr id="53" name="Rectangle 53"/>
            <p:cNvSpPr/>
            <p:nvPr/>
          </p:nvSpPr>
          <p:spPr>
            <a:xfrm>
              <a:off x="10191750" y="1714500"/>
              <a:ext cx="1619250" cy="2286000"/>
            </a:xfrm>
            <a:prstGeom prst="rect">
              <a:avLst/>
            </a:prstGeom>
            <a:solidFill>
              <a:srgbClr val="FFFFFF">
                <a:alpha val="95000"/>
              </a:srgbClr>
            </a:solidFill>
            <a:ln w="14288">
              <a:solidFill>
                <a:srgbClr val="E0E0E0">
                  <a:alpha val="95000"/>
                </a:srgbClr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642044" y="18788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252F"/>
                  </a:solidFill>
                  <a:latin typeface="Segoe UI"/>
                  <a:ea typeface="Microsoft YaHei"/>
                  <a:cs typeface="Segoe UI"/>
                </a:rPr>
                <a:t>战略建议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10334625" y="2143125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rgbClr val="E0E0E0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10325100" y="2324100"/>
              <a:ext cx="114300" cy="114300"/>
            </a:xfrm>
            <a:prstGeom prst="ellipse">
              <a:avLst/>
            </a:prstGeom>
            <a:solidFill>
              <a:srgbClr val="4CAF50">
                <a:alpha val="90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513695" y="2322195"/>
              <a:ext cx="9682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388E3C"/>
                  </a:solidFill>
                  <a:latin typeface="Segoe UI"/>
                  <a:ea typeface="Microsoft YaHei"/>
                  <a:cs typeface="Segoe UI"/>
                </a:rPr>
                <a:t>明星: 持续投资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10325100" y="2657475"/>
              <a:ext cx="114300" cy="114300"/>
            </a:xfrm>
            <a:prstGeom prst="ellipse">
              <a:avLst/>
            </a:prstGeom>
            <a:solidFill>
              <a:srgbClr val="FF9800">
                <a:alpha val="90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513695" y="2655570"/>
              <a:ext cx="11062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57C00"/>
                  </a:solidFill>
                  <a:latin typeface="Segoe UI"/>
                  <a:ea typeface="Microsoft YaHei"/>
                  <a:cs typeface="Segoe UI"/>
                </a:rPr>
                <a:t>问题: 选择性投资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10325100" y="2990850"/>
              <a:ext cx="114300" cy="114300"/>
            </a:xfrm>
            <a:prstGeom prst="ellipse">
              <a:avLst/>
            </a:prstGeom>
            <a:solidFill>
              <a:srgbClr val="2196F3">
                <a:alpha val="90000"/>
              </a:srgbClr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513695" y="2988945"/>
              <a:ext cx="8302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976D2"/>
                  </a:solidFill>
                  <a:latin typeface="Segoe UI"/>
                  <a:ea typeface="Microsoft YaHei"/>
                  <a:cs typeface="Segoe UI"/>
                </a:rPr>
                <a:t>现金牛: 收割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10325100" y="3324225"/>
              <a:ext cx="114300" cy="114300"/>
            </a:xfrm>
            <a:prstGeom prst="ellipse">
              <a:avLst/>
            </a:prstGeom>
            <a:solidFill>
              <a:srgbClr val="E74C3C">
                <a:alpha val="90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513695" y="3322320"/>
              <a:ext cx="69224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32F2F"/>
                  </a:solidFill>
                  <a:latin typeface="Segoe UI"/>
                  <a:ea typeface="Microsoft YaHei"/>
                  <a:cs typeface="Segoe UI"/>
                </a:rPr>
                <a:t>瘦狗: 撤资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490716" y="3681412"/>
              <a:ext cx="102131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AA0A6"/>
                  </a:solidFill>
                  <a:latin typeface="Segoe UI"/>
                  <a:ea typeface="Microsoft YaHei"/>
                  <a:cs typeface="Segoe UI"/>
                </a:rPr>
                <a:t>气泡大小 = 营收规模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559118" y="6609874"/>
            <a:ext cx="45957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AA0A6"/>
                </a:solidFill>
                <a:latin typeface="Segoe UI"/>
                <a:ea typeface="Microsoft YaHei"/>
                <a:cs typeface="Segoe UI"/>
              </a:rPr>
              <a:t>数据来源: 市场研究部门分析 | Source: Market Research Department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972" y="177641"/>
            <a:ext cx="2144841" cy="472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3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🔍 信号与噪声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523875"/>
            <a:ext cx="952500" cy="2857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711518"/>
            <a:ext cx="76646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1. **推理成本下降 10 倍**：NVIDIA Rubin + 模型优化双重驱动，AI 应用经济性拐点已至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4355" y="1187768"/>
            <a:ext cx="77139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2. **Agent 生态标准化**：MCP + A2A 协议形成事实标准，多 Agent 协作进入生产阶段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355" y="1664018"/>
            <a:ext cx="67774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3. **中国 AI 应用爆发**：豆包破亿、千问 3000 万，AI 从"尝鲜"转向"日常"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4355" y="2140268"/>
            <a:ext cx="58408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4. **ROI 成为核心议题**：95% 试点失败倒逼企业聚焦可验证价值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4355" y="2616518"/>
            <a:ext cx="56437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1. **"AGI imminent"论调**：模型性能趋同但仍未突破根本瓶颈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355" y="3092768"/>
            <a:ext cx="5663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2. **"AI 将取代所有工作"**：2026 年主题是"增强"而非"替代"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4355" y="3569018"/>
            <a:ext cx="62845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3. **"开源模型将闭源"**：阿里通义等开源策略证明生态价值大于封闭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4355" y="4045268"/>
            <a:ext cx="547611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1. **国产 GPU 能否真正替代**：性能接近但生态差距仍需时间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972" y="177641"/>
            <a:ext cx="2144841" cy="472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3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💡 洞察与行动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523875"/>
            <a:ext cx="952500" cy="2857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711518"/>
            <a:ext cx="109376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1. **算力仍是王道，但生态决定胜负**：NVIDIA Rubin 性能无敌，但 Google 的 ADK + A2A 生态可能成为企业 Agent 首选。选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4355" y="1187768"/>
            <a:ext cx="122586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2. **中国 AI 应用进入"人口红利"期**：豆包破亿不是偶然——14 亿人口的数字化基础 + 大厂生态整合，中国可能率先出现 AI 原生超级应用。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355" y="1664018"/>
            <a:ext cx="116474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3. **2026 年是"AI ROI 元年"**：资本耐心耗尽，95% 试点失败倒逼企业从"做什么 AI"转向"AI 带来什么价值"。能证明 ROI 的团队将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4355" y="2140268"/>
            <a:ext cx="49437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- [ ] 评估现有 AI 试点的 ROI，砍掉无法量化价值的项目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4355" y="2616518"/>
            <a:ext cx="44804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- [ ] 研究 MCP/A2A 协议，规划 Agent 互操作架构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355" y="3092768"/>
            <a:ext cx="451985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- [ ] 关注 NVIDIA Rubin 供应链，提前锁定算力资源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4355" y="3569018"/>
            <a:ext cx="34847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- 跟踪 EU AI Act 合规要求（8 月生效）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4355" y="4045268"/>
            <a:ext cx="52493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- 测试 GPT-5.4/Claude 4.6/Gemini 3.1 的 Agent 能力差异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972" y="177641"/>
            <a:ext cx="1788296" cy="472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3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📈 趋势评分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523875"/>
            <a:ext cx="952500" cy="2857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711518"/>
            <a:ext cx="41550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趋势 | 热度 (1-10) | 变化 | 持续性 | 行动建议 |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4355" y="1187768"/>
            <a:ext cx="50522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|------|-------------|------|--------|----------|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355" y="1664018"/>
            <a:ext cx="420438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推理成本下降 | 9 | ↑↑ | 12 月+ | 加速应用部署 |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4355" y="2140268"/>
            <a:ext cx="42832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Agent 标准化 | 8 | ↑↑ | 12 月+ | 采用 MCP/A2A |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4355" y="2616518"/>
            <a:ext cx="45987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中国 AI 应用爆发 | 9 | ↑↑ | 6-12 月 | 关注生态整合 |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355" y="3092768"/>
            <a:ext cx="42438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AI ROI 压力 | 10 | ↑↑↑ | 长期 | 聚焦可验证价值 |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4355" y="3569018"/>
            <a:ext cx="35635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监管收紧 | 7 | ↑ | 长期 | 提前合规布局 |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4355" y="4045268"/>
            <a:ext cx="42931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| 国产算力替代 | 6 | ↑ | 12 月+ | 评估供应链风险 |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972" y="177641"/>
            <a:ext cx="1788296" cy="472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3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🔗 关键链接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523875"/>
            <a:ext cx="952500" cy="2857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711518"/>
            <a:ext cx="85322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1. [NVIDIA Rubin 官方发布](https://nvidianews.nvidia.com/news/rubin-platform-ai-supe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4355" y="1187768"/>
            <a:ext cx="82364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2. [GPT-5.4 vs Claude 4.6 vs Gemini 3.1 对比](https://tech-insider.org/chatgpt-vs-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355" y="1664018"/>
            <a:ext cx="94983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3. [2026 AI 年度策略：大厂链入口争夺战](https://pdf.dfcfw.com/pdf/H3_AP202512151801025472_1.p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4355" y="2140268"/>
            <a:ext cx="87983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4. [Anthropic $3500 亿估值分析](https://entrepreneurloop.com/sequoia-anthropic-fundin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4355" y="2616518"/>
            <a:ext cx="83646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5. [EU AI Act 合规指南](https://askajay.ai/thinking/global-ai-regulation-comparison-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972" y="177641"/>
            <a:ext cx="1788296" cy="472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325" b="1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💎 情报金句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523875"/>
            <a:ext cx="952500" cy="28575"/>
          </a:xfrm>
          <a:prstGeom prst="rect">
            <a:avLst/>
          </a:prstGeom>
          <a:solidFill>
            <a:srgbClr val="1565C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711518"/>
            <a:ext cx="73787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**📊 本期情报来源**：Tavily 高级搜索（6 大领域 30+ 信源）+ 专业研报 + 官方公告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4355" y="1187768"/>
            <a:ext cx="55451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**🔍 分析框架**：PESTEL 宏观分析 + 信号噪声过滤 + 机会雷达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4355" y="1664018"/>
            <a:ext cx="54169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**⏰ 更新时间**：2026 年 4 月 9 日 12:00（Asia/Shanghai）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4355" y="2140268"/>
            <a:ext cx="36030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Arial"/>
                <a:ea typeface="Microsoft YaHei"/>
                <a:cs typeface="Arial"/>
              </a:rPr>
              <a:t>*🫧 零壹情报 · 用外星智慧，解人间难题*</a:t>
            </a:r>
          </a:p>
        </p:txBody>
      </p:sp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37785" y="2533650"/>
            <a:ext cx="191643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1565C0"/>
                </a:solidFill>
                <a:latin typeface="Arial"/>
                <a:ea typeface="Microsoft YaHei"/>
                <a:cs typeface="Arial"/>
              </a:rPr>
              <a:t>感谢收看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07919" y="3457575"/>
            <a:ext cx="35761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Microsoft YaHei"/>
                <a:cs typeface="Arial"/>
              </a:rPr>
              <a:t>零壹情报 · 用外星智慧，解人间难题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