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08660" y="1451610"/>
            <a:ext cx="47118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AI 周度洞察报告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2407920"/>
            <a:ext cx="36888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2026年4月19日 | 第16周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3048000"/>
            <a:ext cx="19050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762000" y="3429000"/>
            <a:ext cx="4381500" cy="366712"/>
            <a:chOff x="762000" y="3429000"/>
            <a:chExt cx="4381500" cy="366712"/>
          </a:xfrm>
        </p:grpSpPr>
        <p:sp>
          <p:nvSpPr>
            <p:cNvPr id="8" name="Freeform 8"/>
            <p:cNvSpPr/>
            <p:nvPr/>
          </p:nvSpPr>
          <p:spPr>
            <a:xfrm>
              <a:off x="762000" y="3429000"/>
              <a:ext cx="1333500" cy="342900"/>
            </a:xfrm>
            <a:custGeom>
              <a:avLst/>
              <a:gdLst/>
              <a:ahLst/>
              <a:cxnLst/>
              <a:rect l="l" t="t" r="r" b="b"/>
              <a:pathLst>
                <a:path w="1333500" h="342900">
                  <a:moveTo>
                    <a:pt x="38100" y="0"/>
                  </a:moveTo>
                  <a:lnTo>
                    <a:pt x="1295400" y="0"/>
                  </a:lnTo>
                  <a:cubicBezTo>
                    <a:pt x="1316442" y="0"/>
                    <a:pt x="1333500" y="17058"/>
                    <a:pt x="1333500" y="38100"/>
                  </a:cubicBezTo>
                  <a:lnTo>
                    <a:pt x="1333500" y="304800"/>
                  </a:lnTo>
                  <a:cubicBezTo>
                    <a:pt x="1333500" y="325842"/>
                    <a:pt x="1316442" y="342900"/>
                    <a:pt x="12954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7553" y="3521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世界模型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6000" y="3429000"/>
              <a:ext cx="1333500" cy="342900"/>
            </a:xfrm>
            <a:custGeom>
              <a:avLst/>
              <a:gdLst/>
              <a:ahLst/>
              <a:cxnLst/>
              <a:rect l="l" t="t" r="r" b="b"/>
              <a:pathLst>
                <a:path w="1333500" h="342900">
                  <a:moveTo>
                    <a:pt x="38100" y="0"/>
                  </a:moveTo>
                  <a:lnTo>
                    <a:pt x="1295400" y="0"/>
                  </a:lnTo>
                  <a:cubicBezTo>
                    <a:pt x="1316442" y="0"/>
                    <a:pt x="1333500" y="17058"/>
                    <a:pt x="1333500" y="38100"/>
                  </a:cubicBezTo>
                  <a:lnTo>
                    <a:pt x="1333500" y="304800"/>
                  </a:lnTo>
                  <a:cubicBezTo>
                    <a:pt x="1333500" y="325842"/>
                    <a:pt x="1316442" y="342900"/>
                    <a:pt x="12954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21553" y="3521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融资狂潮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810000" y="3429000"/>
              <a:ext cx="1333500" cy="342900"/>
            </a:xfrm>
            <a:custGeom>
              <a:avLst/>
              <a:gdLst/>
              <a:ahLst/>
              <a:cxnLst/>
              <a:rect l="l" t="t" r="r" b="b"/>
              <a:pathLst>
                <a:path w="1333500" h="342900">
                  <a:moveTo>
                    <a:pt x="38100" y="0"/>
                  </a:moveTo>
                  <a:lnTo>
                    <a:pt x="1295400" y="0"/>
                  </a:lnTo>
                  <a:cubicBezTo>
                    <a:pt x="1316442" y="0"/>
                    <a:pt x="1333500" y="17058"/>
                    <a:pt x="1333500" y="38100"/>
                  </a:cubicBezTo>
                  <a:lnTo>
                    <a:pt x="1333500" y="304800"/>
                  </a:lnTo>
                  <a:cubicBezTo>
                    <a:pt x="1333500" y="325842"/>
                    <a:pt x="1316442" y="342900"/>
                    <a:pt x="12954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86958" y="3521392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IPO竞速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4191000"/>
            <a:ext cx="5715000" cy="952500"/>
          </a:xfrm>
          <a:custGeom>
            <a:avLst/>
            <a:gdLst/>
            <a:ahLst/>
            <a:cxnLst/>
            <a:rect l="l" t="t" r="r" b="b"/>
            <a:pathLst>
              <a:path w="5715000" h="95250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876300"/>
                </a:lnTo>
                <a:cubicBezTo>
                  <a:pt x="5715000" y="918384"/>
                  <a:pt x="5680884" y="952500"/>
                  <a:pt x="5638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3450" y="44100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本周最大洞察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260" y="472821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2026 Q1 AI 融资达 3000 亿美元，占全球 VC 80%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617315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编辑：零壹情报 | 数据来源：Tavily 搜索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55966" y="6363652"/>
            <a:ext cx="287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1/15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06000" y="1143000"/>
            <a:ext cx="1428750" cy="2762250"/>
            <a:chOff x="9906000" y="1143000"/>
            <a:chExt cx="1428750" cy="2762250"/>
          </a:xfrm>
        </p:grpSpPr>
        <p:sp>
          <p:nvSpPr>
            <p:cNvPr id="20" name="Ellipse 20"/>
            <p:cNvSpPr/>
            <p:nvPr/>
          </p:nvSpPr>
          <p:spPr>
            <a:xfrm>
              <a:off x="9906000" y="1143000"/>
              <a:ext cx="1143000" cy="1143000"/>
            </a:xfrm>
            <a:prstGeom prst="ellipse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001250" y="2381250"/>
              <a:ext cx="762000" cy="762000"/>
            </a:xfrm>
            <a:prstGeom prst="rect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10572750" y="3238500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381000" y="0"/>
                  </a:moveTo>
                  <a:lnTo>
                    <a:pt x="7620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5587">
                <a:alpha val="1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470535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762000" y="1333500"/>
            <a:ext cx="10054971" cy="3124200"/>
            <a:chOff x="762000" y="1333500"/>
            <a:chExt cx="10054971" cy="3124200"/>
          </a:xfrm>
        </p:grpSpPr>
        <p:sp>
          <p:nvSpPr>
            <p:cNvPr id="7" name="Freeform 7"/>
            <p:cNvSpPr/>
            <p:nvPr/>
          </p:nvSpPr>
          <p:spPr>
            <a:xfrm>
              <a:off x="762000" y="1333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" y="0"/>
                  </a:move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342900"/>
                  </a:lnTo>
                  <a:cubicBezTo>
                    <a:pt x="381000" y="363942"/>
                    <a:pt x="363942" y="381000"/>
                    <a:pt x="342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5688" y="145732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0640" y="142494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核心摘要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62260" y="148971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2 页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2000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" y="0"/>
                  </a:move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342900"/>
                  </a:lnTo>
                  <a:cubicBezTo>
                    <a:pt x="381000" y="363942"/>
                    <a:pt x="363942" y="381000"/>
                    <a:pt x="342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6934" y="21240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0640" y="2091690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本周核心动态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62260" y="21564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6 页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667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" y="0"/>
                  </a:move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342900"/>
                  </a:lnTo>
                  <a:cubicBezTo>
                    <a:pt x="381000" y="363942"/>
                    <a:pt x="363942" y="381000"/>
                    <a:pt x="342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6934" y="2790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0640" y="275844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趋势洞察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62260" y="282321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2 页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3333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" y="0"/>
                  </a:move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342900"/>
                  </a:lnTo>
                  <a:cubicBezTo>
                    <a:pt x="381000" y="363942"/>
                    <a:pt x="363942" y="381000"/>
                    <a:pt x="342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6934" y="34575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0640" y="342519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机会矩阵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62260" y="3489960"/>
              <a:ext cx="3108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1 页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4000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" y="0"/>
                  </a:move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342900"/>
                  </a:lnTo>
                  <a:cubicBezTo>
                    <a:pt x="381000" y="363942"/>
                    <a:pt x="363942" y="381000"/>
                    <a:pt x="342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934" y="41243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10640" y="409194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行动建议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62260" y="4156710"/>
              <a:ext cx="3108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1 页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762000" y="49530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876300"/>
                </a:lnTo>
                <a:cubicBezTo>
                  <a:pt x="10668000" y="918384"/>
                  <a:pt x="10633884" y="952500"/>
                  <a:pt x="10591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37260" y="5109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本周覆盖维度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9165" y="5506402"/>
            <a:ext cx="8390430" cy="213360"/>
            <a:chOff x="939165" y="5506402"/>
            <a:chExt cx="8390430" cy="213360"/>
          </a:xfrm>
        </p:grpSpPr>
        <p:sp>
          <p:nvSpPr>
            <p:cNvPr id="30" name="TextBox 30"/>
            <p:cNvSpPr txBox="1"/>
            <p:nvPr/>
          </p:nvSpPr>
          <p:spPr>
            <a:xfrm>
              <a:off x="939165" y="550640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🧠 大模型动态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3665" y="55064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🇨🇳 中国厂商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77665" y="55064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🇺🇸 美国厂商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1665" y="55064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📜 政策监管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5665" y="5506402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💰 投融资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59165" y="55064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🔬 技术突破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2/15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4705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核心摘要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02018"/>
            <a:ext cx="1917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本周核心亮点（3条）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238250"/>
            <a:ext cx="952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10668000" cy="1238250"/>
          </a:xfrm>
          <a:custGeom>
            <a:avLst/>
            <a:gdLst/>
            <a:ahLst/>
            <a:cxnLst/>
            <a:rect l="l" t="t" r="r" b="b"/>
            <a:pathLst>
              <a:path w="10668000" h="12382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162050"/>
                </a:lnTo>
                <a:cubicBezTo>
                  <a:pt x="10668000" y="1204134"/>
                  <a:pt x="10633884" y="1238250"/>
                  <a:pt x="10591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904875" y="1905000"/>
            <a:ext cx="476250" cy="47625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78735" y="2025015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4950" y="1743075"/>
            <a:ext cx="39025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 Q1 AI 融资创纪录达 3000 亿美元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8760" y="2061210"/>
            <a:ext cx="53671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占全球创投资金 80%，OpenAI 1220亿、Anthropic 300亿、xAI 200亿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0665" y="2363152"/>
            <a:ext cx="1934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→ 资本向头部集中趋势加剧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2952750"/>
            <a:ext cx="10668000" cy="1238250"/>
          </a:xfrm>
          <a:custGeom>
            <a:avLst/>
            <a:gdLst/>
            <a:ahLst/>
            <a:cxnLst/>
            <a:rect l="l" t="t" r="r" b="b"/>
            <a:pathLst>
              <a:path w="10668000" h="12382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162050"/>
                </a:lnTo>
                <a:cubicBezTo>
                  <a:pt x="10668000" y="1204134"/>
                  <a:pt x="10633884" y="1238250"/>
                  <a:pt x="10591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04875" y="3333750"/>
            <a:ext cx="476250" cy="47625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44231" y="345376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4950" y="3171825"/>
            <a:ext cx="2798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世界模型成为 AGI 共识方向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8760" y="3489960"/>
            <a:ext cx="44470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智源研究院定义：训练范式从"预测词"升级为"预测状态"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0665" y="3791902"/>
            <a:ext cx="2256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→ 腾讯、阿里同日发布世界模型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" y="4381500"/>
            <a:ext cx="10668000" cy="1238250"/>
          </a:xfrm>
          <a:custGeom>
            <a:avLst/>
            <a:gdLst/>
            <a:ahLst/>
            <a:cxnLst/>
            <a:rect l="l" t="t" r="r" b="b"/>
            <a:pathLst>
              <a:path w="10668000" h="12382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162050"/>
                </a:lnTo>
                <a:cubicBezTo>
                  <a:pt x="10668000" y="1204134"/>
                  <a:pt x="10633884" y="1238250"/>
                  <a:pt x="10591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19050">
            <a:solidFill>
              <a:srgbClr val="5D6D7E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04875" y="4762500"/>
            <a:ext cx="476250" cy="476250"/>
          </a:xfrm>
          <a:prstGeom prst="ellipse">
            <a:avLst/>
          </a:prstGeom>
          <a:solidFill>
            <a:srgbClr val="5D6D7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44231" y="488251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4950" y="4600575"/>
            <a:ext cx="28444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中国大模型 IPO 竞速白热化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8760" y="4918710"/>
            <a:ext cx="47625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月之暗面估值 180 亿美元冲刺港股，阶跃星辰目标 100 亿美元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0665" y="5220652"/>
            <a:ext cx="3520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→ 智谱、MiniMax 已上市，市值均超 3000 亿港元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3/15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4705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核心摘要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02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关键趋势提示与核心结论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238250"/>
            <a:ext cx="952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10668000" cy="1428750"/>
          </a:xfrm>
          <a:custGeom>
            <a:avLst/>
            <a:gdLst/>
            <a:ahLst/>
            <a:cxnLst/>
            <a:rect l="l" t="t" r="r" b="b"/>
            <a:pathLst>
              <a:path w="10668000" h="14287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352550"/>
                </a:lnTo>
                <a:cubicBezTo>
                  <a:pt x="10668000" y="1394634"/>
                  <a:pt x="10633884" y="1428750"/>
                  <a:pt x="10591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E74C3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3450" y="1743075"/>
            <a:ext cx="174031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⚠️ 关键趋势提示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355" y="2140268"/>
            <a:ext cx="34255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云厂商从"卖资源"向"卖能力"转型加速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260" y="25374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阿里云上调价格 2-7%、腾讯云上调 5%，算力供需关系发生根本性逆转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3238500"/>
            <a:ext cx="10668000" cy="1714500"/>
          </a:xfrm>
          <a:custGeom>
            <a:avLst/>
            <a:gdLst/>
            <a:ahLst/>
            <a:cxnLst/>
            <a:rect l="l" t="t" r="r" b="b"/>
            <a:pathLst>
              <a:path w="10668000" h="1714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638300"/>
                </a:lnTo>
                <a:cubicBezTo>
                  <a:pt x="10668000" y="1680384"/>
                  <a:pt x="10633884" y="1714500"/>
                  <a:pt x="10591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3450" y="345757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🎯 核心结论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5355" y="3854768"/>
            <a:ext cx="3357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 年 AI 行业进入"去伪存真"阶段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7260" y="4251960"/>
            <a:ext cx="4911471" cy="529590"/>
            <a:chOff x="937260" y="4251960"/>
            <a:chExt cx="4911471" cy="529590"/>
          </a:xfrm>
        </p:grpSpPr>
        <p:sp>
          <p:nvSpPr>
            <p:cNvPr id="15" name="TextBox 15"/>
            <p:cNvSpPr txBox="1"/>
            <p:nvPr/>
          </p:nvSpPr>
          <p:spPr>
            <a:xfrm>
              <a:off x="937260" y="4251960"/>
              <a:ext cx="4911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资本和资源向具备全栈能力和清晰商业化路径的头部企业集中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4537710"/>
              <a:ext cx="33341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垂直应用和基础设施两端迎来黄金窗口期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5238750"/>
            <a:ext cx="7524750" cy="762000"/>
            <a:chOff x="762000" y="5238750"/>
            <a:chExt cx="7524750" cy="762000"/>
          </a:xfrm>
        </p:grpSpPr>
        <p:sp>
          <p:nvSpPr>
            <p:cNvPr id="18" name="Freeform 18"/>
            <p:cNvSpPr/>
            <p:nvPr/>
          </p:nvSpPr>
          <p:spPr>
            <a:xfrm>
              <a:off x="762000" y="523875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685800"/>
                  </a:lnTo>
                  <a:cubicBezTo>
                    <a:pt x="2381250" y="727884"/>
                    <a:pt x="2347134" y="762000"/>
                    <a:pt x="230505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33271" y="5313045"/>
              <a:ext cx="123870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3000亿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4189" y="574452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D4E8"/>
                  </a:solidFill>
                  <a:latin typeface="Arial"/>
                  <a:ea typeface="Microsoft YaHei"/>
                  <a:cs typeface="Arial"/>
                </a:rPr>
                <a:t>Q1 AI 融资总额（美元）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333750" y="523875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685800"/>
                  </a:lnTo>
                  <a:cubicBezTo>
                    <a:pt x="2381250" y="727884"/>
                    <a:pt x="2347134" y="762000"/>
                    <a:pt x="230505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90257" y="5313045"/>
              <a:ext cx="668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74306" y="5744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8D7DA"/>
                  </a:solidFill>
                  <a:latin typeface="Arial"/>
                  <a:ea typeface="Microsoft YaHei"/>
                  <a:cs typeface="Arial"/>
                </a:rPr>
                <a:t>占全球创投比例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905500" y="523875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685800"/>
                  </a:lnTo>
                  <a:cubicBezTo>
                    <a:pt x="2381250" y="727884"/>
                    <a:pt x="2347134" y="762000"/>
                    <a:pt x="230505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3990" y="5313045"/>
              <a:ext cx="9442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180亿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6028" y="5744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5D8DC"/>
                  </a:solidFill>
                  <a:latin typeface="Arial"/>
                  <a:ea typeface="Microsoft YaHei"/>
                  <a:cs typeface="Arial"/>
                </a:rPr>
                <a:t>月之暗面估值（美元）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4/15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大模型动态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828800"/>
                </a:lnTo>
                <a:cubicBezTo>
                  <a:pt x="5143500" y="1870884"/>
                  <a:pt x="5109384" y="1905000"/>
                  <a:pt x="5067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76200" cy="19050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5355" y="1092518"/>
            <a:ext cx="17733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智谱 GLM-5.1 开源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9165" y="1410652"/>
            <a:ext cx="2955703" cy="927736"/>
            <a:chOff x="939165" y="1410652"/>
            <a:chExt cx="2955703" cy="927736"/>
          </a:xfrm>
        </p:grpSpPr>
        <p:sp>
          <p:nvSpPr>
            <p:cNvPr id="10" name="TextBox 10"/>
            <p:cNvSpPr txBox="1"/>
            <p:nvPr/>
          </p:nvSpPr>
          <p:spPr>
            <a:xfrm>
              <a:off x="939165" y="14106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全球首个 8 小时持续工作能力开源模型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1648778"/>
              <a:ext cx="2825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SWE-bench Pro 超越 Claude Opus 4.6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1886902"/>
              <a:ext cx="29557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Coding 场景价格接近 Claude Sonnet 4.6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2125028"/>
              <a:ext cx="2564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OpenRouter 监测显示全线提价 10%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952500" y="24765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28600"/>
                </a:lnTo>
                <a:cubicBezTo>
                  <a:pt x="762000" y="249642"/>
                  <a:pt x="744942" y="266700"/>
                  <a:pt x="723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59180" y="2569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国产领先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95250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828800"/>
                </a:lnTo>
                <a:cubicBezTo>
                  <a:pt x="5143500" y="1870884"/>
                  <a:pt x="5109384" y="1905000"/>
                  <a:pt x="5067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952500"/>
            <a:ext cx="76200" cy="1905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59855" y="1092518"/>
            <a:ext cx="25496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微软发布 3 款自研基础模型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63665" y="1410652"/>
            <a:ext cx="3185732" cy="927736"/>
            <a:chOff x="6463665" y="1410652"/>
            <a:chExt cx="3185732" cy="927736"/>
          </a:xfrm>
        </p:grpSpPr>
        <p:sp>
          <p:nvSpPr>
            <p:cNvPr id="20" name="TextBox 20"/>
            <p:cNvSpPr txBox="1"/>
            <p:nvPr/>
          </p:nvSpPr>
          <p:spPr>
            <a:xfrm>
              <a:off x="6463665" y="141065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MAI-Transcribe-1（语音转写）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665" y="1648778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MAI-Voice-1（语音生成）$22/百万字符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88690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MAI-Image-2（图像生成）$5/百万Token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2125028"/>
              <a:ext cx="3185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Microsoft AI CEO 表示要实现"AI 自给自足"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477000" y="24765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28600"/>
                </a:lnTo>
                <a:cubicBezTo>
                  <a:pt x="762000" y="249642"/>
                  <a:pt x="744942" y="266700"/>
                  <a:pt x="723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96371" y="2569845"/>
            <a:ext cx="923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与 OpenAI 竞争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3048000"/>
            <a:ext cx="10668000" cy="1714500"/>
          </a:xfrm>
          <a:custGeom>
            <a:avLst/>
            <a:gdLst/>
            <a:ahLst/>
            <a:cxnLst/>
            <a:rect l="l" t="t" r="r" b="b"/>
            <a:pathLst>
              <a:path w="10668000" h="1714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638300"/>
                </a:lnTo>
                <a:cubicBezTo>
                  <a:pt x="10668000" y="1680384"/>
                  <a:pt x="10633884" y="1714500"/>
                  <a:pt x="10591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35355" y="3188018"/>
            <a:ext cx="5354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OpenAI 发布 GPT-5.4，Anthropic 发布 Claude Opus 4.7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9165" y="3553778"/>
            <a:ext cx="3684127" cy="784860"/>
            <a:chOff x="939165" y="3553778"/>
            <a:chExt cx="3684127" cy="784860"/>
          </a:xfrm>
        </p:grpSpPr>
        <p:sp>
          <p:nvSpPr>
            <p:cNvPr id="29" name="TextBox 29"/>
            <p:cNvSpPr txBox="1"/>
            <p:nvPr/>
          </p:nvSpPr>
          <p:spPr>
            <a:xfrm>
              <a:off x="939165" y="3553778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同日发布新模型，模型大战持续升级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38395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GPT-5.4 复杂推理能力提升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165" y="4125278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Claude Opus 4.7 引入安全机制自动检测高风险请求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762000" y="49530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876300"/>
                </a:lnTo>
                <a:cubicBezTo>
                  <a:pt x="10668000" y="918384"/>
                  <a:pt x="10633884" y="952500"/>
                  <a:pt x="10591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9525">
            <a:solidFill>
              <a:srgbClr val="E74C3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165" y="5125402"/>
            <a:ext cx="3061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🧠 模型大战升级：从参数竞赛转向能力竞争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9165" y="5411152"/>
            <a:ext cx="47805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国产模型首次在真实工程任务中验证持续工作能力，价格对齐国际头部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5/15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280290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中国厂商 AI 动态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5355" y="1092518"/>
            <a:ext cx="2943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火山引擎 MaaS 市场份额 49.2%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0118" y="1418749"/>
            <a:ext cx="2474024" cy="674370"/>
            <a:chOff x="940118" y="1418749"/>
            <a:chExt cx="2474024" cy="674370"/>
          </a:xfrm>
        </p:grpSpPr>
        <p:sp>
          <p:nvSpPr>
            <p:cNvPr id="9" name="TextBox 9"/>
            <p:cNvSpPr txBox="1"/>
            <p:nvPr/>
          </p:nvSpPr>
          <p:spPr>
            <a:xfrm>
              <a:off x="940118" y="1418749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豆包日均 Token 使用量突破 120 万亿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118" y="1656874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字节 2026 年资本支出预计 1600 亿元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18949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登陆春晚展示技术实力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952500" y="2190750"/>
            <a:ext cx="666750" cy="247650"/>
          </a:xfrm>
          <a:custGeom>
            <a:avLst/>
            <a:gdLst/>
            <a:ahLst/>
            <a:cxnLst/>
            <a:rect l="l" t="t" r="r" b="b"/>
            <a:pathLst>
              <a:path w="666750" h="24765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209550"/>
                </a:lnTo>
                <a:cubicBezTo>
                  <a:pt x="666750" y="230592"/>
                  <a:pt x="649692" y="247650"/>
                  <a:pt x="62865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34415" y="22921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中国第一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95250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59855" y="1092518"/>
            <a:ext cx="34295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阿里云目标：拿下 AI 云市场增量 80%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464618" y="1418749"/>
            <a:ext cx="2174986" cy="674370"/>
            <a:chOff x="6464618" y="1418749"/>
            <a:chExt cx="2174986" cy="674370"/>
          </a:xfrm>
        </p:grpSpPr>
        <p:sp>
          <p:nvSpPr>
            <p:cNvPr id="17" name="TextBox 17"/>
            <p:cNvSpPr txBox="1"/>
            <p:nvPr/>
          </p:nvSpPr>
          <p:spPr>
            <a:xfrm>
              <a:off x="6464618" y="141874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未来三年面向 AI 投入 3800 亿元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4618" y="165687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通义千问全球下载量突破 6 亿次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4618" y="1894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成为全球第二大开源势力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6477000" y="2190750"/>
            <a:ext cx="666750" cy="247650"/>
          </a:xfrm>
          <a:custGeom>
            <a:avLst/>
            <a:gdLst/>
            <a:ahLst/>
            <a:cxnLst/>
            <a:rect l="l" t="t" r="r" b="b"/>
            <a:pathLst>
              <a:path w="666750" h="24765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209550"/>
                </a:lnTo>
                <a:cubicBezTo>
                  <a:pt x="666750" y="230592"/>
                  <a:pt x="649692" y="247650"/>
                  <a:pt x="62865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58915" y="22921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全球第二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276225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35355" y="2902268"/>
            <a:ext cx="20838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月之暗面冲刺港股 IPO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0118" y="3228499"/>
            <a:ext cx="2032587" cy="674370"/>
            <a:chOff x="940118" y="3228499"/>
            <a:chExt cx="2032587" cy="674370"/>
          </a:xfrm>
        </p:grpSpPr>
        <p:sp>
          <p:nvSpPr>
            <p:cNvPr id="25" name="TextBox 25"/>
            <p:cNvSpPr txBox="1"/>
            <p:nvPr/>
          </p:nvSpPr>
          <p:spPr>
            <a:xfrm>
              <a:off x="940118" y="32284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估值 180 亿美元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3466624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Kimi K2.5 全球模型排名第八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7047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海外 API 收入月度增长超 170%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952500" y="4000500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09550"/>
                </a:lnTo>
                <a:cubicBezTo>
                  <a:pt x="762000" y="230592"/>
                  <a:pt x="744942" y="247650"/>
                  <a:pt x="723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06138" y="4101941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冲刺IPO</a:t>
            </a:r>
          </a:p>
        </p:txBody>
      </p:sp>
      <p:sp>
        <p:nvSpPr>
          <p:cNvPr id="31" name="Freeform 31"/>
          <p:cNvSpPr/>
          <p:nvPr/>
        </p:nvSpPr>
        <p:spPr>
          <a:xfrm>
            <a:off x="6286500" y="276225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459855" y="29022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阶跃星辰拆除 VIE 架构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64618" y="3228499"/>
            <a:ext cx="2858500" cy="674370"/>
            <a:chOff x="6464618" y="3228499"/>
            <a:chExt cx="2858500" cy="674370"/>
          </a:xfrm>
        </p:grpSpPr>
        <p:sp>
          <p:nvSpPr>
            <p:cNvPr id="33" name="TextBox 33"/>
            <p:cNvSpPr txBox="1"/>
            <p:nvPr/>
          </p:nvSpPr>
          <p:spPr>
            <a:xfrm>
              <a:off x="6464618" y="32284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目标估值 100 亿美元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4618" y="3466624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2025 年营收约 5 亿元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618" y="3704749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与 60% 头部品牌合作，装机量超 4200 万台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6477000" y="4000500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09550"/>
                </a:lnTo>
                <a:cubicBezTo>
                  <a:pt x="762000" y="230592"/>
                  <a:pt x="744942" y="247650"/>
                  <a:pt x="723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06540" y="41019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目标上市</a:t>
            </a:r>
          </a:p>
        </p:txBody>
      </p:sp>
      <p:sp>
        <p:nvSpPr>
          <p:cNvPr id="39" name="Freeform 39"/>
          <p:cNvSpPr/>
          <p:nvPr/>
        </p:nvSpPr>
        <p:spPr>
          <a:xfrm>
            <a:off x="762000" y="457200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066800"/>
                </a:lnTo>
                <a:cubicBezTo>
                  <a:pt x="10668000" y="1108884"/>
                  <a:pt x="10633884" y="1143000"/>
                  <a:pt x="10591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9525">
            <a:solidFill>
              <a:srgbClr val="5D6D7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7260" y="4728210"/>
            <a:ext cx="19811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🇨🇳 中国大模型 IPO 竞速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39165" y="5077778"/>
            <a:ext cx="5025961" cy="499110"/>
            <a:chOff x="939165" y="5077778"/>
            <a:chExt cx="5025961" cy="499110"/>
          </a:xfrm>
        </p:grpSpPr>
        <p:sp>
          <p:nvSpPr>
            <p:cNvPr id="41" name="TextBox 41"/>
            <p:cNvSpPr txBox="1"/>
            <p:nvPr/>
          </p:nvSpPr>
          <p:spPr>
            <a:xfrm>
              <a:off x="939165" y="5077778"/>
              <a:ext cx="4098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智谱上市市值 4227 亿港元 | MiniMax 上市市值 2983 亿港元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9165" y="5363528"/>
              <a:ext cx="5025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月之暗面（180亿估值）vs 阶跃星辰（100亿目标）→ "中国 AI 第三股"争夺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6/15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280290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美国厂商 AI 动态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6667500" cy="2095500"/>
          </a:xfrm>
          <a:custGeom>
            <a:avLst/>
            <a:gdLst/>
            <a:ahLst/>
            <a:cxnLst/>
            <a:rect l="l" t="t" r="r" b="b"/>
            <a:pathLst>
              <a:path w="6667500" h="2095500">
                <a:moveTo>
                  <a:pt x="76200" y="0"/>
                </a:moveTo>
                <a:lnTo>
                  <a:pt x="6591300" y="0"/>
                </a:lnTo>
                <a:cubicBezTo>
                  <a:pt x="6633384" y="0"/>
                  <a:pt x="6667500" y="34116"/>
                  <a:pt x="6667500" y="76200"/>
                </a:cubicBezTo>
                <a:lnTo>
                  <a:pt x="6667500" y="2019300"/>
                </a:lnTo>
                <a:cubicBezTo>
                  <a:pt x="6667500" y="2061384"/>
                  <a:pt x="6633384" y="2095500"/>
                  <a:pt x="65913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1545" y="1060132"/>
            <a:ext cx="335662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OpenAI 完成 1220 亿美元融资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6780" y="1183005"/>
            <a:ext cx="494964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估值达 8520 亿美元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9165" y="1839278"/>
            <a:ext cx="4550569" cy="927734"/>
            <a:chOff x="939165" y="1839278"/>
            <a:chExt cx="4550569" cy="927734"/>
          </a:xfrm>
        </p:grpSpPr>
        <p:sp>
          <p:nvSpPr>
            <p:cNvPr id="10" name="TextBox 10"/>
            <p:cNvSpPr txBox="1"/>
            <p:nvPr/>
          </p:nvSpPr>
          <p:spPr>
            <a:xfrm>
              <a:off x="939165" y="1839278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历史最大融资纪录（2026年4月1日）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2077402"/>
              <a:ext cx="455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Amazon（500亿）、Nvidia（300亿）、SoftBank（300亿）领投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315528"/>
              <a:ext cx="3017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月营收达 20 亿美元，企业营收占比超 40%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2553652"/>
              <a:ext cx="3607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开始使用 Amazon Trainium 芯片，减少对微软依赖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810500" y="952500"/>
            <a:ext cx="3619500" cy="2095500"/>
          </a:xfrm>
          <a:custGeom>
            <a:avLst/>
            <a:gdLst/>
            <a:ahLst/>
            <a:cxnLst/>
            <a:rect l="l" t="t" r="r" b="b"/>
            <a:pathLst>
              <a:path w="3619500" h="20955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2019300"/>
                </a:lnTo>
                <a:cubicBezTo>
                  <a:pt x="3619500" y="2061384"/>
                  <a:pt x="3585384" y="2095500"/>
                  <a:pt x="35433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983855" y="1092518"/>
            <a:ext cx="2415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Anthropic 300亿美元 G轮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6710" y="1327785"/>
            <a:ext cx="23458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估值 3800亿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88618" y="1894999"/>
            <a:ext cx="1804749" cy="436245"/>
            <a:chOff x="7988618" y="1894999"/>
            <a:chExt cx="1804749" cy="436245"/>
          </a:xfrm>
        </p:grpSpPr>
        <p:sp>
          <p:nvSpPr>
            <p:cNvPr id="18" name="TextBox 18"/>
            <p:cNvSpPr txBox="1"/>
            <p:nvPr/>
          </p:nvSpPr>
          <p:spPr>
            <a:xfrm>
              <a:off x="7988618" y="18949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AI 领域最大单笔融资之一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8618" y="2133124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持续获得 Google 算力支持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762000" y="3238500"/>
            <a:ext cx="10668000" cy="1428750"/>
          </a:xfrm>
          <a:custGeom>
            <a:avLst/>
            <a:gdLst/>
            <a:ahLst/>
            <a:cxnLst/>
            <a:rect l="l" t="t" r="r" b="b"/>
            <a:pathLst>
              <a:path w="10668000" h="14287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352550"/>
                </a:lnTo>
                <a:cubicBezTo>
                  <a:pt x="10668000" y="1394634"/>
                  <a:pt x="10633884" y="1428750"/>
                  <a:pt x="10591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19050">
            <a:solidFill>
              <a:srgbClr val="5D6D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5355" y="3378518"/>
            <a:ext cx="2415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⚡ OpenAI 加速"去微软化"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39165" y="3744278"/>
            <a:ext cx="3676459" cy="784860"/>
            <a:chOff x="939165" y="3744278"/>
            <a:chExt cx="3676459" cy="784860"/>
          </a:xfrm>
        </p:grpSpPr>
        <p:sp>
          <p:nvSpPr>
            <p:cNvPr id="23" name="TextBox 23"/>
            <p:cNvSpPr txBox="1"/>
            <p:nvPr/>
          </p:nvSpPr>
          <p:spPr>
            <a:xfrm>
              <a:off x="939165" y="3744278"/>
              <a:ext cx="3392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内部备忘录：微软"限制了我们的客户触达能力"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4030028"/>
              <a:ext cx="3293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正加强与 Amazon 联盟，减少对 Azure 的依赖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9165" y="4315778"/>
              <a:ext cx="36764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xAI 完成 200 亿美元 Series E，估值超 2000 亿美元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762000" y="485775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876300"/>
                </a:lnTo>
                <a:cubicBezTo>
                  <a:pt x="10668000" y="918384"/>
                  <a:pt x="10633884" y="952500"/>
                  <a:pt x="10591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E74C3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39165" y="5030152"/>
            <a:ext cx="12906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💰 资本寡头化加剧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315902"/>
            <a:ext cx="63831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仅 OpenAI（1220亿）+ Anthropic（300亿）+ xAI（200亿）= 1720 亿美元，占 Q1 AI 融资 57%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7/15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6317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技术突破：世界模型成为 AGI 共识方向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257300"/>
                </a:lnTo>
                <a:cubicBezTo>
                  <a:pt x="10668000" y="1299384"/>
                  <a:pt x="10633884" y="1333500"/>
                  <a:pt x="10591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3450" y="1076325"/>
            <a:ext cx="32585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智源研究院定义：训练范式升级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355" y="1425892"/>
            <a:ext cx="4155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从"Next-Token Prediction"（预测下一个词）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355" y="1759268"/>
            <a:ext cx="47441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→ 转向"Next-State Prediction"（预测下一状态）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2029778"/>
            <a:ext cx="3898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AI 不再只会"码字作图"，而是能理解物理规律、时空关系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2476500"/>
            <a:ext cx="5143500" cy="1714500"/>
          </a:xfrm>
          <a:custGeom>
            <a:avLst/>
            <a:gdLst/>
            <a:ahLst/>
            <a:cxnLst/>
            <a:rect l="l" t="t" r="r" b="b"/>
            <a:pathLst>
              <a:path w="5143500" h="1714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638300"/>
                </a:lnTo>
                <a:cubicBezTo>
                  <a:pt x="5143500" y="1680384"/>
                  <a:pt x="5109384" y="1714500"/>
                  <a:pt x="50673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62000" y="2476500"/>
            <a:ext cx="76200" cy="17145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5355" y="2616518"/>
            <a:ext cx="24461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腾讯混元 3D 世界模型 2.0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0118" y="2942749"/>
            <a:ext cx="2096667" cy="674370"/>
            <a:chOff x="940118" y="2942749"/>
            <a:chExt cx="2096667" cy="674370"/>
          </a:xfrm>
        </p:grpSpPr>
        <p:sp>
          <p:nvSpPr>
            <p:cNvPr id="15" name="TextBox 15"/>
            <p:cNvSpPr txBox="1"/>
            <p:nvPr/>
          </p:nvSpPr>
          <p:spPr>
            <a:xfrm>
              <a:off x="940118" y="2942749"/>
              <a:ext cx="20966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直接生成可二次编辑的 3D 资产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0118" y="3180874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支持格式：Mesh、3DGS、点云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0118" y="34189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应用：游戏、影视、机器人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52500" y="3762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09550"/>
                </a:lnTo>
                <a:cubicBezTo>
                  <a:pt x="762000" y="230592"/>
                  <a:pt x="744942" y="247650"/>
                  <a:pt x="723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82040" y="3863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同日发布</a:t>
            </a:r>
          </a:p>
        </p:txBody>
      </p:sp>
      <p:sp>
        <p:nvSpPr>
          <p:cNvPr id="21" name="Freeform 21"/>
          <p:cNvSpPr/>
          <p:nvPr/>
        </p:nvSpPr>
        <p:spPr>
          <a:xfrm>
            <a:off x="6286500" y="2476500"/>
            <a:ext cx="5143500" cy="1714500"/>
          </a:xfrm>
          <a:custGeom>
            <a:avLst/>
            <a:gdLst/>
            <a:ahLst/>
            <a:cxnLst/>
            <a:rect l="l" t="t" r="r" b="b"/>
            <a:pathLst>
              <a:path w="5143500" h="1714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638300"/>
                </a:lnTo>
                <a:cubicBezTo>
                  <a:pt x="5143500" y="1680384"/>
                  <a:pt x="5109384" y="1714500"/>
                  <a:pt x="50673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2476500"/>
            <a:ext cx="76200" cy="17145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59855" y="2616518"/>
            <a:ext cx="27566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阿里 Happy Oyster 世界模型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464618" y="2942749"/>
            <a:ext cx="2281785" cy="674370"/>
            <a:chOff x="6464618" y="2942749"/>
            <a:chExt cx="2281785" cy="674370"/>
          </a:xfrm>
        </p:grpSpPr>
        <p:sp>
          <p:nvSpPr>
            <p:cNvPr id="24" name="TextBox 24"/>
            <p:cNvSpPr txBox="1"/>
            <p:nvPr/>
          </p:nvSpPr>
          <p:spPr>
            <a:xfrm>
              <a:off x="6464618" y="29427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基于原生多模态架构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3180874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支持多模态理解与音视频联合生成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34189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应用：具身智能、自动驾驶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6477000" y="3762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09550"/>
                </a:lnTo>
                <a:cubicBezTo>
                  <a:pt x="762000" y="230592"/>
                  <a:pt x="744942" y="247650"/>
                  <a:pt x="723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06540" y="3863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同日发布</a:t>
            </a:r>
          </a:p>
        </p:txBody>
      </p:sp>
      <p:sp>
        <p:nvSpPr>
          <p:cNvPr id="30" name="Freeform 30"/>
          <p:cNvSpPr/>
          <p:nvPr/>
        </p:nvSpPr>
        <p:spPr>
          <a:xfrm>
            <a:off x="762000" y="438150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257300"/>
                </a:lnTo>
                <a:cubicBezTo>
                  <a:pt x="10668000" y="1299384"/>
                  <a:pt x="10633884" y="1333500"/>
                  <a:pt x="10591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9525">
            <a:solidFill>
              <a:srgbClr val="E74C3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37260" y="4537710"/>
            <a:ext cx="922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🎯 商业影响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9165" y="4839652"/>
            <a:ext cx="3960162" cy="784860"/>
            <a:chOff x="939165" y="4839652"/>
            <a:chExt cx="3960162" cy="784860"/>
          </a:xfrm>
        </p:grpSpPr>
        <p:sp>
          <p:nvSpPr>
            <p:cNvPr id="32" name="TextBox 32"/>
            <p:cNvSpPr txBox="1"/>
            <p:nvPr/>
          </p:nvSpPr>
          <p:spPr>
            <a:xfrm>
              <a:off x="939165" y="4839652"/>
              <a:ext cx="3960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市场规模：世界模型相关投资 2026 年有望突破百亿美元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9165" y="5125402"/>
              <a:ext cx="325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竞争格局：从"模型参数"转向"物理理解能力"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165" y="5411152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时间窗口：2026-2027 是关键落地期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8/15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趋势洞察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10668000" cy="1524000"/>
          </a:xfrm>
          <a:custGeom>
            <a:avLst/>
            <a:gdLst/>
            <a:ahLst/>
            <a:cxnLst/>
            <a:rect l="l" t="t" r="r" b="b"/>
            <a:pathLst>
              <a:path w="10668000" h="1524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447800"/>
                </a:lnTo>
                <a:cubicBezTo>
                  <a:pt x="10668000" y="1489884"/>
                  <a:pt x="10633884" y="1524000"/>
                  <a:pt x="10591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8" name="Ellipse 8"/>
          <p:cNvSpPr/>
          <p:nvPr/>
        </p:nvSpPr>
        <p:spPr>
          <a:xfrm>
            <a:off x="857250" y="1428750"/>
            <a:ext cx="571500" cy="571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735" y="159639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0200" y="1123950"/>
            <a:ext cx="37875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世界模型——从"语言"迈向"物理智能"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05915" y="1458278"/>
            <a:ext cx="3530775" cy="689610"/>
            <a:chOff x="1605915" y="1458278"/>
            <a:chExt cx="3530775" cy="689610"/>
          </a:xfrm>
        </p:grpSpPr>
        <p:sp>
          <p:nvSpPr>
            <p:cNvPr id="11" name="TextBox 11"/>
            <p:cNvSpPr txBox="1"/>
            <p:nvPr/>
          </p:nvSpPr>
          <p:spPr>
            <a:xfrm>
              <a:off x="1605915" y="1458278"/>
              <a:ext cx="2641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训练目标从"预测词"转向"预测状态"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5915" y="169640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应用：具身智能、机器人、自动驾驶、游戏、影视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5915" y="1934528"/>
              <a:ext cx="28023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时间窗口：2026-2027 年是关键落地期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19250" y="2190750"/>
            <a:ext cx="952500" cy="190500"/>
          </a:xfrm>
          <a:custGeom>
            <a:avLst/>
            <a:gdLst/>
            <a:ahLst/>
            <a:cxnLst/>
            <a:rect l="l" t="t" r="r" b="b"/>
            <a:pathLst>
              <a:path w="952500" h="190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152400"/>
                </a:lnTo>
                <a:cubicBezTo>
                  <a:pt x="952500" y="173442"/>
                  <a:pt x="935442" y="190500"/>
                  <a:pt x="914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853077" y="2244566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强信号 ✅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667000"/>
            <a:ext cx="10668000" cy="1524000"/>
          </a:xfrm>
          <a:custGeom>
            <a:avLst/>
            <a:gdLst/>
            <a:ahLst/>
            <a:cxnLst/>
            <a:rect l="l" t="t" r="r" b="b"/>
            <a:pathLst>
              <a:path w="10668000" h="1524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447800"/>
                </a:lnTo>
                <a:cubicBezTo>
                  <a:pt x="10668000" y="1489884"/>
                  <a:pt x="10633884" y="1524000"/>
                  <a:pt x="10591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57250" y="3143250"/>
            <a:ext cx="571500" cy="57150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44231" y="331089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0200" y="2838450"/>
            <a:ext cx="44661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AI 融资进入"寡头时代"，资本集中度创纪录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605915" y="3172778"/>
            <a:ext cx="2718006" cy="689610"/>
            <a:chOff x="1605915" y="3172778"/>
            <a:chExt cx="2718006" cy="689610"/>
          </a:xfrm>
        </p:grpSpPr>
        <p:sp>
          <p:nvSpPr>
            <p:cNvPr id="21" name="TextBox 21"/>
            <p:cNvSpPr txBox="1"/>
            <p:nvPr/>
          </p:nvSpPr>
          <p:spPr>
            <a:xfrm>
              <a:off x="1605915" y="3172778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Q1 AI 融资 3000 亿美元，占创投 80%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5915" y="3410902"/>
              <a:ext cx="2718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仅 24 笔基础 AI 投资吸走 1780 亿美元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5915" y="3649028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尾部初创公司生存空间被压缩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619250" y="3905250"/>
            <a:ext cx="952500" cy="190500"/>
          </a:xfrm>
          <a:custGeom>
            <a:avLst/>
            <a:gdLst/>
            <a:ahLst/>
            <a:cxnLst/>
            <a:rect l="l" t="t" r="r" b="b"/>
            <a:pathLst>
              <a:path w="952500" h="190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152400"/>
                </a:lnTo>
                <a:cubicBezTo>
                  <a:pt x="952500" y="173442"/>
                  <a:pt x="935442" y="190500"/>
                  <a:pt x="914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853077" y="3959066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强信号 ✅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4381500"/>
            <a:ext cx="10668000" cy="1524000"/>
          </a:xfrm>
          <a:custGeom>
            <a:avLst/>
            <a:gdLst/>
            <a:ahLst/>
            <a:cxnLst/>
            <a:rect l="l" t="t" r="r" b="b"/>
            <a:pathLst>
              <a:path w="10668000" h="1524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447800"/>
                </a:lnTo>
                <a:cubicBezTo>
                  <a:pt x="10668000" y="1489884"/>
                  <a:pt x="10633884" y="1524000"/>
                  <a:pt x="10591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19050">
            <a:solidFill>
              <a:srgbClr val="5D6D7E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57250" y="4857750"/>
            <a:ext cx="571500" cy="571500"/>
          </a:xfrm>
          <a:prstGeom prst="ellipse">
            <a:avLst/>
          </a:prstGeom>
          <a:solidFill>
            <a:srgbClr val="5D6D7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44231" y="502539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0200" y="4552950"/>
            <a:ext cx="40175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中国大模型 IPO 竞速——第三股花落谁家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605915" y="4887278"/>
            <a:ext cx="3561445" cy="689610"/>
            <a:chOff x="1605915" y="4887278"/>
            <a:chExt cx="3561445" cy="689610"/>
          </a:xfrm>
        </p:grpSpPr>
        <p:sp>
          <p:nvSpPr>
            <p:cNvPr id="31" name="TextBox 31"/>
            <p:cNvSpPr txBox="1"/>
            <p:nvPr/>
          </p:nvSpPr>
          <p:spPr>
            <a:xfrm>
              <a:off x="1605915" y="4887278"/>
              <a:ext cx="35614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月之暗面（180亿估值）vs 阶跃星辰（100亿目标）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05915" y="5125402"/>
              <a:ext cx="2718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VIE 架构监管趋严，主动调整成为必然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5915" y="5363528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行业进入"合规化、资本化、商业化"下半场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619250" y="5619750"/>
            <a:ext cx="952500" cy="190500"/>
          </a:xfrm>
          <a:custGeom>
            <a:avLst/>
            <a:gdLst/>
            <a:ahLst/>
            <a:cxnLst/>
            <a:rect l="l" t="t" r="r" b="b"/>
            <a:pathLst>
              <a:path w="952500" h="190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152400"/>
                </a:lnTo>
                <a:cubicBezTo>
                  <a:pt x="952500" y="173442"/>
                  <a:pt x="935442" y="190500"/>
                  <a:pt x="914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853077" y="5673566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强信号 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7628" y="63636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9/15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5330" y="344805"/>
            <a:ext cx="38695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趋势 4：算力价格回归理性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5143500" cy="1428750"/>
          </a:xfrm>
          <a:custGeom>
            <a:avLst/>
            <a:gdLst/>
            <a:ahLst/>
            <a:cxnLst/>
            <a:rect l="l" t="t" r="r" b="b"/>
            <a:pathLst>
              <a:path w="5143500" h="1428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352550"/>
                </a:lnTo>
                <a:cubicBezTo>
                  <a:pt x="5143500" y="1394634"/>
                  <a:pt x="5109384" y="1428750"/>
                  <a:pt x="50673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7260" y="11087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云厂商价格调整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9165" y="1410652"/>
            <a:ext cx="2664333" cy="689610"/>
            <a:chOff x="939165" y="1410652"/>
            <a:chExt cx="2664333" cy="689610"/>
          </a:xfrm>
        </p:grpSpPr>
        <p:sp>
          <p:nvSpPr>
            <p:cNvPr id="9" name="TextBox 9"/>
            <p:cNvSpPr txBox="1"/>
            <p:nvPr/>
          </p:nvSpPr>
          <p:spPr>
            <a:xfrm>
              <a:off x="939165" y="14106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阿里云上调 2-7%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165" y="1648778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腾讯云上调 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1886902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中国日均 Token 调用量突破 140 万亿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6286500" y="952500"/>
            <a:ext cx="5143500" cy="1428750"/>
          </a:xfrm>
          <a:custGeom>
            <a:avLst/>
            <a:gdLst/>
            <a:ahLst/>
            <a:cxnLst/>
            <a:rect l="l" t="t" r="r" b="b"/>
            <a:pathLst>
              <a:path w="5143500" h="1428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352550"/>
                </a:lnTo>
                <a:cubicBezTo>
                  <a:pt x="5143500" y="1394634"/>
                  <a:pt x="5109384" y="1428750"/>
                  <a:pt x="50673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9525">
            <a:solidFill>
              <a:srgbClr val="005587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61760" y="11087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定价逻辑转变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463665" y="1410652"/>
            <a:ext cx="2334625" cy="689610"/>
            <a:chOff x="6463665" y="1410652"/>
            <a:chExt cx="2334625" cy="689610"/>
          </a:xfrm>
        </p:grpSpPr>
        <p:sp>
          <p:nvSpPr>
            <p:cNvPr id="15" name="TextBox 15"/>
            <p:cNvSpPr txBox="1"/>
            <p:nvPr/>
          </p:nvSpPr>
          <p:spPr>
            <a:xfrm>
              <a:off x="6463665" y="1410652"/>
              <a:ext cx="2181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从"硬件成本"转向"商业价值"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3665" y="1648778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从"白菜价补贴"转向"价值回归"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3665" y="18869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全栈能力成为竞争核心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35330" y="25355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机会矩阵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90512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762000" y="3143250"/>
            <a:ext cx="10668000" cy="2095500"/>
            <a:chOff x="762000" y="3143250"/>
            <a:chExt cx="10668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762000" y="3143250"/>
              <a:ext cx="10668000" cy="3810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52599" y="32761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领域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71849" y="32761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热度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6339" y="32761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成熟度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6580" y="32761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机会窗口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26339" y="32761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优先级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524250"/>
              <a:ext cx="10668000" cy="428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17320" y="36856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世界模型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25569" y="36856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🔴🔥🔥🔥🔥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08899" y="3685699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🟡 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379" y="3685699"/>
              <a:ext cx="4092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1-3 年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286750" y="3619500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09550"/>
                  </a:lnTo>
                  <a:cubicBezTo>
                    <a:pt x="952500" y="230592"/>
                    <a:pt x="935442" y="247650"/>
                    <a:pt x="9144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29983" y="3693795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952875"/>
              <a:ext cx="10668000" cy="428625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DEE2E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53241" y="4114324"/>
              <a:ext cx="722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大模型 IPO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64729" y="41143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🔴🔥🔥🔥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08899" y="4114324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8A745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4220" y="4114324"/>
              <a:ext cx="4875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6-12 月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286750" y="4048125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09550"/>
                  </a:lnTo>
                  <a:cubicBezTo>
                    <a:pt x="952500" y="230592"/>
                    <a:pt x="935442" y="247650"/>
                    <a:pt x="9144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29983" y="4122420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4381500"/>
              <a:ext cx="10668000" cy="428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06640" y="45429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云服务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64729" y="45429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🔴🔥🔥🔥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08899" y="4542949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8A745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3219" y="45429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立即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286750" y="4476750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09550"/>
                  </a:lnTo>
                  <a:cubicBezTo>
                    <a:pt x="952500" y="230592"/>
                    <a:pt x="935442" y="247650"/>
                    <a:pt x="9144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29983" y="4551045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4810125"/>
              <a:ext cx="10668000" cy="428625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DEE2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71361" y="497157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Agent 商业化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64729" y="497157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🔴🔥🔥🔥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08899" y="4971574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🟡 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5579" y="4971574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3-6 月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86750" y="4905375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09550"/>
                  </a:lnTo>
                  <a:cubicBezTo>
                    <a:pt x="952500" y="230592"/>
                    <a:pt x="935442" y="247650"/>
                    <a:pt x="9144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29983" y="4979670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🔴 高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10/15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行动建议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3333750" cy="2381250"/>
          </a:xfrm>
          <a:custGeom>
            <a:avLst/>
            <a:gdLst/>
            <a:ahLst/>
            <a:cxnLst/>
            <a:rect l="l" t="t" r="r" b="b"/>
            <a:pathLst>
              <a:path w="3333750" h="23812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305050"/>
                </a:lnTo>
                <a:cubicBezTo>
                  <a:pt x="3333750" y="2347134"/>
                  <a:pt x="3299634" y="2381250"/>
                  <a:pt x="325755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5355" y="10925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短期（1-3月）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9165" y="1458278"/>
            <a:ext cx="2092500" cy="1594484"/>
            <a:chOff x="939165" y="1458278"/>
            <a:chExt cx="2092500" cy="1594484"/>
          </a:xfrm>
        </p:grpSpPr>
        <p:sp>
          <p:nvSpPr>
            <p:cNvPr id="9" name="TextBox 9"/>
            <p:cNvSpPr txBox="1"/>
            <p:nvPr/>
          </p:nvSpPr>
          <p:spPr>
            <a:xfrm>
              <a:off x="939165" y="1458278"/>
              <a:ext cx="1836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关注腾讯混元 3.0、阿里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16964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Happy Oyster 世界模型落地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198215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游戏行业率先接入 3D 生成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267902"/>
              <a:ext cx="1912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影视行业探索 AI 资产生成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255365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机器人行业评估物理仿真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28394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自动驾驶关注时空建模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429125" y="952500"/>
            <a:ext cx="3333750" cy="2381250"/>
          </a:xfrm>
          <a:custGeom>
            <a:avLst/>
            <a:gdLst/>
            <a:ahLst/>
            <a:cxnLst/>
            <a:rect l="l" t="t" r="r" b="b"/>
            <a:pathLst>
              <a:path w="3333750" h="23812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305050"/>
                </a:lnTo>
                <a:cubicBezTo>
                  <a:pt x="3333750" y="2347134"/>
                  <a:pt x="3299634" y="2381250"/>
                  <a:pt x="325755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602480" y="1092518"/>
            <a:ext cx="14110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中期（3-6月）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606290" y="1458278"/>
            <a:ext cx="1698212" cy="1546860"/>
            <a:chOff x="4606290" y="1458278"/>
            <a:chExt cx="1698212" cy="1546860"/>
          </a:xfrm>
        </p:grpSpPr>
        <p:sp>
          <p:nvSpPr>
            <p:cNvPr id="18" name="TextBox 18"/>
            <p:cNvSpPr txBox="1"/>
            <p:nvPr/>
          </p:nvSpPr>
          <p:spPr>
            <a:xfrm>
              <a:off x="4606290" y="14582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关注中国大模型第三股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1540" y="1696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上市进展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6290" y="19821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Agent 商业化落地加速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6290" y="22679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中小企业优先采用开源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1540" y="2506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模型 + 混合部署策略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6290" y="27917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避开单一云厂商锁定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096250" y="952500"/>
            <a:ext cx="3333750" cy="2381250"/>
          </a:xfrm>
          <a:custGeom>
            <a:avLst/>
            <a:gdLst/>
            <a:ahLst/>
            <a:cxnLst/>
            <a:rect l="l" t="t" r="r" b="b"/>
            <a:pathLst>
              <a:path w="3333750" h="23812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305050"/>
                </a:lnTo>
                <a:cubicBezTo>
                  <a:pt x="3333750" y="2347134"/>
                  <a:pt x="3299634" y="2381250"/>
                  <a:pt x="325755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19050">
            <a:solidFill>
              <a:srgbClr val="5D6D7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269605" y="1092518"/>
            <a:ext cx="1473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长期（6-12月）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273415" y="1458278"/>
            <a:ext cx="1843897" cy="1546860"/>
            <a:chOff x="8273415" y="1458278"/>
            <a:chExt cx="1843897" cy="1546860"/>
          </a:xfrm>
        </p:grpSpPr>
        <p:sp>
          <p:nvSpPr>
            <p:cNvPr id="27" name="TextBox 27"/>
            <p:cNvSpPr txBox="1"/>
            <p:nvPr/>
          </p:nvSpPr>
          <p:spPr>
            <a:xfrm>
              <a:off x="8273415" y="1458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物理智能成为新战场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3415" y="1744028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端侧 AI 加速渗透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3415" y="202977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国产算力替代加速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3415" y="231552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从业者学习跨领域技能：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68665" y="25536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3D生成、物理仿真、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68665" y="2791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游戏引擎对接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762000" y="352425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257300"/>
                </a:lnTo>
                <a:cubicBezTo>
                  <a:pt x="10668000" y="1299384"/>
                  <a:pt x="10633884" y="1333500"/>
                  <a:pt x="10591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37260" y="3680460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🛠️ 推荐工具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52500" y="4000500"/>
            <a:ext cx="8191500" cy="285750"/>
            <a:chOff x="952500" y="4000500"/>
            <a:chExt cx="8191500" cy="285750"/>
          </a:xfrm>
        </p:grpSpPr>
        <p:sp>
          <p:nvSpPr>
            <p:cNvPr id="36" name="Freeform 36"/>
            <p:cNvSpPr/>
            <p:nvPr/>
          </p:nvSpPr>
          <p:spPr>
            <a:xfrm>
              <a:off x="952500" y="4000500"/>
              <a:ext cx="1905000" cy="285750"/>
            </a:xfrm>
            <a:custGeom>
              <a:avLst/>
              <a:gdLst/>
              <a:ahLst/>
              <a:cxnLst/>
              <a:rect l="l" t="t" r="r" b="b"/>
              <a:pathLst>
                <a:path w="1905000" h="2857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47650"/>
                  </a:lnTo>
                  <a:cubicBezTo>
                    <a:pt x="1905000" y="268692"/>
                    <a:pt x="1887942" y="285750"/>
                    <a:pt x="18669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6185" y="40857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OpenRouter（Token监控）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3048000" y="4000500"/>
              <a:ext cx="1905000" cy="285750"/>
            </a:xfrm>
            <a:custGeom>
              <a:avLst/>
              <a:gdLst/>
              <a:ahLst/>
              <a:cxnLst/>
              <a:rect l="l" t="t" r="r" b="b"/>
              <a:pathLst>
                <a:path w="1905000" h="2857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47650"/>
                  </a:lnTo>
                  <a:cubicBezTo>
                    <a:pt x="1905000" y="268692"/>
                    <a:pt x="1887942" y="285750"/>
                    <a:pt x="18669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2885" y="408574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WorldArena（模型评测）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143500" y="4000500"/>
              <a:ext cx="1905000" cy="285750"/>
            </a:xfrm>
            <a:custGeom>
              <a:avLst/>
              <a:gdLst/>
              <a:ahLst/>
              <a:cxnLst/>
              <a:rect l="l" t="t" r="r" b="b"/>
              <a:pathLst>
                <a:path w="1905000" h="2857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47650"/>
                  </a:lnTo>
                  <a:cubicBezTo>
                    <a:pt x="1905000" y="268692"/>
                    <a:pt x="1887942" y="285750"/>
                    <a:pt x="18669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11104" y="40857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智源AI枢纽（科研追踪）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239000" y="4000500"/>
              <a:ext cx="1905000" cy="285750"/>
            </a:xfrm>
            <a:custGeom>
              <a:avLst/>
              <a:gdLst/>
              <a:ahLst/>
              <a:cxnLst/>
              <a:rect l="l" t="t" r="r" b="b"/>
              <a:pathLst>
                <a:path w="1905000" h="2857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47650"/>
                  </a:lnTo>
                  <a:cubicBezTo>
                    <a:pt x="1905000" y="268692"/>
                    <a:pt x="1887942" y="285750"/>
                    <a:pt x="18669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325" y="408574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Crunchbase（融资数据）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41070" y="4474845"/>
            <a:ext cx="47285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提示：火山引擎 AI 节省计划可监控 Token 消耗，OpenRouter 可对比多模型价格</a:t>
            </a:r>
          </a:p>
        </p:txBody>
      </p:sp>
      <p:sp>
        <p:nvSpPr>
          <p:cNvPr id="46" name="Freeform 46"/>
          <p:cNvSpPr/>
          <p:nvPr/>
        </p:nvSpPr>
        <p:spPr>
          <a:xfrm>
            <a:off x="762000" y="5048250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685800"/>
                </a:lnTo>
                <a:cubicBezTo>
                  <a:pt x="10668000" y="727884"/>
                  <a:pt x="10633884" y="762000"/>
                  <a:pt x="10591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9525">
            <a:solidFill>
              <a:srgbClr val="005587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8212" y="5212556"/>
            <a:ext cx="8653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💡 核心洞察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9165" y="5506402"/>
            <a:ext cx="58694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世界模型技术门槛高，中小企业建议优先使用开源世界模型 API，性价比提升 10-100 倍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09960" y="6363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11/15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下周关注清单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762000" y="952500"/>
            <a:ext cx="10668000" cy="4572000"/>
            <a:chOff x="762000" y="952500"/>
            <a:chExt cx="10668000" cy="4572000"/>
          </a:xfrm>
        </p:grpSpPr>
        <p:sp>
          <p:nvSpPr>
            <p:cNvPr id="7" name="Freeform 7"/>
            <p:cNvSpPr/>
            <p:nvPr/>
          </p:nvSpPr>
          <p:spPr>
            <a:xfrm>
              <a:off x="762000" y="9525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9E6"/>
            </a:solidFill>
            <a:ln w="19050">
              <a:solidFill>
                <a:srgbClr val="E74C3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092518"/>
              <a:ext cx="23322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 腾讯混元 3.0 正式发布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1410652"/>
              <a:ext cx="48112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预计时间：4月下旬 | 影响：高 | 引入前 OpenAI 高级研究员姚顺雨带队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62000" y="19050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9E6"/>
            </a:solidFill>
            <a:ln w="19050">
              <a:solidFill>
                <a:srgbClr val="E74C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045018"/>
              <a:ext cx="22805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🔴 阶跃星辰港股递表进展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363152"/>
              <a:ext cx="5002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预计时间：6月30日前 | 影响：高 | 目标估值 100 亿美元，已拆除 VIE 架构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28575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8"/>
            </a:solidFill>
            <a:ln w="19050">
              <a:solidFill>
                <a:srgbClr val="00558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5355" y="2997518"/>
              <a:ext cx="29119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🔵 Google I/O 2026 Gemini 更新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331565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预计时间：5月中旬 | 影响：高 | 预计发布 Gemini 新版本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2000" y="38100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0F4F8"/>
            </a:solidFill>
            <a:ln w="19050">
              <a:solidFill>
                <a:srgbClr val="5D6D7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3950018"/>
              <a:ext cx="34502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🟡 DeepSeek V4 华为/寒武纪芯片优化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4268152"/>
              <a:ext cx="4834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预计时间：4月下旬 | 影响：中 | 万亿参数开源模型，国产芯片适配进展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47625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0F4F8"/>
            </a:solidFill>
            <a:ln w="19050">
              <a:solidFill>
                <a:srgbClr val="5D6D7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5355" y="4902518"/>
              <a:ext cx="2166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🟡 欧盟 AI 法案实施细则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5220652"/>
              <a:ext cx="4082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预计时间：5-7月 | 影响：中 | 各成员国具体实施细则待明确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12/15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信号与噪声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3333750" cy="2667000"/>
          </a:xfrm>
          <a:custGeom>
            <a:avLst/>
            <a:gdLst/>
            <a:ahLst/>
            <a:cxnLst/>
            <a:rect l="l" t="t" r="r" b="b"/>
            <a:pathLst>
              <a:path w="3333750" h="266700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590800"/>
                </a:lnTo>
                <a:cubicBezTo>
                  <a:pt x="3333750" y="2632884"/>
                  <a:pt x="3299634" y="2667000"/>
                  <a:pt x="325755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E8"/>
          </a:solidFill>
          <a:ln w="19050">
            <a:solidFill>
              <a:srgbClr val="28A74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5355" y="1092518"/>
            <a:ext cx="15662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8A745"/>
                </a:solidFill>
                <a:latin typeface="Arial"/>
                <a:ea typeface="Microsoft YaHei"/>
                <a:cs typeface="Arial"/>
              </a:rPr>
              <a:t>✅ 强信号（3条）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0118" y="1466374"/>
            <a:ext cx="1925788" cy="2007870"/>
            <a:chOff x="940118" y="1466374"/>
            <a:chExt cx="1925788" cy="2007870"/>
          </a:xfrm>
        </p:grpSpPr>
        <p:sp>
          <p:nvSpPr>
            <p:cNvPr id="9" name="TextBox 9"/>
            <p:cNvSpPr txBox="1"/>
            <p:nvPr/>
          </p:nvSpPr>
          <p:spPr>
            <a:xfrm>
              <a:off x="940118" y="1466374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1. 世界模型成为 AGI 共识方向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2992" y="17044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智源研究院定义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2992" y="1942624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腾讯阿里发布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2992" y="218074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资本投入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0118" y="256174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2. AI 融资 3000 亿美元寡头化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992" y="2799874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数据详实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992" y="30379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头部集中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992" y="3276124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并购加速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429125" y="952500"/>
            <a:ext cx="3333750" cy="2667000"/>
          </a:xfrm>
          <a:custGeom>
            <a:avLst/>
            <a:gdLst/>
            <a:ahLst/>
            <a:cxnLst/>
            <a:rect l="l" t="t" r="r" b="b"/>
            <a:pathLst>
              <a:path w="3333750" h="266700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590800"/>
                </a:lnTo>
                <a:cubicBezTo>
                  <a:pt x="3333750" y="2632884"/>
                  <a:pt x="3299634" y="2667000"/>
                  <a:pt x="325755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E74C3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602480" y="1092518"/>
            <a:ext cx="17733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❌ 噪声过滤（2条）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607242" y="1466374"/>
            <a:ext cx="2025467" cy="1531620"/>
            <a:chOff x="4607242" y="1466374"/>
            <a:chExt cx="2025467" cy="1531620"/>
          </a:xfrm>
        </p:grpSpPr>
        <p:sp>
          <p:nvSpPr>
            <p:cNvPr id="20" name="TextBox 20"/>
            <p:cNvSpPr txBox="1"/>
            <p:nvPr/>
          </p:nvSpPr>
          <p:spPr>
            <a:xfrm>
              <a:off x="4607242" y="1466374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1. "AGI 明年实现"过度炒作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0118" y="17044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技术路线尚不明确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50118" y="1942624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需多年发展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7242" y="232362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2. 中小模型公司"挑战 OpenAI"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0118" y="256174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资源差距过大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0118" y="2799874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可能性低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8096250" y="952500"/>
            <a:ext cx="3333750" cy="2667000"/>
          </a:xfrm>
          <a:custGeom>
            <a:avLst/>
            <a:gdLst/>
            <a:ahLst/>
            <a:cxnLst/>
            <a:rect l="l" t="t" r="r" b="b"/>
            <a:pathLst>
              <a:path w="3333750" h="266700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2590800"/>
                </a:lnTo>
                <a:cubicBezTo>
                  <a:pt x="3333750" y="2632884"/>
                  <a:pt x="3299634" y="2667000"/>
                  <a:pt x="325755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FFA50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269605" y="1092518"/>
            <a:ext cx="15662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A500"/>
                </a:solidFill>
                <a:latin typeface="Arial"/>
                <a:ea typeface="Microsoft YaHei"/>
                <a:cs typeface="Arial"/>
              </a:rPr>
              <a:t>🤔 待验证（2条）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274368" y="1466374"/>
            <a:ext cx="1982748" cy="1531620"/>
            <a:chOff x="8274368" y="1466374"/>
            <a:chExt cx="1982748" cy="1531620"/>
          </a:xfrm>
        </p:grpSpPr>
        <p:sp>
          <p:nvSpPr>
            <p:cNvPr id="29" name="TextBox 29"/>
            <p:cNvSpPr txBox="1"/>
            <p:nvPr/>
          </p:nvSpPr>
          <p:spPr>
            <a:xfrm>
              <a:off x="8274368" y="1466374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1. 欧盟 AI 法案执法松紧差异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7242" y="17044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各成员国实施细则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7242" y="19426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待明确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4368" y="2323624"/>
              <a:ext cx="19827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2. 智谱 MiniMax 股价后续走势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7242" y="2561749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商业化能力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17242" y="279987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• 待验证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762000" y="3810000"/>
            <a:ext cx="10668000" cy="2095500"/>
          </a:xfrm>
          <a:custGeom>
            <a:avLst/>
            <a:gdLst/>
            <a:ahLst/>
            <a:cxnLst/>
            <a:rect l="l" t="t" r="r" b="b"/>
            <a:pathLst>
              <a:path w="10668000" h="2095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2019300"/>
                </a:lnTo>
                <a:cubicBezTo>
                  <a:pt x="10668000" y="2061384"/>
                  <a:pt x="10633884" y="2095500"/>
                  <a:pt x="10591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7260" y="3966210"/>
            <a:ext cx="1659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📊 信息来源与可信度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52500" y="4286250"/>
            <a:ext cx="5238750" cy="1102519"/>
            <a:chOff x="952500" y="4286250"/>
            <a:chExt cx="5238750" cy="1102519"/>
          </a:xfrm>
        </p:grpSpPr>
        <p:sp>
          <p:nvSpPr>
            <p:cNvPr id="38" name="Rectangle 38"/>
            <p:cNvSpPr/>
            <p:nvPr/>
          </p:nvSpPr>
          <p:spPr>
            <a:xfrm>
              <a:off x="952500" y="4286250"/>
              <a:ext cx="2381250" cy="2857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81224" y="43714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333750" y="4286250"/>
              <a:ext cx="1428750" cy="2857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11464" y="43714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可信度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62500" y="4286250"/>
              <a:ext cx="1428750" cy="2857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40214" y="43714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链接数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2500" y="4572000"/>
              <a:ext cx="23812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39146" y="4657249"/>
              <a:ext cx="807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TechCrunch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333750" y="4572000"/>
              <a:ext cx="14287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39944" y="46572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⭐⭐⭐⭐⭐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762500" y="4572000"/>
              <a:ext cx="14287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25333" y="4657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2500" y="4838700"/>
              <a:ext cx="2381250" cy="2667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DEE2E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45945" y="49239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证券时报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333750" y="4838700"/>
              <a:ext cx="1428750" cy="2667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DEE2E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39944" y="49239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⭐⭐⭐⭐⭐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62500" y="4838700"/>
              <a:ext cx="1428750" cy="2667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DEE2E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25333" y="49239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2500" y="5105400"/>
              <a:ext cx="23812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74746" y="51906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智源研究院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333750" y="5105400"/>
              <a:ext cx="14287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39944" y="51906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⭐⭐⭐⭐⭐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762500" y="5105400"/>
              <a:ext cx="14287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EE2E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425333" y="5190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13/15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12420"/>
            <a:ext cx="306053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投融资 &amp; 行业事件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5715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6667500" cy="1714500"/>
          </a:xfrm>
          <a:custGeom>
            <a:avLst/>
            <a:gdLst/>
            <a:ahLst/>
            <a:cxnLst/>
            <a:rect l="l" t="t" r="r" b="b"/>
            <a:pathLst>
              <a:path w="6667500" h="1714500">
                <a:moveTo>
                  <a:pt x="76200" y="0"/>
                </a:moveTo>
                <a:lnTo>
                  <a:pt x="6591300" y="0"/>
                </a:lnTo>
                <a:cubicBezTo>
                  <a:pt x="6633384" y="0"/>
                  <a:pt x="6667500" y="34116"/>
                  <a:pt x="6667500" y="76200"/>
                </a:cubicBezTo>
                <a:lnTo>
                  <a:pt x="6667500" y="1638300"/>
                </a:lnTo>
                <a:cubicBezTo>
                  <a:pt x="6667500" y="1680384"/>
                  <a:pt x="6633384" y="1714500"/>
                  <a:pt x="65913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9E6"/>
          </a:solidFill>
          <a:ln w="19050">
            <a:solidFill>
              <a:srgbClr val="E74C3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1545" y="106013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2026 Q1 AI 融资创纪录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2495" y="1279208"/>
            <a:ext cx="273684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3000 亿美元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355" y="1806892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占全球创投资金 80%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9165" y="2172652"/>
            <a:ext cx="3300746" cy="451486"/>
            <a:chOff x="939165" y="2172652"/>
            <a:chExt cx="3300746" cy="451486"/>
          </a:xfrm>
        </p:grpSpPr>
        <p:sp>
          <p:nvSpPr>
            <p:cNvPr id="11" name="TextBox 11"/>
            <p:cNvSpPr txBox="1"/>
            <p:nvPr/>
          </p:nvSpPr>
          <p:spPr>
            <a:xfrm>
              <a:off x="939165" y="2172652"/>
              <a:ext cx="3300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17 家美国 AI 初创公司完成单轮超 1 亿美元融资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410778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仅 24 笔基础 AI 投资就吸走 1780 亿美元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810500" y="952500"/>
            <a:ext cx="3619500" cy="1714500"/>
          </a:xfrm>
          <a:custGeom>
            <a:avLst/>
            <a:gdLst/>
            <a:ahLst/>
            <a:cxnLst/>
            <a:rect l="l" t="t" r="r" b="b"/>
            <a:pathLst>
              <a:path w="3619500" h="17145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638300"/>
                </a:lnTo>
                <a:cubicBezTo>
                  <a:pt x="3619500" y="1680384"/>
                  <a:pt x="3585384" y="1714500"/>
                  <a:pt x="35433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983855" y="10925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中国大模型上市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78140" y="1458278"/>
            <a:ext cx="1563910" cy="1094422"/>
            <a:chOff x="7978140" y="1458278"/>
            <a:chExt cx="1563910" cy="1094422"/>
          </a:xfrm>
        </p:grpSpPr>
        <p:sp>
          <p:nvSpPr>
            <p:cNvPr id="16" name="TextBox 16"/>
            <p:cNvSpPr txBox="1"/>
            <p:nvPr/>
          </p:nvSpPr>
          <p:spPr>
            <a:xfrm>
              <a:off x="7987665" y="14582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智谱上市市值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78140" y="1615440"/>
              <a:ext cx="1563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4227 亿港元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7665" y="2029778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MiniMax 上市市值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78140" y="2186940"/>
              <a:ext cx="1563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2983 亿港元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762000" y="2857500"/>
            <a:ext cx="10668000" cy="1428750"/>
          </a:xfrm>
          <a:custGeom>
            <a:avLst/>
            <a:gdLst/>
            <a:ahLst/>
            <a:cxnLst/>
            <a:rect l="l" t="t" r="r" b="b"/>
            <a:pathLst>
              <a:path w="10668000" h="14287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352550"/>
                </a:lnTo>
                <a:cubicBezTo>
                  <a:pt x="10668000" y="1394634"/>
                  <a:pt x="10633884" y="1428750"/>
                  <a:pt x="10591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4F8"/>
          </a:solidFill>
          <a:ln w="19050">
            <a:solidFill>
              <a:srgbClr val="5D6D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5355" y="2997518"/>
            <a:ext cx="3605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💰 资本寡头化：头部 3 家吸走 57% 融资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52500" y="3381375"/>
            <a:ext cx="8183670" cy="476250"/>
            <a:chOff x="952500" y="3381375"/>
            <a:chExt cx="8183670" cy="476250"/>
          </a:xfrm>
        </p:grpSpPr>
        <p:sp>
          <p:nvSpPr>
            <p:cNvPr id="23" name="Freeform 23"/>
            <p:cNvSpPr/>
            <p:nvPr/>
          </p:nvSpPr>
          <p:spPr>
            <a:xfrm>
              <a:off x="952500" y="3381375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438150"/>
                  </a:lnTo>
                  <a:cubicBezTo>
                    <a:pt x="1905000" y="459192"/>
                    <a:pt x="1887942" y="476250"/>
                    <a:pt x="1866900" y="476250"/>
                  </a:cubicBezTo>
                  <a:lnTo>
                    <a:pt x="38100" y="476250"/>
                  </a:lnTo>
                  <a:cubicBezTo>
                    <a:pt x="17058" y="476250"/>
                    <a:pt x="0" y="459192"/>
                    <a:pt x="0" y="438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91685" y="3537585"/>
              <a:ext cx="1226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OpenAI 1220亿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048000" y="3381375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438150"/>
                  </a:lnTo>
                  <a:cubicBezTo>
                    <a:pt x="1905000" y="459192"/>
                    <a:pt x="1887942" y="476250"/>
                    <a:pt x="1866900" y="476250"/>
                  </a:cubicBezTo>
                  <a:lnTo>
                    <a:pt x="38100" y="476250"/>
                  </a:lnTo>
                  <a:cubicBezTo>
                    <a:pt x="17058" y="476250"/>
                    <a:pt x="0" y="459192"/>
                    <a:pt x="0" y="438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81372" y="3537585"/>
              <a:ext cx="14382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Anthropic 300亿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143500" y="3381375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438150"/>
                  </a:lnTo>
                  <a:cubicBezTo>
                    <a:pt x="1905000" y="459192"/>
                    <a:pt x="1887942" y="476250"/>
                    <a:pt x="1866900" y="476250"/>
                  </a:cubicBezTo>
                  <a:lnTo>
                    <a:pt x="38100" y="476250"/>
                  </a:lnTo>
                  <a:cubicBezTo>
                    <a:pt x="17058" y="476250"/>
                    <a:pt x="0" y="459192"/>
                    <a:pt x="0" y="438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5D6D7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80510" y="3537585"/>
              <a:ext cx="8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xAI 200亿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6640" y="3472815"/>
              <a:ext cx="1729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= 1720 亿美元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762000" y="4476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162050"/>
                </a:lnTo>
                <a:cubicBezTo>
                  <a:pt x="5143500" y="1204134"/>
                  <a:pt x="5109384" y="1238250"/>
                  <a:pt x="5067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37260" y="4632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其他重要事件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40118" y="4942999"/>
            <a:ext cx="3997690" cy="674370"/>
            <a:chOff x="940118" y="4942999"/>
            <a:chExt cx="3997690" cy="674370"/>
          </a:xfrm>
        </p:grpSpPr>
        <p:sp>
          <p:nvSpPr>
            <p:cNvPr id="33" name="TextBox 33"/>
            <p:cNvSpPr txBox="1"/>
            <p:nvPr/>
          </p:nvSpPr>
          <p:spPr>
            <a:xfrm>
              <a:off x="940118" y="4942999"/>
              <a:ext cx="3050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Cerebras 拟以 220 亿美元估值融资 10 亿美元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0118" y="5181124"/>
              <a:ext cx="2288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第一资本以 51.5 亿美元收购 Brex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0118" y="5419249"/>
              <a:ext cx="3997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Meta Llama 团队人才流失：14 名原始研究人员中 11 人已离职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6286500" y="4476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162050"/>
                </a:lnTo>
                <a:cubicBezTo>
                  <a:pt x="5143500" y="1204134"/>
                  <a:pt x="5109384" y="1238250"/>
                  <a:pt x="5067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E74C3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461760" y="4632960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⚠️ 风险提示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464618" y="4942999"/>
            <a:ext cx="2830020" cy="674370"/>
            <a:chOff x="6464618" y="4942999"/>
            <a:chExt cx="2830020" cy="674370"/>
          </a:xfrm>
        </p:grpSpPr>
        <p:sp>
          <p:nvSpPr>
            <p:cNvPr id="39" name="TextBox 39"/>
            <p:cNvSpPr txBox="1"/>
            <p:nvPr/>
          </p:nvSpPr>
          <p:spPr>
            <a:xfrm>
              <a:off x="6464618" y="4942999"/>
              <a:ext cx="2830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AI 投资对比愈发接近 90 年代末互联网泡沫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5181124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尾部初创公司生存空间被压缩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541924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融资窗口收窄，中小企业需聚焦垂直场景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14/15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137785" y="8191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1333500"/>
            <a:ext cx="19050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1714500"/>
            <a:ext cx="10668000" cy="2667000"/>
          </a:xfrm>
          <a:custGeom>
            <a:avLst/>
            <a:gdLst/>
            <a:ahLst/>
            <a:cxnLst/>
            <a:rect l="l" t="t" r="r" b="b"/>
            <a:pathLst>
              <a:path w="10668000" h="2667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2590800"/>
                </a:lnTo>
                <a:cubicBezTo>
                  <a:pt x="10668000" y="2632884"/>
                  <a:pt x="10633884" y="2667000"/>
                  <a:pt x="105918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8"/>
          </a:solidFill>
          <a:ln w="19050">
            <a:solidFill>
              <a:srgbClr val="00558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3450" y="18383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🎯 核心要点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7260" y="2251710"/>
            <a:ext cx="5577459" cy="1910715"/>
            <a:chOff x="937260" y="2251710"/>
            <a:chExt cx="5577459" cy="1910715"/>
          </a:xfrm>
        </p:grpSpPr>
        <p:sp>
          <p:nvSpPr>
            <p:cNvPr id="9" name="TextBox 9"/>
            <p:cNvSpPr txBox="1"/>
            <p:nvPr/>
          </p:nvSpPr>
          <p:spPr>
            <a:xfrm>
              <a:off x="937260" y="2251710"/>
              <a:ext cx="40526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1. 2026 Q1 AI 融资达 3000 亿美元，资本向头部集中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7260" y="2585085"/>
              <a:ext cx="53934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2. 世界模型成为 AGI 共识方向，训练范式从"预测词"转向"预测状态"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2918460"/>
              <a:ext cx="5235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3. 中国大模型 IPO 竞速白热化，月之暗面、阶跃星辰争当"第三股"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3251835"/>
              <a:ext cx="43418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4. 算力价格回归理性，云厂商从"卖资源"转向"卖能力"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7260" y="3585210"/>
              <a:ext cx="55774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5. AI 行业进入"去伪存真"阶段，垂直应用和基础设施两端迎黄金窗口期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7260" y="3918585"/>
              <a:ext cx="52181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6. 下周关注：腾讯混元 3.0 发布、阶跃星辰港股递表、Google I/O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62000" y="457200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1066800"/>
                </a:lnTo>
                <a:cubicBezTo>
                  <a:pt x="10668000" y="1108884"/>
                  <a:pt x="10633884" y="1143000"/>
                  <a:pt x="10591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DEE2E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39165" y="4744402"/>
            <a:ext cx="4910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编辑：零壹情报 | 数据来源：Tavily 搜索（一级搜索源）+ 每日日报汇总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503015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报告日期：2026年4月19日（第16周）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070" y="5332095"/>
            <a:ext cx="4229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本报告基于公开信息整理，不构成投资建议。市场有风险，决策需谨慎。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06000" y="1143000"/>
            <a:ext cx="1428750" cy="2762250"/>
            <a:chOff x="9906000" y="1143000"/>
            <a:chExt cx="1428750" cy="2762250"/>
          </a:xfrm>
        </p:grpSpPr>
        <p:sp>
          <p:nvSpPr>
            <p:cNvPr id="20" name="Ellipse 20"/>
            <p:cNvSpPr/>
            <p:nvPr/>
          </p:nvSpPr>
          <p:spPr>
            <a:xfrm>
              <a:off x="9906000" y="1143000"/>
              <a:ext cx="1143000" cy="1143000"/>
            </a:xfrm>
            <a:prstGeom prst="ellipse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001250" y="2381250"/>
              <a:ext cx="762000" cy="762000"/>
            </a:xfrm>
            <a:prstGeom prst="rect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10572750" y="3238500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381000" y="0"/>
                  </a:moveTo>
                  <a:lnTo>
                    <a:pt x="7620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5587">
                <a:alpha val="10000"/>
              </a:srgbClr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15/15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