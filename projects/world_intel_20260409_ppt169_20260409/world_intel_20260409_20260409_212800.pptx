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jpg" ContentType="image/jpe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欢迎收听今日国际形势日报。今天是2026年4月9日，星期四。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首先关注头条消息。美国总统特朗普4月8日宣布同意与伊朗停火两周。巴基斯坦提出的两步走方案成为关键。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第二条头条。俄罗斯国防部宣布完全控制卢甘斯克地区。顿涅茨克、扎波罗热等多方向持续激战。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来看区域要闻。亚太地区，中美关系出现积极信号。欧洲方面，匈牙利大选12日揭晓。中东，美伊谈判正在进行。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全球市场数据。布伦特原油109.18美元，涨幅7.93%。现货黄金4627美元，下跌3%。美联储降息预期降温。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一组简讯。OPEC+同意增产。中国外交部呼吁伊方停火。欧盟与澳大利亚达成贸易协定。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明日重点事件：美伊停火协议进展、匈牙利国会选举、美国CPI数据。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感谢收听。明天再见。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8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365D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4159444" y="2278380"/>
            <a:ext cx="3873113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600" b="1" dirty="0">
                <a:solidFill>
                  <a:srgbClr val="FFFFFF"/>
                </a:solidFill>
                <a:latin typeface="Noto Sans CJK SC"/>
                <a:ea typeface="Microsoft YaHei"/>
                <a:cs typeface="Noto Sans CJK SC"/>
              </a:rPr>
              <a:t>🌍 国际形势日报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259770" y="3107055"/>
            <a:ext cx="3672459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dirty="0">
                <a:solidFill>
                  <a:srgbClr val="A0AEC0"/>
                </a:solidFill>
                <a:latin typeface="Noto Sans CJK SC"/>
                <a:ea typeface="Microsoft YaHei"/>
                <a:cs typeface="Noto Sans CJK SC"/>
              </a:rPr>
              <a:t>2026 年 4 月 9 日（周四）</a:t>
            </a:r>
          </a:p>
        </p:txBody>
      </p:sp>
      <p:sp>
        <p:nvSpPr>
          <p:cNvPr id="5" name="Freeform 5"/>
          <p:cNvSpPr/>
          <p:nvPr/>
        </p:nvSpPr>
        <p:spPr>
          <a:xfrm>
            <a:off x="4191000" y="3619500"/>
            <a:ext cx="3810000" cy="38100"/>
          </a:xfrm>
          <a:custGeom>
            <a:avLst/>
            <a:gdLst/>
            <a:ahLst/>
            <a:cxnLst/>
            <a:rect l="l" t="t" r="r" b="b"/>
            <a:pathLst>
              <a:path w="3810000" h="38100">
                <a:moveTo>
                  <a:pt x="19050" y="0"/>
                </a:moveTo>
                <a:lnTo>
                  <a:pt x="3790950" y="0"/>
                </a:lnTo>
                <a:cubicBezTo>
                  <a:pt x="3801471" y="0"/>
                  <a:pt x="3810000" y="8529"/>
                  <a:pt x="3810000" y="19050"/>
                </a:cubicBezTo>
                <a:lnTo>
                  <a:pt x="3810000" y="19050"/>
                </a:lnTo>
                <a:cubicBezTo>
                  <a:pt x="3810000" y="29571"/>
                  <a:pt x="3801471" y="38100"/>
                  <a:pt x="3790950" y="38100"/>
                </a:cubicBezTo>
                <a:lnTo>
                  <a:pt x="19050" y="38100"/>
                </a:lnTo>
                <a:cubicBezTo>
                  <a:pt x="8529" y="38100"/>
                  <a:pt x="0" y="29571"/>
                  <a:pt x="0" y="190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ED8936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5074682" y="4124325"/>
            <a:ext cx="204263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E2E8F0"/>
                </a:solidFill>
                <a:latin typeface="Noto Sans CJK SC"/>
                <a:ea typeface="Microsoft YaHei"/>
                <a:cs typeface="Noto Sans CJK SC"/>
              </a:rPr>
              <a:t>阅读耗时：约 5 分钟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687443" y="6061710"/>
            <a:ext cx="281711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718096"/>
                </a:solidFill>
                <a:latin typeface="Noto Sans CJK SC"/>
                <a:ea typeface="Microsoft YaHei"/>
                <a:cs typeface="Noto Sans CJK SC"/>
              </a:rPr>
              <a:t>美伊停火现曙光 | 俄乌冲突深度胶着</a:t>
            </a:r>
          </a:p>
        </p:txBody>
      </p:sp>
    </p:spTree>
  </p:cSld>
  <p:clrMapOvr>
    <a:masterClrMapping/>
  </p:clrMapOvr>
  <p:transition 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A365D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56260" y="441960"/>
            <a:ext cx="220370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718096"/>
                </a:solidFill>
                <a:latin typeface="Noto Sans CJK SC"/>
                <a:ea typeface="Microsoft YaHei"/>
                <a:cs typeface="Noto Sans CJK SC"/>
              </a:rPr>
              <a:t>国际形势日报 | 2026-04-09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41020" y="693420"/>
            <a:ext cx="2692489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1A365D"/>
                </a:solidFill>
                <a:latin typeface="Noto Sans CJK SC"/>
                <a:ea typeface="Microsoft YaHei"/>
                <a:cs typeface="Noto Sans CJK SC"/>
              </a:rPr>
              <a:t>头条 · 深度解析</a:t>
            </a:r>
          </a:p>
        </p:txBody>
      </p:sp>
      <p:sp>
        <p:nvSpPr>
          <p:cNvPr id="6" name="Freeform 6"/>
          <p:cNvSpPr/>
          <p:nvPr/>
        </p:nvSpPr>
        <p:spPr>
          <a:xfrm>
            <a:off x="571500" y="1095375"/>
            <a:ext cx="952500" cy="38100"/>
          </a:xfrm>
          <a:custGeom>
            <a:avLst/>
            <a:gdLst/>
            <a:ahLst/>
            <a:cxnLst/>
            <a:rect l="l" t="t" r="r" b="b"/>
            <a:pathLst>
              <a:path w="952500" h="38100">
                <a:moveTo>
                  <a:pt x="19050" y="0"/>
                </a:moveTo>
                <a:lnTo>
                  <a:pt x="933450" y="0"/>
                </a:lnTo>
                <a:cubicBezTo>
                  <a:pt x="943971" y="0"/>
                  <a:pt x="952500" y="8529"/>
                  <a:pt x="952500" y="19050"/>
                </a:cubicBezTo>
                <a:lnTo>
                  <a:pt x="952500" y="19050"/>
                </a:lnTo>
                <a:cubicBezTo>
                  <a:pt x="952500" y="29571"/>
                  <a:pt x="943971" y="38100"/>
                  <a:pt x="933450" y="38100"/>
                </a:cubicBezTo>
                <a:lnTo>
                  <a:pt x="19050" y="38100"/>
                </a:lnTo>
                <a:cubicBezTo>
                  <a:pt x="8529" y="38100"/>
                  <a:pt x="0" y="29571"/>
                  <a:pt x="0" y="190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ED8936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544830" y="1297305"/>
            <a:ext cx="4835638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A365D"/>
                </a:solidFill>
                <a:latin typeface="Noto Sans CJK SC"/>
                <a:ea typeface="Microsoft YaHei"/>
                <a:cs typeface="Noto Sans CJK SC"/>
              </a:rPr>
              <a:t>美伊停火现曙光，但局势仍脆弱 🟡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54355" y="1854518"/>
            <a:ext cx="654081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2D3748"/>
                </a:solidFill>
                <a:latin typeface="Noto Sans CJK SC"/>
                <a:ea typeface="Microsoft YaHei"/>
                <a:cs typeface="Noto Sans CJK SC"/>
              </a:rPr>
              <a:t>4 月 8 日，美国总统特朗普宣布同意与伊朗停火两周，以便最终敲定协议。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54355" y="2187892"/>
            <a:ext cx="360302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2D3748"/>
                </a:solidFill>
                <a:latin typeface="Noto Sans CJK SC"/>
                <a:ea typeface="Microsoft YaHei"/>
                <a:cs typeface="Noto Sans CJK SC"/>
              </a:rPr>
              <a:t>巴基斯坦作为调解方提出"两步走"策略：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46760" y="2489835"/>
            <a:ext cx="280835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4A5568"/>
                </a:solidFill>
                <a:latin typeface="Noto Sans CJK SC"/>
                <a:ea typeface="Microsoft YaHei"/>
                <a:cs typeface="Noto Sans CJK SC"/>
              </a:rPr>
              <a:t>• 立即停火、重新开放霍尔木兹海峡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46760" y="2727960"/>
            <a:ext cx="207225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4A5568"/>
                </a:solidFill>
                <a:latin typeface="Noto Sans CJK SC"/>
                <a:ea typeface="Microsoft YaHei"/>
                <a:cs typeface="Noto Sans CJK SC"/>
              </a:rPr>
              <a:t>• 15-20 天内达成最终协议</a:t>
            </a:r>
          </a:p>
        </p:txBody>
      </p:sp>
      <p:sp>
        <p:nvSpPr>
          <p:cNvPr id="12" name="Rectangle 12"/>
          <p:cNvSpPr/>
          <p:nvPr/>
        </p:nvSpPr>
        <p:spPr>
          <a:xfrm>
            <a:off x="571500" y="3238500"/>
            <a:ext cx="51435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554355" y="3378518"/>
            <a:ext cx="65536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A365D"/>
                </a:solidFill>
                <a:latin typeface="Noto Sans CJK SC"/>
                <a:ea typeface="Microsoft YaHei"/>
                <a:cs typeface="Noto Sans CJK SC"/>
              </a:rPr>
              <a:t>影响：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46760" y="3680460"/>
            <a:ext cx="451713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D3748"/>
                </a:solidFill>
                <a:latin typeface="Noto Sans CJK SC"/>
                <a:ea typeface="Microsoft YaHei"/>
                <a:cs typeface="Noto Sans CJK SC"/>
              </a:rPr>
              <a:t>• 全球油价应声回落，布伦特原油从 110 美元高位小幅下跌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46760" y="3918585"/>
            <a:ext cx="333413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D3748"/>
                </a:solidFill>
                <a:latin typeface="Noto Sans CJK SC"/>
                <a:ea typeface="Microsoft YaHei"/>
                <a:cs typeface="Noto Sans CJK SC"/>
              </a:rPr>
              <a:t>• 股市风险偏好回升，欧美亚股市集体上涨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46760" y="4156710"/>
            <a:ext cx="438569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D3748"/>
                </a:solidFill>
                <a:latin typeface="Noto Sans CJK SC"/>
                <a:ea typeface="Microsoft YaHei"/>
                <a:cs typeface="Noto Sans CJK SC"/>
              </a:rPr>
              <a:t>• 霍尔木兹海峡通航有望恢复，缓解全球能源供应链压力</a:t>
            </a:r>
          </a:p>
        </p:txBody>
      </p:sp>
      <p:sp>
        <p:nvSpPr>
          <p:cNvPr id="17" name="Rectangle 17"/>
          <p:cNvSpPr/>
          <p:nvPr/>
        </p:nvSpPr>
        <p:spPr>
          <a:xfrm>
            <a:off x="571500" y="4572000"/>
            <a:ext cx="51435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554355" y="4712018"/>
            <a:ext cx="106941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ED8936"/>
                </a:solidFill>
                <a:latin typeface="Noto Sans CJK SC"/>
                <a:ea typeface="Microsoft YaHei"/>
                <a:cs typeface="Noto Sans CJK SC"/>
              </a:rPr>
              <a:t>风险提示：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46760" y="5013960"/>
            <a:ext cx="368465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D3748"/>
                </a:solidFill>
                <a:latin typeface="Noto Sans CJK SC"/>
                <a:ea typeface="Microsoft YaHei"/>
                <a:cs typeface="Noto Sans CJK SC"/>
              </a:rPr>
              <a:t>• 以色列尚未明确表态支持停火，可能成为变数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46760" y="5252085"/>
            <a:ext cx="350939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D3748"/>
                </a:solidFill>
                <a:latin typeface="Noto Sans CJK SC"/>
                <a:ea typeface="Microsoft YaHei"/>
                <a:cs typeface="Noto Sans CJK SC"/>
              </a:rPr>
              <a:t>• 伊朗要求安全保障条款，双方立场仍有差距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46760" y="5490210"/>
            <a:ext cx="315887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D3748"/>
                </a:solidFill>
                <a:latin typeface="Noto Sans CJK SC"/>
                <a:ea typeface="Microsoft YaHei"/>
                <a:cs typeface="Noto Sans CJK SC"/>
              </a:rPr>
              <a:t>• 过去多次停火协议破裂，市场信任度低</a:t>
            </a:r>
          </a:p>
        </p:txBody>
      </p:sp>
      <p:sp>
        <p:nvSpPr>
          <p:cNvPr id="22" name="Freeform 22"/>
          <p:cNvSpPr/>
          <p:nvPr/>
        </p:nvSpPr>
        <p:spPr>
          <a:xfrm>
            <a:off x="10477500" y="6477000"/>
            <a:ext cx="1143000" cy="285750"/>
          </a:xfrm>
          <a:custGeom>
            <a:avLst/>
            <a:gdLst/>
            <a:ahLst/>
            <a:cxnLst/>
            <a:rect l="l" t="t" r="r" b="b"/>
            <a:pathLst>
              <a:path w="1143000" h="285750">
                <a:moveTo>
                  <a:pt x="38100" y="0"/>
                </a:moveTo>
                <a:lnTo>
                  <a:pt x="1104900" y="0"/>
                </a:lnTo>
                <a:cubicBezTo>
                  <a:pt x="1125942" y="0"/>
                  <a:pt x="1143000" y="17058"/>
                  <a:pt x="1143000" y="38100"/>
                </a:cubicBezTo>
                <a:lnTo>
                  <a:pt x="1143000" y="247650"/>
                </a:lnTo>
                <a:cubicBezTo>
                  <a:pt x="1143000" y="268692"/>
                  <a:pt x="1125942" y="285750"/>
                  <a:pt x="1104900" y="285750"/>
                </a:cubicBezTo>
                <a:lnTo>
                  <a:pt x="38100" y="285750"/>
                </a:lnTo>
                <a:cubicBezTo>
                  <a:pt x="17058" y="285750"/>
                  <a:pt x="0" y="268692"/>
                  <a:pt x="0" y="2476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D8936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10645191" y="6554152"/>
            <a:ext cx="80761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Noto Sans CJK SC"/>
                <a:ea typeface="Microsoft YaHei"/>
                <a:cs typeface="Noto Sans CJK SC"/>
              </a:rPr>
              <a:t>🟡 中等风险</a:t>
            </a:r>
          </a:p>
        </p:txBody>
      </p:sp>
    </p:spTree>
  </p:cSld>
  <p:clrMapOvr>
    <a:masterClrMapping/>
  </p:clrMapOvr>
  <p:transition 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A365D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56260" y="441960"/>
            <a:ext cx="220370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718096"/>
                </a:solidFill>
                <a:latin typeface="Noto Sans CJK SC"/>
                <a:ea typeface="Microsoft YaHei"/>
                <a:cs typeface="Noto Sans CJK SC"/>
              </a:rPr>
              <a:t>国际形势日报 | 2026-04-09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41020" y="693420"/>
            <a:ext cx="2692489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1A365D"/>
                </a:solidFill>
                <a:latin typeface="Noto Sans CJK SC"/>
                <a:ea typeface="Microsoft YaHei"/>
                <a:cs typeface="Noto Sans CJK SC"/>
              </a:rPr>
              <a:t>头条 · 深度解析</a:t>
            </a:r>
          </a:p>
        </p:txBody>
      </p:sp>
      <p:sp>
        <p:nvSpPr>
          <p:cNvPr id="6" name="Freeform 6"/>
          <p:cNvSpPr/>
          <p:nvPr/>
        </p:nvSpPr>
        <p:spPr>
          <a:xfrm>
            <a:off x="571500" y="1095375"/>
            <a:ext cx="952500" cy="38100"/>
          </a:xfrm>
          <a:custGeom>
            <a:avLst/>
            <a:gdLst/>
            <a:ahLst/>
            <a:cxnLst/>
            <a:rect l="l" t="t" r="r" b="b"/>
            <a:pathLst>
              <a:path w="952500" h="38100">
                <a:moveTo>
                  <a:pt x="19050" y="0"/>
                </a:moveTo>
                <a:lnTo>
                  <a:pt x="933450" y="0"/>
                </a:lnTo>
                <a:cubicBezTo>
                  <a:pt x="943971" y="0"/>
                  <a:pt x="952500" y="8529"/>
                  <a:pt x="952500" y="19050"/>
                </a:cubicBezTo>
                <a:lnTo>
                  <a:pt x="952500" y="19050"/>
                </a:lnTo>
                <a:cubicBezTo>
                  <a:pt x="952500" y="29571"/>
                  <a:pt x="943971" y="38100"/>
                  <a:pt x="933450" y="38100"/>
                </a:cubicBezTo>
                <a:lnTo>
                  <a:pt x="19050" y="38100"/>
                </a:lnTo>
                <a:cubicBezTo>
                  <a:pt x="8529" y="38100"/>
                  <a:pt x="0" y="29571"/>
                  <a:pt x="0" y="190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ED8936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544830" y="1297305"/>
            <a:ext cx="3547477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A365D"/>
                </a:solidFill>
                <a:latin typeface="Noto Sans CJK SC"/>
                <a:ea typeface="Microsoft YaHei"/>
                <a:cs typeface="Noto Sans CJK SC"/>
              </a:rPr>
              <a:t>俄乌冲突进入深度胶着 🔴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54355" y="1854518"/>
            <a:ext cx="536767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2D3748"/>
                </a:solidFill>
                <a:latin typeface="Noto Sans CJK SC"/>
                <a:ea typeface="Microsoft YaHei"/>
                <a:cs typeface="Noto Sans CJK SC"/>
              </a:rPr>
              <a:t>俄罗斯国防部 4 月 1 日宣布完全控制卢甘斯克地区行政边界。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54355" y="2187892"/>
            <a:ext cx="754637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2D3748"/>
                </a:solidFill>
                <a:latin typeface="Noto Sans CJK SC"/>
                <a:ea typeface="Microsoft YaHei"/>
                <a:cs typeface="Noto Sans CJK SC"/>
              </a:rPr>
              <a:t>4 月 6-8 日，双方在顿涅茨克、扎波罗热等多方向持续激战，单日战斗冲突达 120 次。</a:t>
            </a:r>
          </a:p>
        </p:txBody>
      </p:sp>
      <p:sp>
        <p:nvSpPr>
          <p:cNvPr id="10" name="Rectangle 10"/>
          <p:cNvSpPr/>
          <p:nvPr/>
        </p:nvSpPr>
        <p:spPr>
          <a:xfrm>
            <a:off x="571500" y="2762250"/>
            <a:ext cx="51435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554355" y="2902268"/>
            <a:ext cx="65536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A365D"/>
                </a:solidFill>
                <a:latin typeface="Noto Sans CJK SC"/>
                <a:ea typeface="Microsoft YaHei"/>
                <a:cs typeface="Noto Sans CJK SC"/>
              </a:rPr>
              <a:t>影响：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46760" y="3204210"/>
            <a:ext cx="352691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D3748"/>
                </a:solidFill>
                <a:latin typeface="Noto Sans CJK SC"/>
                <a:ea typeface="Microsoft YaHei"/>
                <a:cs typeface="Noto Sans CJK SC"/>
              </a:rPr>
              <a:t>• 乌克兰提出"能源休战"提议，俄方尚未回应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46760" y="3442335"/>
            <a:ext cx="421043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D3748"/>
                </a:solidFill>
                <a:latin typeface="Noto Sans CJK SC"/>
                <a:ea typeface="Microsoft YaHei"/>
                <a:cs typeface="Noto Sans CJK SC"/>
              </a:rPr>
              <a:t>• 美俄乌三方谈判处于暂停状态，美国因中东事务缠身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46760" y="3680460"/>
            <a:ext cx="491147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D3748"/>
                </a:solidFill>
                <a:latin typeface="Noto Sans CJK SC"/>
                <a:ea typeface="Microsoft YaHei"/>
                <a:cs typeface="Noto Sans CJK SC"/>
              </a:rPr>
              <a:t>• 双方持续打击对方能源基础设施，经济战与军事对抗深度交织</a:t>
            </a:r>
          </a:p>
        </p:txBody>
      </p:sp>
      <p:sp>
        <p:nvSpPr>
          <p:cNvPr id="15" name="Rectangle 15"/>
          <p:cNvSpPr/>
          <p:nvPr/>
        </p:nvSpPr>
        <p:spPr>
          <a:xfrm>
            <a:off x="571500" y="4095750"/>
            <a:ext cx="51435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554355" y="4235768"/>
            <a:ext cx="106941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E53E3E"/>
                </a:solidFill>
                <a:latin typeface="Noto Sans CJK SC"/>
                <a:ea typeface="Microsoft YaHei"/>
                <a:cs typeface="Noto Sans CJK SC"/>
              </a:rPr>
              <a:t>风险提示：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46760" y="4537710"/>
            <a:ext cx="315887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D3748"/>
                </a:solidFill>
                <a:latin typeface="Noto Sans CJK SC"/>
                <a:ea typeface="Microsoft YaHei"/>
                <a:cs typeface="Noto Sans CJK SC"/>
              </a:rPr>
              <a:t>• 前线平民伤亡持续，人道主义危机加剧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46760" y="4775835"/>
            <a:ext cx="333413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D3748"/>
                </a:solidFill>
                <a:latin typeface="Noto Sans CJK SC"/>
                <a:ea typeface="Microsoft YaHei"/>
                <a:cs typeface="Noto Sans CJK SC"/>
              </a:rPr>
              <a:t>• 冲突长期化趋势明显，和平谈判进程停滞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46760" y="5013960"/>
            <a:ext cx="333413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D3748"/>
                </a:solidFill>
                <a:latin typeface="Noto Sans CJK SC"/>
                <a:ea typeface="Microsoft YaHei"/>
                <a:cs typeface="Noto Sans CJK SC"/>
              </a:rPr>
              <a:t>• 可能外溢至周边国家，影响欧洲能源安全</a:t>
            </a:r>
          </a:p>
        </p:txBody>
      </p:sp>
      <p:sp>
        <p:nvSpPr>
          <p:cNvPr id="20" name="Freeform 20"/>
          <p:cNvSpPr/>
          <p:nvPr/>
        </p:nvSpPr>
        <p:spPr>
          <a:xfrm>
            <a:off x="10477500" y="6477000"/>
            <a:ext cx="1143000" cy="285750"/>
          </a:xfrm>
          <a:custGeom>
            <a:avLst/>
            <a:gdLst/>
            <a:ahLst/>
            <a:cxnLst/>
            <a:rect l="l" t="t" r="r" b="b"/>
            <a:pathLst>
              <a:path w="1143000" h="285750">
                <a:moveTo>
                  <a:pt x="38100" y="0"/>
                </a:moveTo>
                <a:lnTo>
                  <a:pt x="1104900" y="0"/>
                </a:lnTo>
                <a:cubicBezTo>
                  <a:pt x="1125942" y="0"/>
                  <a:pt x="1143000" y="17058"/>
                  <a:pt x="1143000" y="38100"/>
                </a:cubicBezTo>
                <a:lnTo>
                  <a:pt x="1143000" y="247650"/>
                </a:lnTo>
                <a:cubicBezTo>
                  <a:pt x="1143000" y="268692"/>
                  <a:pt x="1125942" y="285750"/>
                  <a:pt x="1104900" y="285750"/>
                </a:cubicBezTo>
                <a:lnTo>
                  <a:pt x="38100" y="285750"/>
                </a:lnTo>
                <a:cubicBezTo>
                  <a:pt x="17058" y="285750"/>
                  <a:pt x="0" y="268692"/>
                  <a:pt x="0" y="2476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53E3E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10725701" y="6554152"/>
            <a:ext cx="64659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Noto Sans CJK SC"/>
                <a:ea typeface="Microsoft YaHei"/>
                <a:cs typeface="Noto Sans CJK SC"/>
              </a:rPr>
              <a:t>🔴 高风险</a:t>
            </a:r>
          </a:p>
        </p:txBody>
      </p:sp>
    </p:spTree>
  </p:cSld>
  <p:clrMapOvr>
    <a:masterClrMapping/>
  </p:clrMapOvr>
  <p:transition 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A365D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56260" y="441960"/>
            <a:ext cx="220370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718096"/>
                </a:solidFill>
                <a:latin typeface="Noto Sans CJK SC"/>
                <a:ea typeface="Microsoft YaHei"/>
                <a:cs typeface="Noto Sans CJK SC"/>
              </a:rPr>
              <a:t>国际形势日报 | 2026-04-09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41020" y="693420"/>
            <a:ext cx="1533144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1A365D"/>
                </a:solidFill>
                <a:latin typeface="Noto Sans CJK SC"/>
                <a:ea typeface="Microsoft YaHei"/>
                <a:cs typeface="Noto Sans CJK SC"/>
              </a:rPr>
              <a:t>区域要闻</a:t>
            </a:r>
          </a:p>
        </p:txBody>
      </p:sp>
      <p:sp>
        <p:nvSpPr>
          <p:cNvPr id="6" name="Freeform 6"/>
          <p:cNvSpPr/>
          <p:nvPr/>
        </p:nvSpPr>
        <p:spPr>
          <a:xfrm>
            <a:off x="571500" y="1095375"/>
            <a:ext cx="952500" cy="38100"/>
          </a:xfrm>
          <a:custGeom>
            <a:avLst/>
            <a:gdLst/>
            <a:ahLst/>
            <a:cxnLst/>
            <a:rect l="l" t="t" r="r" b="b"/>
            <a:pathLst>
              <a:path w="952500" h="38100">
                <a:moveTo>
                  <a:pt x="19050" y="0"/>
                </a:moveTo>
                <a:lnTo>
                  <a:pt x="933450" y="0"/>
                </a:lnTo>
                <a:cubicBezTo>
                  <a:pt x="943971" y="0"/>
                  <a:pt x="952500" y="8529"/>
                  <a:pt x="952500" y="19050"/>
                </a:cubicBezTo>
                <a:lnTo>
                  <a:pt x="952500" y="19050"/>
                </a:lnTo>
                <a:cubicBezTo>
                  <a:pt x="952500" y="29571"/>
                  <a:pt x="943971" y="38100"/>
                  <a:pt x="933450" y="38100"/>
                </a:cubicBezTo>
                <a:lnTo>
                  <a:pt x="19050" y="38100"/>
                </a:lnTo>
                <a:cubicBezTo>
                  <a:pt x="8529" y="38100"/>
                  <a:pt x="0" y="29571"/>
                  <a:pt x="0" y="190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ED8936"/>
          </a:solidFill>
          <a:ln>
            <a:noFill/>
          </a:ln>
        </p:spPr>
      </p:sp>
      <p:sp>
        <p:nvSpPr>
          <p:cNvPr id="7" name="Freeform 7"/>
          <p:cNvSpPr/>
          <p:nvPr/>
        </p:nvSpPr>
        <p:spPr>
          <a:xfrm>
            <a:off x="571500" y="1428750"/>
            <a:ext cx="3429000" cy="2190750"/>
          </a:xfrm>
          <a:custGeom>
            <a:avLst/>
            <a:gdLst/>
            <a:ahLst/>
            <a:cxnLst/>
            <a:rect l="l" t="t" r="r" b="b"/>
            <a:pathLst>
              <a:path w="3429000" h="2190750">
                <a:moveTo>
                  <a:pt x="76200" y="0"/>
                </a:moveTo>
                <a:lnTo>
                  <a:pt x="3352800" y="0"/>
                </a:lnTo>
                <a:cubicBezTo>
                  <a:pt x="3394884" y="0"/>
                  <a:pt x="3429000" y="34116"/>
                  <a:pt x="3429000" y="76200"/>
                </a:cubicBezTo>
                <a:lnTo>
                  <a:pt x="3429000" y="2114550"/>
                </a:lnTo>
                <a:cubicBezTo>
                  <a:pt x="3429000" y="2156634"/>
                  <a:pt x="3394884" y="2190750"/>
                  <a:pt x="3352800" y="2190750"/>
                </a:cubicBezTo>
                <a:lnTo>
                  <a:pt x="76200" y="2190750"/>
                </a:lnTo>
                <a:cubicBezTo>
                  <a:pt x="34116" y="2190750"/>
                  <a:pt x="0" y="2156634"/>
                  <a:pt x="0" y="21145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7FAFC"/>
          </a:solidFill>
          <a:ln w="9525">
            <a:solidFill>
              <a:srgbClr val="E2E8F0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742950" y="1552575"/>
            <a:ext cx="69368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A365D"/>
                </a:solidFill>
                <a:latin typeface="Noto Sans CJK SC"/>
                <a:ea typeface="Microsoft YaHei"/>
                <a:cs typeface="Noto Sans CJK SC"/>
              </a:rPr>
              <a:t>📍 亚太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48665" y="1886902"/>
            <a:ext cx="19972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2D3748"/>
                </a:solidFill>
                <a:latin typeface="Noto Sans CJK SC"/>
                <a:ea typeface="Microsoft YaHei"/>
                <a:cs typeface="Noto Sans CJK SC"/>
              </a:rPr>
              <a:t>• 中美关系：特朗普计划访华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48665" y="2077402"/>
            <a:ext cx="231929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2D3748"/>
                </a:solidFill>
                <a:latin typeface="Noto Sans CJK SC"/>
                <a:ea typeface="Microsoft YaHei"/>
                <a:cs typeface="Noto Sans CJK SC"/>
              </a:rPr>
              <a:t>• 台海：美军售转向"不对称防御"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48665" y="2267902"/>
            <a:ext cx="184389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2D3748"/>
                </a:solidFill>
                <a:latin typeface="Noto Sans CJK SC"/>
                <a:ea typeface="Microsoft YaHei"/>
                <a:cs typeface="Noto Sans CJK SC"/>
              </a:rPr>
              <a:t>• 朝鲜：战略忍耐时代终结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48665" y="2458402"/>
            <a:ext cx="215060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2D3748"/>
                </a:solidFill>
                <a:latin typeface="Noto Sans CJK SC"/>
                <a:ea typeface="Microsoft YaHei"/>
                <a:cs typeface="Noto Sans CJK SC"/>
              </a:rPr>
              <a:t>• 南海：首次无人集群跨域演习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50570" y="2760345"/>
            <a:ext cx="82467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18096"/>
                </a:solidFill>
                <a:latin typeface="Noto Sans CJK SC"/>
                <a:ea typeface="Microsoft YaHei"/>
                <a:cs typeface="Noto Sans CJK SC"/>
              </a:rPr>
              <a:t>风险：🟡 🟡 🟡 🟡</a:t>
            </a:r>
          </a:p>
        </p:txBody>
      </p:sp>
      <p:sp>
        <p:nvSpPr>
          <p:cNvPr id="14" name="Freeform 14"/>
          <p:cNvSpPr/>
          <p:nvPr/>
        </p:nvSpPr>
        <p:spPr>
          <a:xfrm>
            <a:off x="4191000" y="1428750"/>
            <a:ext cx="3429000" cy="2190750"/>
          </a:xfrm>
          <a:custGeom>
            <a:avLst/>
            <a:gdLst/>
            <a:ahLst/>
            <a:cxnLst/>
            <a:rect l="l" t="t" r="r" b="b"/>
            <a:pathLst>
              <a:path w="3429000" h="2190750">
                <a:moveTo>
                  <a:pt x="76200" y="0"/>
                </a:moveTo>
                <a:lnTo>
                  <a:pt x="3352800" y="0"/>
                </a:lnTo>
                <a:cubicBezTo>
                  <a:pt x="3394884" y="0"/>
                  <a:pt x="3429000" y="34116"/>
                  <a:pt x="3429000" y="76200"/>
                </a:cubicBezTo>
                <a:lnTo>
                  <a:pt x="3429000" y="2114550"/>
                </a:lnTo>
                <a:cubicBezTo>
                  <a:pt x="3429000" y="2156634"/>
                  <a:pt x="3394884" y="2190750"/>
                  <a:pt x="3352800" y="2190750"/>
                </a:cubicBezTo>
                <a:lnTo>
                  <a:pt x="76200" y="2190750"/>
                </a:lnTo>
                <a:cubicBezTo>
                  <a:pt x="34116" y="2190750"/>
                  <a:pt x="0" y="2156634"/>
                  <a:pt x="0" y="21145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7FAFC"/>
          </a:solidFill>
          <a:ln w="9525">
            <a:solidFill>
              <a:srgbClr val="E2E8F0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4362450" y="1552575"/>
            <a:ext cx="69368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A365D"/>
                </a:solidFill>
                <a:latin typeface="Noto Sans CJK SC"/>
                <a:ea typeface="Microsoft YaHei"/>
                <a:cs typeface="Noto Sans CJK SC"/>
              </a:rPr>
              <a:t>📍 欧洲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368165" y="1886902"/>
            <a:ext cx="221194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2D3748"/>
                </a:solidFill>
                <a:latin typeface="Noto Sans CJK SC"/>
                <a:ea typeface="Microsoft YaHei"/>
                <a:cs typeface="Noto Sans CJK SC"/>
              </a:rPr>
              <a:t>• 匈牙利大选：4月12日国会选举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368165" y="2077402"/>
            <a:ext cx="184389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2D3748"/>
                </a:solidFill>
                <a:latin typeface="Noto Sans CJK SC"/>
                <a:ea typeface="Microsoft YaHei"/>
                <a:cs typeface="Noto Sans CJK SC"/>
              </a:rPr>
              <a:t>• 欧盟能源危机：价格飙升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368165" y="2267902"/>
            <a:ext cx="215060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2D3748"/>
                </a:solidFill>
                <a:latin typeface="Noto Sans CJK SC"/>
                <a:ea typeface="Microsoft YaHei"/>
                <a:cs typeface="Noto Sans CJK SC"/>
              </a:rPr>
              <a:t>• 极右翼：勒庞、维尔德斯聚会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368165" y="2553652"/>
            <a:ext cx="215060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2D3748"/>
                </a:solidFill>
                <a:latin typeface="Noto Sans CJK SC"/>
                <a:ea typeface="Microsoft YaHei"/>
                <a:cs typeface="Noto Sans CJK SC"/>
              </a:rPr>
              <a:t>• 欧盟与澳大利亚达成贸易协定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370070" y="2855595"/>
            <a:ext cx="82467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18096"/>
                </a:solidFill>
                <a:latin typeface="Noto Sans CJK SC"/>
                <a:ea typeface="Microsoft YaHei"/>
                <a:cs typeface="Noto Sans CJK SC"/>
              </a:rPr>
              <a:t>风险：🟡 🟡 🟡 🟢</a:t>
            </a:r>
          </a:p>
        </p:txBody>
      </p:sp>
      <p:sp>
        <p:nvSpPr>
          <p:cNvPr id="21" name="Freeform 21"/>
          <p:cNvSpPr/>
          <p:nvPr/>
        </p:nvSpPr>
        <p:spPr>
          <a:xfrm>
            <a:off x="7810500" y="1428750"/>
            <a:ext cx="3810000" cy="2190750"/>
          </a:xfrm>
          <a:custGeom>
            <a:avLst/>
            <a:gdLst/>
            <a:ahLst/>
            <a:cxnLst/>
            <a:rect l="l" t="t" r="r" b="b"/>
            <a:pathLst>
              <a:path w="3810000" h="2190750">
                <a:moveTo>
                  <a:pt x="76200" y="0"/>
                </a:moveTo>
                <a:lnTo>
                  <a:pt x="3733800" y="0"/>
                </a:lnTo>
                <a:cubicBezTo>
                  <a:pt x="3775884" y="0"/>
                  <a:pt x="3810000" y="34116"/>
                  <a:pt x="3810000" y="76200"/>
                </a:cubicBezTo>
                <a:lnTo>
                  <a:pt x="3810000" y="2114550"/>
                </a:lnTo>
                <a:cubicBezTo>
                  <a:pt x="3810000" y="2156634"/>
                  <a:pt x="3775884" y="2190750"/>
                  <a:pt x="3733800" y="2190750"/>
                </a:cubicBezTo>
                <a:lnTo>
                  <a:pt x="76200" y="2190750"/>
                </a:lnTo>
                <a:cubicBezTo>
                  <a:pt x="34116" y="2190750"/>
                  <a:pt x="0" y="2156634"/>
                  <a:pt x="0" y="21145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7FAFC"/>
          </a:solidFill>
          <a:ln w="9525">
            <a:solidFill>
              <a:srgbClr val="E2E8F0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7981950" y="1552575"/>
            <a:ext cx="141827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A365D"/>
                </a:solidFill>
                <a:latin typeface="Noto Sans CJK SC"/>
                <a:ea typeface="Microsoft YaHei"/>
                <a:cs typeface="Noto Sans CJK SC"/>
              </a:rPr>
              <a:t>📍 中东 · 美洲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987665" y="1886902"/>
            <a:ext cx="230395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2D3748"/>
                </a:solidFill>
                <a:latin typeface="Noto Sans CJK SC"/>
                <a:ea typeface="Microsoft YaHei"/>
                <a:cs typeface="Noto Sans CJK SC"/>
              </a:rPr>
              <a:t>• 伊朗局势：美伊停火谈判进行中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987665" y="2077402"/>
            <a:ext cx="230395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2D3748"/>
                </a:solidFill>
                <a:latin typeface="Noto Sans CJK SC"/>
                <a:ea typeface="Microsoft YaHei"/>
                <a:cs typeface="Noto Sans CJK SC"/>
              </a:rPr>
              <a:t>• 美国政治：特朗普威胁打击伊朗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987665" y="2267902"/>
            <a:ext cx="215060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2D3748"/>
                </a:solidFill>
                <a:latin typeface="Noto Sans CJK SC"/>
                <a:ea typeface="Microsoft YaHei"/>
                <a:cs typeface="Noto Sans CJK SC"/>
              </a:rPr>
              <a:t>• 拉美：美对委内瑞拉矿产设限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987665" y="2553652"/>
            <a:ext cx="217360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2D3748"/>
                </a:solidFill>
                <a:latin typeface="Noto Sans CJK SC"/>
                <a:ea typeface="Microsoft YaHei"/>
                <a:cs typeface="Noto Sans CJK SC"/>
              </a:rPr>
              <a:t>• OPEC+同意每日增产20.6万桶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989570" y="2855595"/>
            <a:ext cx="82467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18096"/>
                </a:solidFill>
                <a:latin typeface="Noto Sans CJK SC"/>
                <a:ea typeface="Microsoft YaHei"/>
                <a:cs typeface="Noto Sans CJK SC"/>
              </a:rPr>
              <a:t>风险：🟡 🟡 🔴 🟡</a:t>
            </a:r>
          </a:p>
        </p:txBody>
      </p:sp>
      <p:sp>
        <p:nvSpPr>
          <p:cNvPr id="28" name="Rectangle 28"/>
          <p:cNvSpPr/>
          <p:nvPr/>
        </p:nvSpPr>
        <p:spPr>
          <a:xfrm>
            <a:off x="571500" y="4000500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554355" y="4140518"/>
            <a:ext cx="86239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A365D"/>
                </a:solidFill>
                <a:latin typeface="Noto Sans CJK SC"/>
                <a:ea typeface="Microsoft YaHei"/>
                <a:cs typeface="Noto Sans CJK SC"/>
              </a:rPr>
              <a:t>重点关注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556260" y="4442460"/>
            <a:ext cx="235267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D3748"/>
                </a:solidFill>
                <a:latin typeface="Noto Sans CJK SC"/>
                <a:ea typeface="Microsoft YaHei"/>
                <a:cs typeface="Noto Sans CJK SC"/>
              </a:rPr>
              <a:t>• 4月12日匈牙利国会选举结果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556260" y="4728210"/>
            <a:ext cx="158153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D3748"/>
                </a:solidFill>
                <a:latin typeface="Noto Sans CJK SC"/>
                <a:ea typeface="Microsoft YaHei"/>
                <a:cs typeface="Noto Sans CJK SC"/>
              </a:rPr>
              <a:t>• 美伊停火协议进展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56260" y="5013960"/>
            <a:ext cx="265061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D3748"/>
                </a:solidFill>
                <a:latin typeface="Noto Sans CJK SC"/>
                <a:ea typeface="Microsoft YaHei"/>
                <a:cs typeface="Noto Sans CJK SC"/>
              </a:rPr>
              <a:t>• 日本修改"防卫装备转移三原则"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9511665" y="5792152"/>
            <a:ext cx="188990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18096"/>
                </a:solidFill>
                <a:latin typeface="Noto Sans CJK SC"/>
                <a:ea typeface="Microsoft YaHei"/>
                <a:cs typeface="Noto Sans CJK SC"/>
              </a:rPr>
              <a:t>🔴 高风险 🟡 中风险 🟢 低风险</a:t>
            </a:r>
          </a:p>
        </p:txBody>
      </p:sp>
    </p:spTree>
  </p:cSld>
  <p:clrMapOvr>
    <a:masterClrMapping/>
  </p:clrMapOvr>
  <p:transition 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A365D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56260" y="441960"/>
            <a:ext cx="220370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718096"/>
                </a:solidFill>
                <a:latin typeface="Noto Sans CJK SC"/>
                <a:ea typeface="Microsoft YaHei"/>
                <a:cs typeface="Noto Sans CJK SC"/>
              </a:rPr>
              <a:t>国际形势日报 | 2026-04-09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41020" y="693420"/>
            <a:ext cx="1533144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1A365D"/>
                </a:solidFill>
                <a:latin typeface="Noto Sans CJK SC"/>
                <a:ea typeface="Microsoft YaHei"/>
                <a:cs typeface="Noto Sans CJK SC"/>
              </a:rPr>
              <a:t>全球市场</a:t>
            </a:r>
          </a:p>
        </p:txBody>
      </p:sp>
      <p:sp>
        <p:nvSpPr>
          <p:cNvPr id="6" name="Freeform 6"/>
          <p:cNvSpPr/>
          <p:nvPr/>
        </p:nvSpPr>
        <p:spPr>
          <a:xfrm>
            <a:off x="571500" y="1095375"/>
            <a:ext cx="952500" cy="38100"/>
          </a:xfrm>
          <a:custGeom>
            <a:avLst/>
            <a:gdLst/>
            <a:ahLst/>
            <a:cxnLst/>
            <a:rect l="l" t="t" r="r" b="b"/>
            <a:pathLst>
              <a:path w="952500" h="38100">
                <a:moveTo>
                  <a:pt x="19050" y="0"/>
                </a:moveTo>
                <a:lnTo>
                  <a:pt x="933450" y="0"/>
                </a:lnTo>
                <a:cubicBezTo>
                  <a:pt x="943971" y="0"/>
                  <a:pt x="952500" y="8529"/>
                  <a:pt x="952500" y="19050"/>
                </a:cubicBezTo>
                <a:lnTo>
                  <a:pt x="952500" y="19050"/>
                </a:lnTo>
                <a:cubicBezTo>
                  <a:pt x="952500" y="29571"/>
                  <a:pt x="943971" y="38100"/>
                  <a:pt x="933450" y="38100"/>
                </a:cubicBezTo>
                <a:lnTo>
                  <a:pt x="19050" y="38100"/>
                </a:lnTo>
                <a:cubicBezTo>
                  <a:pt x="8529" y="38100"/>
                  <a:pt x="0" y="29571"/>
                  <a:pt x="0" y="190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ED8936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558165" y="1267778"/>
            <a:ext cx="129949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18096"/>
                </a:solidFill>
                <a:latin typeface="Noto Sans CJK SC"/>
                <a:ea typeface="Microsoft YaHei"/>
                <a:cs typeface="Noto Sans CJK SC"/>
              </a:rPr>
              <a:t>截至 4 月 8 日收盘</a:t>
            </a:r>
          </a:p>
        </p:txBody>
      </p:sp>
      <p:sp>
        <p:nvSpPr>
          <p:cNvPr id="8" name="Freeform 8"/>
          <p:cNvSpPr/>
          <p:nvPr/>
        </p:nvSpPr>
        <p:spPr>
          <a:xfrm>
            <a:off x="571500" y="1619250"/>
            <a:ext cx="2667000" cy="1524000"/>
          </a:xfrm>
          <a:custGeom>
            <a:avLst/>
            <a:gdLst/>
            <a:ahLst/>
            <a:cxnLst/>
            <a:rect l="l" t="t" r="r" b="b"/>
            <a:pathLst>
              <a:path w="2667000" h="1524000">
                <a:moveTo>
                  <a:pt x="76200" y="0"/>
                </a:moveTo>
                <a:lnTo>
                  <a:pt x="2590800" y="0"/>
                </a:lnTo>
                <a:cubicBezTo>
                  <a:pt x="2632884" y="0"/>
                  <a:pt x="2667000" y="34116"/>
                  <a:pt x="2667000" y="76200"/>
                </a:cubicBezTo>
                <a:lnTo>
                  <a:pt x="2667000" y="1447800"/>
                </a:lnTo>
                <a:cubicBezTo>
                  <a:pt x="2667000" y="1489884"/>
                  <a:pt x="2632884" y="1524000"/>
                  <a:pt x="2590800" y="1524000"/>
                </a:cubicBezTo>
                <a:lnTo>
                  <a:pt x="76200" y="1524000"/>
                </a:lnTo>
                <a:cubicBezTo>
                  <a:pt x="34116" y="1524000"/>
                  <a:pt x="0" y="1489884"/>
                  <a:pt x="0" y="1447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5F5"/>
          </a:solidFill>
          <a:ln w="9525">
            <a:solidFill>
              <a:srgbClr val="FC8181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744855" y="1759268"/>
            <a:ext cx="73817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C53030"/>
                </a:solidFill>
                <a:latin typeface="Noto Sans CJK SC"/>
                <a:ea typeface="Microsoft YaHei"/>
                <a:cs typeface="Noto Sans CJK SC"/>
              </a:rPr>
              <a:t>🛢️ 油价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48665" y="2125028"/>
            <a:ext cx="79343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2D3748"/>
                </a:solidFill>
                <a:latin typeface="Noto Sans CJK SC"/>
                <a:ea typeface="Microsoft YaHei"/>
                <a:cs typeface="Noto Sans CJK SC"/>
              </a:rPr>
              <a:t>布伦特原油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39140" y="2282190"/>
            <a:ext cx="970436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A365D"/>
                </a:solidFill>
                <a:latin typeface="Noto Sans CJK SC"/>
                <a:ea typeface="Microsoft YaHei"/>
                <a:cs typeface="Noto Sans CJK SC"/>
              </a:rPr>
              <a:t>$109.18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889760" y="2346960"/>
            <a:ext cx="60883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8A169"/>
                </a:solidFill>
                <a:latin typeface="Noto Sans CJK SC"/>
                <a:ea typeface="Microsoft YaHei"/>
                <a:cs typeface="Noto Sans CJK SC"/>
              </a:rPr>
              <a:t>+7.93%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48665" y="2648902"/>
            <a:ext cx="62474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2D3748"/>
                </a:solidFill>
                <a:latin typeface="Noto Sans CJK SC"/>
                <a:ea typeface="Microsoft YaHei"/>
                <a:cs typeface="Noto Sans CJK SC"/>
              </a:rPr>
              <a:t>WTI 原油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42950" y="2838450"/>
            <a:ext cx="86620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A365D"/>
                </a:solidFill>
                <a:latin typeface="Noto Sans CJK SC"/>
                <a:ea typeface="Microsoft YaHei"/>
                <a:cs typeface="Noto Sans CJK SC"/>
              </a:rPr>
              <a:t>$109.79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701165" y="2887028"/>
            <a:ext cx="53273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8A169"/>
                </a:solidFill>
                <a:latin typeface="Noto Sans CJK SC"/>
                <a:ea typeface="Microsoft YaHei"/>
                <a:cs typeface="Noto Sans CJK SC"/>
              </a:rPr>
              <a:t>+9.66%</a:t>
            </a:r>
          </a:p>
        </p:txBody>
      </p:sp>
      <p:sp>
        <p:nvSpPr>
          <p:cNvPr id="16" name="Freeform 16"/>
          <p:cNvSpPr/>
          <p:nvPr/>
        </p:nvSpPr>
        <p:spPr>
          <a:xfrm>
            <a:off x="3429000" y="1619250"/>
            <a:ext cx="2667000" cy="1524000"/>
          </a:xfrm>
          <a:custGeom>
            <a:avLst/>
            <a:gdLst/>
            <a:ahLst/>
            <a:cxnLst/>
            <a:rect l="l" t="t" r="r" b="b"/>
            <a:pathLst>
              <a:path w="2667000" h="1524000">
                <a:moveTo>
                  <a:pt x="76200" y="0"/>
                </a:moveTo>
                <a:lnTo>
                  <a:pt x="2590800" y="0"/>
                </a:lnTo>
                <a:cubicBezTo>
                  <a:pt x="2632884" y="0"/>
                  <a:pt x="2667000" y="34116"/>
                  <a:pt x="2667000" y="76200"/>
                </a:cubicBezTo>
                <a:lnTo>
                  <a:pt x="2667000" y="1447800"/>
                </a:lnTo>
                <a:cubicBezTo>
                  <a:pt x="2667000" y="1489884"/>
                  <a:pt x="2632884" y="1524000"/>
                  <a:pt x="2590800" y="1524000"/>
                </a:cubicBezTo>
                <a:lnTo>
                  <a:pt x="76200" y="1524000"/>
                </a:lnTo>
                <a:cubicBezTo>
                  <a:pt x="34116" y="1524000"/>
                  <a:pt x="0" y="1489884"/>
                  <a:pt x="0" y="1447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AF5FF"/>
          </a:solidFill>
          <a:ln w="9525">
            <a:solidFill>
              <a:srgbClr val="B794F4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3602355" y="1759268"/>
            <a:ext cx="62431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6B46C1"/>
                </a:solidFill>
                <a:latin typeface="Noto Sans CJK SC"/>
                <a:ea typeface="Microsoft YaHei"/>
                <a:cs typeface="Noto Sans CJK SC"/>
              </a:rPr>
              <a:t>🥇 金价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606165" y="2125028"/>
            <a:ext cx="6400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2D3748"/>
                </a:solidFill>
                <a:latin typeface="Noto Sans CJK SC"/>
                <a:ea typeface="Microsoft YaHei"/>
                <a:cs typeface="Noto Sans CJK SC"/>
              </a:rPr>
              <a:t>现货黄金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3596640" y="2329815"/>
            <a:ext cx="956634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A365D"/>
                </a:solidFill>
                <a:latin typeface="Noto Sans CJK SC"/>
                <a:ea typeface="Microsoft YaHei"/>
                <a:cs typeface="Noto Sans CJK SC"/>
              </a:rPr>
              <a:t>$4,627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747260" y="2394585"/>
            <a:ext cx="51244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E53E3E"/>
                </a:solidFill>
                <a:latin typeface="Noto Sans CJK SC"/>
                <a:ea typeface="Microsoft YaHei"/>
                <a:cs typeface="Noto Sans CJK SC"/>
              </a:rPr>
              <a:t>-3.0%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606165" y="2744152"/>
            <a:ext cx="19972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18096"/>
                </a:solidFill>
                <a:latin typeface="Noto Sans CJK SC"/>
                <a:ea typeface="Microsoft YaHei"/>
                <a:cs typeface="Noto Sans CJK SC"/>
              </a:rPr>
              <a:t>中国黄金储备连续17个月增加</a:t>
            </a:r>
          </a:p>
        </p:txBody>
      </p:sp>
      <p:sp>
        <p:nvSpPr>
          <p:cNvPr id="22" name="Freeform 22"/>
          <p:cNvSpPr/>
          <p:nvPr/>
        </p:nvSpPr>
        <p:spPr>
          <a:xfrm>
            <a:off x="6286500" y="1619250"/>
            <a:ext cx="2667000" cy="1524000"/>
          </a:xfrm>
          <a:custGeom>
            <a:avLst/>
            <a:gdLst/>
            <a:ahLst/>
            <a:cxnLst/>
            <a:rect l="l" t="t" r="r" b="b"/>
            <a:pathLst>
              <a:path w="2667000" h="1524000">
                <a:moveTo>
                  <a:pt x="76200" y="0"/>
                </a:moveTo>
                <a:lnTo>
                  <a:pt x="2590800" y="0"/>
                </a:lnTo>
                <a:cubicBezTo>
                  <a:pt x="2632884" y="0"/>
                  <a:pt x="2667000" y="34116"/>
                  <a:pt x="2667000" y="76200"/>
                </a:cubicBezTo>
                <a:lnTo>
                  <a:pt x="2667000" y="1447800"/>
                </a:lnTo>
                <a:cubicBezTo>
                  <a:pt x="2667000" y="1489884"/>
                  <a:pt x="2632884" y="1524000"/>
                  <a:pt x="2590800" y="1524000"/>
                </a:cubicBezTo>
                <a:lnTo>
                  <a:pt x="76200" y="1524000"/>
                </a:lnTo>
                <a:cubicBezTo>
                  <a:pt x="34116" y="1524000"/>
                  <a:pt x="0" y="1489884"/>
                  <a:pt x="0" y="1447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0FFF4">
              <a:alpha val="50000"/>
            </a:srgbClr>
          </a:solidFill>
          <a:ln w="9525">
            <a:solidFill>
              <a:srgbClr val="68D391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6459855" y="1759268"/>
            <a:ext cx="62431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76749"/>
                </a:solidFill>
                <a:latin typeface="Noto Sans CJK SC"/>
                <a:ea typeface="Microsoft YaHei"/>
                <a:cs typeface="Noto Sans CJK SC"/>
              </a:rPr>
              <a:t>📈 股指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463665" y="2125028"/>
            <a:ext cx="98512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2D3748"/>
                </a:solidFill>
                <a:latin typeface="Noto Sans CJK SC"/>
                <a:ea typeface="Microsoft YaHei"/>
                <a:cs typeface="Noto Sans CJK SC"/>
              </a:rPr>
              <a:t>标普 500 期货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457950" y="2314575"/>
            <a:ext cx="67067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A365D"/>
                </a:solidFill>
                <a:latin typeface="Noto Sans CJK SC"/>
                <a:ea typeface="Microsoft YaHei"/>
                <a:cs typeface="Noto Sans CJK SC"/>
              </a:rPr>
              <a:t>6,599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416165" y="2363152"/>
            <a:ext cx="4483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E53E3E"/>
                </a:solidFill>
                <a:latin typeface="Noto Sans CJK SC"/>
                <a:ea typeface="Microsoft YaHei"/>
                <a:cs typeface="Noto Sans CJK SC"/>
              </a:rPr>
              <a:t>-0.3%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463665" y="2601278"/>
            <a:ext cx="125349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2D3748"/>
                </a:solidFill>
                <a:latin typeface="Noto Sans CJK SC"/>
                <a:ea typeface="Microsoft YaHei"/>
                <a:cs typeface="Noto Sans CJK SC"/>
              </a:rPr>
              <a:t>纳斯达克 100 期货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459855" y="2807018"/>
            <a:ext cx="61396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A365D"/>
                </a:solidFill>
                <a:latin typeface="Noto Sans CJK SC"/>
                <a:ea typeface="Microsoft YaHei"/>
                <a:cs typeface="Noto Sans CJK SC"/>
              </a:rPr>
              <a:t>24,119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799070" y="2855595"/>
            <a:ext cx="38433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E53E3E"/>
                </a:solidFill>
                <a:latin typeface="Noto Sans CJK SC"/>
                <a:ea typeface="Microsoft YaHei"/>
                <a:cs typeface="Noto Sans CJK SC"/>
              </a:rPr>
              <a:t>-0.4%</a:t>
            </a:r>
          </a:p>
        </p:txBody>
      </p:sp>
      <p:sp>
        <p:nvSpPr>
          <p:cNvPr id="30" name="Freeform 30"/>
          <p:cNvSpPr/>
          <p:nvPr/>
        </p:nvSpPr>
        <p:spPr>
          <a:xfrm>
            <a:off x="9144000" y="1619250"/>
            <a:ext cx="2476500" cy="1524000"/>
          </a:xfrm>
          <a:custGeom>
            <a:avLst/>
            <a:gdLst/>
            <a:ahLst/>
            <a:cxnLst/>
            <a:rect l="l" t="t" r="r" b="b"/>
            <a:pathLst>
              <a:path w="2476500" h="1524000">
                <a:moveTo>
                  <a:pt x="76200" y="0"/>
                </a:moveTo>
                <a:lnTo>
                  <a:pt x="2400300" y="0"/>
                </a:lnTo>
                <a:cubicBezTo>
                  <a:pt x="2442384" y="0"/>
                  <a:pt x="2476500" y="34116"/>
                  <a:pt x="2476500" y="76200"/>
                </a:cubicBezTo>
                <a:lnTo>
                  <a:pt x="2476500" y="1447800"/>
                </a:lnTo>
                <a:cubicBezTo>
                  <a:pt x="2476500" y="1489884"/>
                  <a:pt x="2442384" y="1524000"/>
                  <a:pt x="2400300" y="1524000"/>
                </a:cubicBezTo>
                <a:lnTo>
                  <a:pt x="76200" y="1524000"/>
                </a:lnTo>
                <a:cubicBezTo>
                  <a:pt x="34116" y="1524000"/>
                  <a:pt x="0" y="1489884"/>
                  <a:pt x="0" y="1447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EBF8FF"/>
          </a:solidFill>
          <a:ln w="9525">
            <a:solidFill>
              <a:srgbClr val="63B3ED"/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9317355" y="1759268"/>
            <a:ext cx="62431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B6CB0"/>
                </a:solidFill>
                <a:latin typeface="Noto Sans CJK SC"/>
                <a:ea typeface="Microsoft YaHei"/>
                <a:cs typeface="Noto Sans CJK SC"/>
              </a:rPr>
              <a:t>💱 汇率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9321165" y="2125028"/>
            <a:ext cx="72442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2D3748"/>
                </a:solidFill>
                <a:latin typeface="Noto Sans CJK SC"/>
                <a:ea typeface="Microsoft YaHei"/>
                <a:cs typeface="Noto Sans CJK SC"/>
              </a:rPr>
              <a:t>欧元/美元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9315450" y="2314575"/>
            <a:ext cx="68218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A365D"/>
                </a:solidFill>
                <a:latin typeface="Noto Sans CJK SC"/>
                <a:ea typeface="Microsoft YaHei"/>
                <a:cs typeface="Noto Sans CJK SC"/>
              </a:rPr>
              <a:t>1.1534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0368915" y="2363152"/>
            <a:ext cx="49439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E53E3E"/>
                </a:solidFill>
                <a:latin typeface="Noto Sans CJK SC"/>
                <a:ea typeface="Microsoft YaHei"/>
                <a:cs typeface="Noto Sans CJK SC"/>
              </a:rPr>
              <a:t>-0.12%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9321165" y="2601278"/>
            <a:ext cx="72442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2D3748"/>
                </a:solidFill>
                <a:latin typeface="Noto Sans CJK SC"/>
                <a:ea typeface="Microsoft YaHei"/>
                <a:cs typeface="Noto Sans CJK SC"/>
              </a:rPr>
              <a:t>美元/日元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9315450" y="2790825"/>
            <a:ext cx="73968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A365D"/>
                </a:solidFill>
                <a:latin typeface="Noto Sans CJK SC"/>
                <a:ea typeface="Microsoft YaHei"/>
                <a:cs typeface="Noto Sans CJK SC"/>
              </a:rPr>
              <a:t>159.57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0368915" y="2839402"/>
            <a:ext cx="11101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18096"/>
                </a:solidFill>
                <a:latin typeface="Noto Sans CJK SC"/>
                <a:ea typeface="Microsoft YaHei"/>
                <a:cs typeface="Noto Sans CJK SC"/>
              </a:rPr>
              <a:t>-</a:t>
            </a:r>
          </a:p>
        </p:txBody>
      </p:sp>
      <p:sp>
        <p:nvSpPr>
          <p:cNvPr id="38" name="Rectangle 38"/>
          <p:cNvSpPr/>
          <p:nvPr/>
        </p:nvSpPr>
        <p:spPr>
          <a:xfrm>
            <a:off x="571500" y="3429000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554355" y="3569018"/>
            <a:ext cx="86239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A365D"/>
                </a:solidFill>
                <a:latin typeface="Noto Sans CJK SC"/>
                <a:ea typeface="Microsoft YaHei"/>
                <a:cs typeface="Noto Sans CJK SC"/>
              </a:rPr>
              <a:t>市场点评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556260" y="3870960"/>
            <a:ext cx="438569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D3748"/>
                </a:solidFill>
                <a:latin typeface="Noto Sans CJK SC"/>
                <a:ea typeface="Microsoft YaHei"/>
                <a:cs typeface="Noto Sans CJK SC"/>
              </a:rPr>
              <a:t>• 美伊停火谈判进展缓解能源供应担忧，油价从高位回落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556260" y="4109085"/>
            <a:ext cx="280835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D3748"/>
                </a:solidFill>
                <a:latin typeface="Noto Sans CJK SC"/>
                <a:ea typeface="Microsoft YaHei"/>
                <a:cs typeface="Noto Sans CJK SC"/>
              </a:rPr>
              <a:t>• 黄金避险需求减弱，价格小幅回调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556260" y="4347210"/>
            <a:ext cx="405269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D3748"/>
                </a:solidFill>
                <a:latin typeface="Noto Sans CJK SC"/>
                <a:ea typeface="Microsoft YaHei"/>
                <a:cs typeface="Noto Sans CJK SC"/>
              </a:rPr>
              <a:t>• 美联储降息预期降温，市场预计今年降息50个基点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558165" y="4744402"/>
            <a:ext cx="188990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18096"/>
                </a:solidFill>
                <a:latin typeface="Noto Sans CJK SC"/>
                <a:ea typeface="Microsoft YaHei"/>
                <a:cs typeface="Noto Sans CJK SC"/>
              </a:rPr>
              <a:t>数据来源：AASTOCKS | BCR</a:t>
            </a:r>
          </a:p>
        </p:txBody>
      </p:sp>
    </p:spTree>
  </p:cSld>
  <p:clrMapOvr>
    <a:masterClrMapping/>
  </p:clrMapOvr>
  <p:transition 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A365D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56260" y="441960"/>
            <a:ext cx="220370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718096"/>
                </a:solidFill>
                <a:latin typeface="Noto Sans CJK SC"/>
                <a:ea typeface="Microsoft YaHei"/>
                <a:cs typeface="Noto Sans CJK SC"/>
              </a:rPr>
              <a:t>国际形势日报 | 2026-04-09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41020" y="693420"/>
            <a:ext cx="1533144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1A365D"/>
                </a:solidFill>
                <a:latin typeface="Noto Sans CJK SC"/>
                <a:ea typeface="Microsoft YaHei"/>
                <a:cs typeface="Noto Sans CJK SC"/>
              </a:rPr>
              <a:t>简讯速读</a:t>
            </a:r>
          </a:p>
        </p:txBody>
      </p:sp>
      <p:sp>
        <p:nvSpPr>
          <p:cNvPr id="6" name="Freeform 6"/>
          <p:cNvSpPr/>
          <p:nvPr/>
        </p:nvSpPr>
        <p:spPr>
          <a:xfrm>
            <a:off x="571500" y="1095375"/>
            <a:ext cx="952500" cy="38100"/>
          </a:xfrm>
          <a:custGeom>
            <a:avLst/>
            <a:gdLst/>
            <a:ahLst/>
            <a:cxnLst/>
            <a:rect l="l" t="t" r="r" b="b"/>
            <a:pathLst>
              <a:path w="952500" h="38100">
                <a:moveTo>
                  <a:pt x="19050" y="0"/>
                </a:moveTo>
                <a:lnTo>
                  <a:pt x="933450" y="0"/>
                </a:lnTo>
                <a:cubicBezTo>
                  <a:pt x="943971" y="0"/>
                  <a:pt x="952500" y="8529"/>
                  <a:pt x="952500" y="19050"/>
                </a:cubicBezTo>
                <a:lnTo>
                  <a:pt x="952500" y="19050"/>
                </a:lnTo>
                <a:cubicBezTo>
                  <a:pt x="952500" y="29571"/>
                  <a:pt x="943971" y="38100"/>
                  <a:pt x="933450" y="38100"/>
                </a:cubicBezTo>
                <a:lnTo>
                  <a:pt x="19050" y="38100"/>
                </a:lnTo>
                <a:cubicBezTo>
                  <a:pt x="8529" y="38100"/>
                  <a:pt x="0" y="29571"/>
                  <a:pt x="0" y="190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ED8936"/>
          </a:solidFill>
          <a:ln>
            <a:noFill/>
          </a:ln>
        </p:spPr>
      </p:sp>
      <p:grpSp>
        <p:nvGrpSpPr>
          <p:cNvPr id="11" name="Group 11"/>
          <p:cNvGrpSpPr/>
          <p:nvPr/>
        </p:nvGrpSpPr>
        <p:grpSpPr>
          <a:xfrm>
            <a:off x="571500" y="1428750"/>
            <a:ext cx="11049000" cy="571500"/>
            <a:chOff x="571500" y="1428750"/>
            <a:chExt cx="11049000" cy="571500"/>
          </a:xfrm>
        </p:grpSpPr>
        <p:sp>
          <p:nvSpPr>
            <p:cNvPr id="7" name="Freeform 7"/>
            <p:cNvSpPr/>
            <p:nvPr/>
          </p:nvSpPr>
          <p:spPr>
            <a:xfrm>
              <a:off x="571500" y="1428750"/>
              <a:ext cx="11049000" cy="571500"/>
            </a:xfrm>
            <a:custGeom>
              <a:avLst/>
              <a:gdLst/>
              <a:ahLst/>
              <a:cxnLst/>
              <a:rect l="l" t="t" r="r" b="b"/>
              <a:pathLst>
                <a:path w="11049000" h="571500">
                  <a:moveTo>
                    <a:pt x="38100" y="0"/>
                  </a:moveTo>
                  <a:lnTo>
                    <a:pt x="11010900" y="0"/>
                  </a:lnTo>
                  <a:cubicBezTo>
                    <a:pt x="11031942" y="0"/>
                    <a:pt x="11049000" y="17058"/>
                    <a:pt x="11049000" y="38100"/>
                  </a:cubicBezTo>
                  <a:lnTo>
                    <a:pt x="11049000" y="533400"/>
                  </a:lnTo>
                  <a:cubicBezTo>
                    <a:pt x="11049000" y="554442"/>
                    <a:pt x="11031942" y="571500"/>
                    <a:pt x="11010900" y="571500"/>
                  </a:cubicBezTo>
                  <a:lnTo>
                    <a:pt x="38100" y="571500"/>
                  </a:lnTo>
                  <a:cubicBezTo>
                    <a:pt x="17058" y="571500"/>
                    <a:pt x="0" y="554442"/>
                    <a:pt x="0" y="5334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F7FAFC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742950" y="1600200"/>
              <a:ext cx="228600" cy="228600"/>
            </a:xfrm>
            <a:prstGeom prst="ellipse">
              <a:avLst/>
            </a:prstGeom>
            <a:solidFill>
              <a:srgbClr val="3182CE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19762" y="1648778"/>
              <a:ext cx="7497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Noto Sans CJK SC"/>
                  <a:ea typeface="Microsoft YaHei"/>
                  <a:cs typeface="Noto Sans CJK SC"/>
                </a:rPr>
                <a:t>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27760" y="1642110"/>
              <a:ext cx="482384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D3748"/>
                  </a:solidFill>
                  <a:latin typeface="Noto Sans CJK SC"/>
                  <a:ea typeface="Microsoft YaHei"/>
                  <a:cs typeface="Noto Sans CJK SC"/>
                </a:rPr>
                <a:t>OPEC+ 同意 4 月每日增产 20.6 万桶，超去年第 4 季增产水平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571500" y="2095500"/>
            <a:ext cx="11049000" cy="571500"/>
            <a:chOff x="571500" y="2095500"/>
            <a:chExt cx="11049000" cy="571500"/>
          </a:xfrm>
        </p:grpSpPr>
        <p:sp>
          <p:nvSpPr>
            <p:cNvPr id="12" name="Freeform 12"/>
            <p:cNvSpPr/>
            <p:nvPr/>
          </p:nvSpPr>
          <p:spPr>
            <a:xfrm>
              <a:off x="571500" y="2095500"/>
              <a:ext cx="11049000" cy="571500"/>
            </a:xfrm>
            <a:custGeom>
              <a:avLst/>
              <a:gdLst/>
              <a:ahLst/>
              <a:cxnLst/>
              <a:rect l="l" t="t" r="r" b="b"/>
              <a:pathLst>
                <a:path w="11049000" h="571500">
                  <a:moveTo>
                    <a:pt x="38100" y="0"/>
                  </a:moveTo>
                  <a:lnTo>
                    <a:pt x="11010900" y="0"/>
                  </a:lnTo>
                  <a:cubicBezTo>
                    <a:pt x="11031942" y="0"/>
                    <a:pt x="11049000" y="17058"/>
                    <a:pt x="11049000" y="38100"/>
                  </a:cubicBezTo>
                  <a:lnTo>
                    <a:pt x="11049000" y="533400"/>
                  </a:lnTo>
                  <a:cubicBezTo>
                    <a:pt x="11049000" y="554442"/>
                    <a:pt x="11031942" y="571500"/>
                    <a:pt x="11010900" y="571500"/>
                  </a:cubicBezTo>
                  <a:lnTo>
                    <a:pt x="38100" y="571500"/>
                  </a:lnTo>
                  <a:cubicBezTo>
                    <a:pt x="17058" y="571500"/>
                    <a:pt x="0" y="554442"/>
                    <a:pt x="0" y="5334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F7FAFC"/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742950" y="2266950"/>
              <a:ext cx="228600" cy="228600"/>
            </a:xfrm>
            <a:prstGeom prst="ellipse">
              <a:avLst/>
            </a:prstGeom>
            <a:solidFill>
              <a:srgbClr val="3182CE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99634" y="2315528"/>
              <a:ext cx="11523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Noto Sans CJK SC"/>
                  <a:ea typeface="Microsoft YaHei"/>
                  <a:cs typeface="Noto Sans CJK SC"/>
                </a:rPr>
                <a:t>2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127760" y="2308860"/>
              <a:ext cx="56388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D3748"/>
                  </a:solidFill>
                  <a:latin typeface="Noto Sans CJK SC"/>
                  <a:ea typeface="Microsoft YaHei"/>
                  <a:cs typeface="Noto Sans CJK SC"/>
                </a:rPr>
                <a:t>中国外交部敦促各方立即停止军事行动，尽快启动和谈进程解决伊朗问题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571500" y="2762250"/>
            <a:ext cx="11049000" cy="571500"/>
            <a:chOff x="571500" y="2762250"/>
            <a:chExt cx="11049000" cy="571500"/>
          </a:xfrm>
        </p:grpSpPr>
        <p:sp>
          <p:nvSpPr>
            <p:cNvPr id="17" name="Freeform 17"/>
            <p:cNvSpPr/>
            <p:nvPr/>
          </p:nvSpPr>
          <p:spPr>
            <a:xfrm>
              <a:off x="571500" y="2762250"/>
              <a:ext cx="11049000" cy="571500"/>
            </a:xfrm>
            <a:custGeom>
              <a:avLst/>
              <a:gdLst/>
              <a:ahLst/>
              <a:cxnLst/>
              <a:rect l="l" t="t" r="r" b="b"/>
              <a:pathLst>
                <a:path w="11049000" h="571500">
                  <a:moveTo>
                    <a:pt x="38100" y="0"/>
                  </a:moveTo>
                  <a:lnTo>
                    <a:pt x="11010900" y="0"/>
                  </a:lnTo>
                  <a:cubicBezTo>
                    <a:pt x="11031942" y="0"/>
                    <a:pt x="11049000" y="17058"/>
                    <a:pt x="11049000" y="38100"/>
                  </a:cubicBezTo>
                  <a:lnTo>
                    <a:pt x="11049000" y="533400"/>
                  </a:lnTo>
                  <a:cubicBezTo>
                    <a:pt x="11049000" y="554442"/>
                    <a:pt x="11031942" y="571500"/>
                    <a:pt x="11010900" y="571500"/>
                  </a:cubicBezTo>
                  <a:lnTo>
                    <a:pt x="38100" y="571500"/>
                  </a:lnTo>
                  <a:cubicBezTo>
                    <a:pt x="17058" y="571500"/>
                    <a:pt x="0" y="554442"/>
                    <a:pt x="0" y="5334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F7FAFC"/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742950" y="2933700"/>
              <a:ext cx="228600" cy="228600"/>
            </a:xfrm>
            <a:prstGeom prst="ellipse">
              <a:avLst/>
            </a:prstGeom>
            <a:solidFill>
              <a:srgbClr val="3182CE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99634" y="2982278"/>
              <a:ext cx="11523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Noto Sans CJK SC"/>
                  <a:ea typeface="Microsoft YaHei"/>
                  <a:cs typeface="Noto Sans CJK SC"/>
                </a:rPr>
                <a:t>3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27760" y="2975610"/>
              <a:ext cx="480631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D3748"/>
                  </a:solidFill>
                  <a:latin typeface="Noto Sans CJK SC"/>
                  <a:ea typeface="Microsoft YaHei"/>
                  <a:cs typeface="Noto Sans CJK SC"/>
                </a:rPr>
                <a:t>欧盟与澳大利亚达成全面贸易协定，取消约 98% 商品进口关税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571500" y="3429000"/>
            <a:ext cx="11049000" cy="571500"/>
            <a:chOff x="571500" y="3429000"/>
            <a:chExt cx="11049000" cy="571500"/>
          </a:xfrm>
        </p:grpSpPr>
        <p:sp>
          <p:nvSpPr>
            <p:cNvPr id="22" name="Freeform 22"/>
            <p:cNvSpPr/>
            <p:nvPr/>
          </p:nvSpPr>
          <p:spPr>
            <a:xfrm>
              <a:off x="571500" y="3429000"/>
              <a:ext cx="11049000" cy="571500"/>
            </a:xfrm>
            <a:custGeom>
              <a:avLst/>
              <a:gdLst/>
              <a:ahLst/>
              <a:cxnLst/>
              <a:rect l="l" t="t" r="r" b="b"/>
              <a:pathLst>
                <a:path w="11049000" h="571500">
                  <a:moveTo>
                    <a:pt x="38100" y="0"/>
                  </a:moveTo>
                  <a:lnTo>
                    <a:pt x="11010900" y="0"/>
                  </a:lnTo>
                  <a:cubicBezTo>
                    <a:pt x="11031942" y="0"/>
                    <a:pt x="11049000" y="17058"/>
                    <a:pt x="11049000" y="38100"/>
                  </a:cubicBezTo>
                  <a:lnTo>
                    <a:pt x="11049000" y="533400"/>
                  </a:lnTo>
                  <a:cubicBezTo>
                    <a:pt x="11049000" y="554442"/>
                    <a:pt x="11031942" y="571500"/>
                    <a:pt x="11010900" y="571500"/>
                  </a:cubicBezTo>
                  <a:lnTo>
                    <a:pt x="38100" y="571500"/>
                  </a:lnTo>
                  <a:cubicBezTo>
                    <a:pt x="17058" y="571500"/>
                    <a:pt x="0" y="554442"/>
                    <a:pt x="0" y="5334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F7FAFC"/>
            </a:solidFill>
            <a:ln>
              <a:noFill/>
            </a:ln>
          </p:spPr>
        </p:sp>
        <p:sp>
          <p:nvSpPr>
            <p:cNvPr id="23" name="Ellipse 23"/>
            <p:cNvSpPr/>
            <p:nvPr/>
          </p:nvSpPr>
          <p:spPr>
            <a:xfrm>
              <a:off x="742950" y="3600450"/>
              <a:ext cx="228600" cy="228600"/>
            </a:xfrm>
            <a:prstGeom prst="ellipse">
              <a:avLst/>
            </a:prstGeom>
            <a:solidFill>
              <a:srgbClr val="3182CE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99634" y="3649028"/>
              <a:ext cx="11523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Noto Sans CJK SC"/>
                  <a:ea typeface="Microsoft YaHei"/>
                  <a:cs typeface="Noto Sans CJK SC"/>
                </a:rPr>
                <a:t>4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127760" y="3642360"/>
              <a:ext cx="478002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D3748"/>
                  </a:solidFill>
                  <a:latin typeface="Noto Sans CJK SC"/>
                  <a:ea typeface="Microsoft YaHei"/>
                  <a:cs typeface="Noto Sans CJK SC"/>
                </a:rPr>
                <a:t>日本拟修改"防卫装备转移三原则"，原则允许出口杀伤性武器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571500" y="4095750"/>
            <a:ext cx="11049000" cy="571500"/>
            <a:chOff x="571500" y="4095750"/>
            <a:chExt cx="11049000" cy="571500"/>
          </a:xfrm>
        </p:grpSpPr>
        <p:sp>
          <p:nvSpPr>
            <p:cNvPr id="27" name="Freeform 27"/>
            <p:cNvSpPr/>
            <p:nvPr/>
          </p:nvSpPr>
          <p:spPr>
            <a:xfrm>
              <a:off x="571500" y="4095750"/>
              <a:ext cx="11049000" cy="571500"/>
            </a:xfrm>
            <a:custGeom>
              <a:avLst/>
              <a:gdLst/>
              <a:ahLst/>
              <a:cxnLst/>
              <a:rect l="l" t="t" r="r" b="b"/>
              <a:pathLst>
                <a:path w="11049000" h="571500">
                  <a:moveTo>
                    <a:pt x="38100" y="0"/>
                  </a:moveTo>
                  <a:lnTo>
                    <a:pt x="11010900" y="0"/>
                  </a:lnTo>
                  <a:cubicBezTo>
                    <a:pt x="11031942" y="0"/>
                    <a:pt x="11049000" y="17058"/>
                    <a:pt x="11049000" y="38100"/>
                  </a:cubicBezTo>
                  <a:lnTo>
                    <a:pt x="11049000" y="533400"/>
                  </a:lnTo>
                  <a:cubicBezTo>
                    <a:pt x="11049000" y="554442"/>
                    <a:pt x="11031942" y="571500"/>
                    <a:pt x="11010900" y="571500"/>
                  </a:cubicBezTo>
                  <a:lnTo>
                    <a:pt x="38100" y="571500"/>
                  </a:lnTo>
                  <a:cubicBezTo>
                    <a:pt x="17058" y="571500"/>
                    <a:pt x="0" y="554442"/>
                    <a:pt x="0" y="5334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F7FAFC"/>
            </a:solidFill>
            <a:ln>
              <a:noFill/>
            </a:ln>
          </p:spPr>
        </p:sp>
        <p:sp>
          <p:nvSpPr>
            <p:cNvPr id="28" name="Ellipse 28"/>
            <p:cNvSpPr/>
            <p:nvPr/>
          </p:nvSpPr>
          <p:spPr>
            <a:xfrm>
              <a:off x="742950" y="4267200"/>
              <a:ext cx="228600" cy="228600"/>
            </a:xfrm>
            <a:prstGeom prst="ellipse">
              <a:avLst/>
            </a:prstGeom>
            <a:solidFill>
              <a:srgbClr val="3182CE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99634" y="4315778"/>
              <a:ext cx="11523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Noto Sans CJK SC"/>
                  <a:ea typeface="Microsoft YaHei"/>
                  <a:cs typeface="Noto Sans CJK SC"/>
                </a:rPr>
                <a:t>5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27760" y="4309110"/>
              <a:ext cx="56388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D3748"/>
                  </a:solidFill>
                  <a:latin typeface="Noto Sans CJK SC"/>
                  <a:ea typeface="Microsoft YaHei"/>
                  <a:cs typeface="Noto Sans CJK SC"/>
                </a:rPr>
                <a:t>朝鲜黑客被指攻入美国软件公司，数千企业恐受影响，目标指向加密货币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571500" y="4762500"/>
            <a:ext cx="11049000" cy="571500"/>
            <a:chOff x="571500" y="4762500"/>
            <a:chExt cx="11049000" cy="571500"/>
          </a:xfrm>
        </p:grpSpPr>
        <p:sp>
          <p:nvSpPr>
            <p:cNvPr id="32" name="Freeform 32"/>
            <p:cNvSpPr/>
            <p:nvPr/>
          </p:nvSpPr>
          <p:spPr>
            <a:xfrm>
              <a:off x="571500" y="4762500"/>
              <a:ext cx="11049000" cy="571500"/>
            </a:xfrm>
            <a:custGeom>
              <a:avLst/>
              <a:gdLst/>
              <a:ahLst/>
              <a:cxnLst/>
              <a:rect l="l" t="t" r="r" b="b"/>
              <a:pathLst>
                <a:path w="11049000" h="571500">
                  <a:moveTo>
                    <a:pt x="38100" y="0"/>
                  </a:moveTo>
                  <a:lnTo>
                    <a:pt x="11010900" y="0"/>
                  </a:lnTo>
                  <a:cubicBezTo>
                    <a:pt x="11031942" y="0"/>
                    <a:pt x="11049000" y="17058"/>
                    <a:pt x="11049000" y="38100"/>
                  </a:cubicBezTo>
                  <a:lnTo>
                    <a:pt x="11049000" y="533400"/>
                  </a:lnTo>
                  <a:cubicBezTo>
                    <a:pt x="11049000" y="554442"/>
                    <a:pt x="11031942" y="571500"/>
                    <a:pt x="11010900" y="571500"/>
                  </a:cubicBezTo>
                  <a:lnTo>
                    <a:pt x="38100" y="571500"/>
                  </a:lnTo>
                  <a:cubicBezTo>
                    <a:pt x="17058" y="571500"/>
                    <a:pt x="0" y="554442"/>
                    <a:pt x="0" y="5334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F7FAFC"/>
            </a:solidFill>
            <a:ln>
              <a:noFill/>
            </a:ln>
          </p:spPr>
        </p:sp>
        <p:sp>
          <p:nvSpPr>
            <p:cNvPr id="33" name="Ellipse 33"/>
            <p:cNvSpPr/>
            <p:nvPr/>
          </p:nvSpPr>
          <p:spPr>
            <a:xfrm>
              <a:off x="742950" y="4933950"/>
              <a:ext cx="228600" cy="228600"/>
            </a:xfrm>
            <a:prstGeom prst="ellipse">
              <a:avLst/>
            </a:prstGeom>
            <a:solidFill>
              <a:srgbClr val="3182CE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99634" y="4982528"/>
              <a:ext cx="11523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Noto Sans CJK SC"/>
                  <a:ea typeface="Microsoft YaHei"/>
                  <a:cs typeface="Noto Sans CJK SC"/>
                </a:rPr>
                <a:t>6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127760" y="4975860"/>
              <a:ext cx="611200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D3748"/>
                  </a:solidFill>
                  <a:latin typeface="Noto Sans CJK SC"/>
                  <a:ea typeface="Microsoft YaHei"/>
                  <a:cs typeface="Noto Sans CJK SC"/>
                </a:rPr>
                <a:t>美联储降息预期降温，市场预计今年降息 50 个基点，时间点从夏季推迟至秋季</a:t>
              </a:r>
            </a:p>
          </p:txBody>
        </p:sp>
      </p:grpSp>
      <p:sp>
        <p:nvSpPr>
          <p:cNvPr id="37" name="TextBox 37"/>
          <p:cNvSpPr txBox="1"/>
          <p:nvPr/>
        </p:nvSpPr>
        <p:spPr>
          <a:xfrm>
            <a:off x="558165" y="5601652"/>
            <a:ext cx="81643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18096"/>
                </a:solidFill>
                <a:latin typeface="Noto Sans CJK SC"/>
                <a:ea typeface="Microsoft YaHei"/>
                <a:cs typeface="Noto Sans CJK SC"/>
              </a:rPr>
              <a:t>共 6 条简讯</a:t>
            </a:r>
          </a:p>
        </p:txBody>
      </p:sp>
    </p:spTree>
  </p:cSld>
  <p:clrMapOvr>
    <a:masterClrMapping/>
  </p:clrMapOvr>
  <p:transition 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A365D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56260" y="441960"/>
            <a:ext cx="220370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718096"/>
                </a:solidFill>
                <a:latin typeface="Noto Sans CJK SC"/>
                <a:ea typeface="Microsoft YaHei"/>
                <a:cs typeface="Noto Sans CJK SC"/>
              </a:rPr>
              <a:t>国际形势日报 | 2026-04-09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41020" y="693420"/>
            <a:ext cx="3428581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1A365D"/>
                </a:solidFill>
                <a:latin typeface="Noto Sans CJK SC"/>
                <a:ea typeface="Microsoft YaHei"/>
                <a:cs typeface="Noto Sans CJK SC"/>
              </a:rPr>
              <a:t>今日看点 · 明日预判</a:t>
            </a:r>
          </a:p>
        </p:txBody>
      </p:sp>
      <p:sp>
        <p:nvSpPr>
          <p:cNvPr id="6" name="Freeform 6"/>
          <p:cNvSpPr/>
          <p:nvPr/>
        </p:nvSpPr>
        <p:spPr>
          <a:xfrm>
            <a:off x="571500" y="1095375"/>
            <a:ext cx="1428750" cy="38100"/>
          </a:xfrm>
          <a:custGeom>
            <a:avLst/>
            <a:gdLst/>
            <a:ahLst/>
            <a:cxnLst/>
            <a:rect l="l" t="t" r="r" b="b"/>
            <a:pathLst>
              <a:path w="1428750" h="38100">
                <a:moveTo>
                  <a:pt x="19050" y="0"/>
                </a:moveTo>
                <a:lnTo>
                  <a:pt x="1409700" y="0"/>
                </a:lnTo>
                <a:cubicBezTo>
                  <a:pt x="1420221" y="0"/>
                  <a:pt x="1428750" y="8529"/>
                  <a:pt x="1428750" y="19050"/>
                </a:cubicBezTo>
                <a:lnTo>
                  <a:pt x="1428750" y="19050"/>
                </a:lnTo>
                <a:cubicBezTo>
                  <a:pt x="1428750" y="29571"/>
                  <a:pt x="1420221" y="38100"/>
                  <a:pt x="1409700" y="38100"/>
                </a:cubicBezTo>
                <a:lnTo>
                  <a:pt x="19050" y="38100"/>
                </a:lnTo>
                <a:cubicBezTo>
                  <a:pt x="8529" y="38100"/>
                  <a:pt x="0" y="29571"/>
                  <a:pt x="0" y="190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ED8936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556260" y="1299210"/>
            <a:ext cx="24841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718096"/>
                </a:solidFill>
                <a:latin typeface="Noto Sans CJK SC"/>
                <a:ea typeface="Microsoft YaHei"/>
                <a:cs typeface="Noto Sans CJK SC"/>
              </a:rPr>
              <a:t>以下是需要密切关注的重点事件</a:t>
            </a:r>
          </a:p>
        </p:txBody>
      </p:sp>
      <p:sp>
        <p:nvSpPr>
          <p:cNvPr id="8" name="Rectangle 8"/>
          <p:cNvSpPr/>
          <p:nvPr/>
        </p:nvSpPr>
        <p:spPr>
          <a:xfrm>
            <a:off x="571500" y="1666875"/>
            <a:ext cx="11049000" cy="476250"/>
          </a:xfrm>
          <a:prstGeom prst="rect">
            <a:avLst/>
          </a:prstGeom>
          <a:solidFill>
            <a:srgbClr val="1A365D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746760" y="1823085"/>
            <a:ext cx="39852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FFFFF"/>
                </a:solidFill>
                <a:latin typeface="Noto Sans CJK SC"/>
                <a:ea typeface="Microsoft YaHei"/>
                <a:cs typeface="Noto Sans CJK SC"/>
              </a:rPr>
              <a:t>事件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794760" y="1823085"/>
            <a:ext cx="39852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FFFFF"/>
                </a:solidFill>
                <a:latin typeface="Noto Sans CJK SC"/>
                <a:ea typeface="Microsoft YaHei"/>
                <a:cs typeface="Noto Sans CJK SC"/>
              </a:rPr>
              <a:t>时间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176010" y="1823085"/>
            <a:ext cx="58254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FFFFF"/>
                </a:solidFill>
                <a:latin typeface="Noto Sans CJK SC"/>
                <a:ea typeface="Microsoft YaHei"/>
                <a:cs typeface="Noto Sans CJK SC"/>
              </a:rPr>
              <a:t>重要性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557260" y="1823085"/>
            <a:ext cx="76657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FFFFF"/>
                </a:solidFill>
                <a:latin typeface="Noto Sans CJK SC"/>
                <a:ea typeface="Microsoft YaHei"/>
                <a:cs typeface="Noto Sans CJK SC"/>
              </a:rPr>
              <a:t>预期影响</a:t>
            </a:r>
          </a:p>
        </p:txBody>
      </p:sp>
      <p:sp>
        <p:nvSpPr>
          <p:cNvPr id="13" name="Rectangle 13"/>
          <p:cNvSpPr/>
          <p:nvPr/>
        </p:nvSpPr>
        <p:spPr>
          <a:xfrm>
            <a:off x="571500" y="2143125"/>
            <a:ext cx="11049000" cy="571500"/>
          </a:xfrm>
          <a:prstGeom prst="rect">
            <a:avLst/>
          </a:prstGeom>
          <a:solidFill>
            <a:srgbClr val="F7FAFC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746760" y="2346960"/>
            <a:ext cx="143256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A365D"/>
                </a:solidFill>
                <a:latin typeface="Noto Sans CJK SC"/>
                <a:ea typeface="Microsoft YaHei"/>
                <a:cs typeface="Noto Sans CJK SC"/>
              </a:rPr>
              <a:t>美伊停火协议进展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794760" y="2346960"/>
            <a:ext cx="38100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D3748"/>
                </a:solidFill>
                <a:latin typeface="Noto Sans CJK SC"/>
                <a:ea typeface="Microsoft YaHei"/>
                <a:cs typeface="Noto Sans CJK SC"/>
              </a:rPr>
              <a:t>全天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176010" y="2346960"/>
            <a:ext cx="53654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E53E3E"/>
                </a:solidFill>
                <a:latin typeface="Noto Sans CJK SC"/>
                <a:ea typeface="Microsoft YaHei"/>
                <a:cs typeface="Noto Sans CJK SC"/>
              </a:rPr>
              <a:t>⭐⭐⭐⭐⭐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557260" y="2346960"/>
            <a:ext cx="178308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D3748"/>
                </a:solidFill>
                <a:latin typeface="Noto Sans CJK SC"/>
                <a:ea typeface="Microsoft YaHei"/>
                <a:cs typeface="Noto Sans CJK SC"/>
              </a:rPr>
              <a:t>油价、股市、避险资产</a:t>
            </a:r>
          </a:p>
        </p:txBody>
      </p:sp>
      <p:sp>
        <p:nvSpPr>
          <p:cNvPr id="18" name="Rectangle 18"/>
          <p:cNvSpPr/>
          <p:nvPr/>
        </p:nvSpPr>
        <p:spPr>
          <a:xfrm>
            <a:off x="571500" y="2714625"/>
            <a:ext cx="11049000" cy="5715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746760" y="2918460"/>
            <a:ext cx="125730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A365D"/>
                </a:solidFill>
                <a:latin typeface="Noto Sans CJK SC"/>
                <a:ea typeface="Microsoft YaHei"/>
                <a:cs typeface="Noto Sans CJK SC"/>
              </a:rPr>
              <a:t>匈牙利国会选举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3794760" y="2918460"/>
            <a:ext cx="62636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D3748"/>
                </a:solidFill>
                <a:latin typeface="Noto Sans CJK SC"/>
                <a:ea typeface="Microsoft YaHei"/>
                <a:cs typeface="Noto Sans CJK SC"/>
              </a:rPr>
              <a:t>4月12日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176010" y="2918460"/>
            <a:ext cx="43533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ED8936"/>
                </a:solidFill>
                <a:latin typeface="Noto Sans CJK SC"/>
                <a:ea typeface="Microsoft YaHei"/>
                <a:cs typeface="Noto Sans CJK SC"/>
              </a:rPr>
              <a:t>⭐⭐⭐⭐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557260" y="2918460"/>
            <a:ext cx="143256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D3748"/>
                </a:solidFill>
                <a:latin typeface="Noto Sans CJK SC"/>
                <a:ea typeface="Microsoft YaHei"/>
                <a:cs typeface="Noto Sans CJK SC"/>
              </a:rPr>
              <a:t>欧盟内部政治格局</a:t>
            </a:r>
          </a:p>
        </p:txBody>
      </p:sp>
      <p:sp>
        <p:nvSpPr>
          <p:cNvPr id="23" name="Rectangle 23"/>
          <p:cNvSpPr/>
          <p:nvPr/>
        </p:nvSpPr>
        <p:spPr>
          <a:xfrm>
            <a:off x="571500" y="3286125"/>
            <a:ext cx="11049000" cy="571500"/>
          </a:xfrm>
          <a:prstGeom prst="rect">
            <a:avLst/>
          </a:prstGeom>
          <a:solidFill>
            <a:srgbClr val="F7FAFC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746760" y="3489960"/>
            <a:ext cx="108204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A365D"/>
                </a:solidFill>
                <a:latin typeface="Noto Sans CJK SC"/>
                <a:ea typeface="Microsoft YaHei"/>
                <a:cs typeface="Noto Sans CJK SC"/>
              </a:rPr>
              <a:t>美国 CPI 数据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3794760" y="3489960"/>
            <a:ext cx="62636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D3748"/>
                </a:solidFill>
                <a:latin typeface="Noto Sans CJK SC"/>
                <a:ea typeface="Microsoft YaHei"/>
                <a:cs typeface="Noto Sans CJK SC"/>
              </a:rPr>
              <a:t>4月10日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176010" y="3489960"/>
            <a:ext cx="43533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ED8936"/>
                </a:solidFill>
                <a:latin typeface="Noto Sans CJK SC"/>
                <a:ea typeface="Microsoft YaHei"/>
                <a:cs typeface="Noto Sans CJK SC"/>
              </a:rPr>
              <a:t>⭐⭐⭐⭐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557260" y="3489960"/>
            <a:ext cx="125730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D3748"/>
                </a:solidFill>
                <a:latin typeface="Noto Sans CJK SC"/>
                <a:ea typeface="Microsoft YaHei"/>
                <a:cs typeface="Noto Sans CJK SC"/>
              </a:rPr>
              <a:t>美联储政策预期</a:t>
            </a:r>
          </a:p>
        </p:txBody>
      </p:sp>
      <p:sp>
        <p:nvSpPr>
          <p:cNvPr id="28" name="Rectangle 28"/>
          <p:cNvSpPr/>
          <p:nvPr/>
        </p:nvSpPr>
        <p:spPr>
          <a:xfrm>
            <a:off x="571500" y="3857625"/>
            <a:ext cx="11049000" cy="5715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746760" y="4061460"/>
            <a:ext cx="130111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A365D"/>
                </a:solidFill>
                <a:latin typeface="Noto Sans CJK SC"/>
                <a:ea typeface="Microsoft YaHei"/>
                <a:cs typeface="Noto Sans CJK SC"/>
              </a:rPr>
              <a:t>OPEC+ 月度会议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3794760" y="4061460"/>
            <a:ext cx="57378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D3748"/>
                </a:solidFill>
                <a:latin typeface="Noto Sans CJK SC"/>
                <a:ea typeface="Microsoft YaHei"/>
                <a:cs typeface="Noto Sans CJK SC"/>
              </a:rPr>
              <a:t>4月5日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176010" y="4061460"/>
            <a:ext cx="33411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3182CE"/>
                </a:solidFill>
                <a:latin typeface="Noto Sans CJK SC"/>
                <a:ea typeface="Microsoft YaHei"/>
                <a:cs typeface="Noto Sans CJK SC"/>
              </a:rPr>
              <a:t>⭐⭐⭐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8557260" y="4061460"/>
            <a:ext cx="7315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D3748"/>
                </a:solidFill>
                <a:latin typeface="Noto Sans CJK SC"/>
                <a:ea typeface="Microsoft YaHei"/>
                <a:cs typeface="Noto Sans CJK SC"/>
              </a:rPr>
              <a:t>油价走势</a:t>
            </a:r>
          </a:p>
        </p:txBody>
      </p:sp>
      <p:sp>
        <p:nvSpPr>
          <p:cNvPr id="33" name="Rectangle 33"/>
          <p:cNvSpPr/>
          <p:nvPr/>
        </p:nvSpPr>
        <p:spPr>
          <a:xfrm>
            <a:off x="571500" y="4429125"/>
            <a:ext cx="11049000" cy="571500"/>
          </a:xfrm>
          <a:prstGeom prst="rect">
            <a:avLst/>
          </a:prstGeom>
          <a:solidFill>
            <a:srgbClr val="F7FAFC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746760" y="4632960"/>
            <a:ext cx="102069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A365D"/>
                </a:solidFill>
                <a:latin typeface="Noto Sans CJK SC"/>
                <a:ea typeface="Microsoft YaHei"/>
                <a:cs typeface="Noto Sans CJK SC"/>
              </a:rPr>
              <a:t>中国 CPI/PPI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3794760" y="4632960"/>
            <a:ext cx="58254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D3748"/>
                </a:solidFill>
                <a:latin typeface="Noto Sans CJK SC"/>
                <a:ea typeface="Microsoft YaHei"/>
                <a:cs typeface="Noto Sans CJK SC"/>
              </a:rPr>
              <a:t>4月11日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6176010" y="4632960"/>
            <a:ext cx="33411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3182CE"/>
                </a:solidFill>
                <a:latin typeface="Noto Sans CJK SC"/>
                <a:ea typeface="Microsoft YaHei"/>
                <a:cs typeface="Noto Sans CJK SC"/>
              </a:rPr>
              <a:t>⭐⭐⭐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8557260" y="4632960"/>
            <a:ext cx="108204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D3748"/>
                </a:solidFill>
                <a:latin typeface="Noto Sans CJK SC"/>
                <a:ea typeface="Microsoft YaHei"/>
                <a:cs typeface="Noto Sans CJK SC"/>
              </a:rPr>
              <a:t>经济复苏信号</a:t>
            </a:r>
          </a:p>
        </p:txBody>
      </p:sp>
      <p:sp>
        <p:nvSpPr>
          <p:cNvPr id="38" name="Rectangle 38"/>
          <p:cNvSpPr/>
          <p:nvPr/>
        </p:nvSpPr>
        <p:spPr>
          <a:xfrm>
            <a:off x="571500" y="5191125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554355" y="5331142"/>
            <a:ext cx="86239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A365D"/>
                </a:solidFill>
                <a:latin typeface="Noto Sans CJK SC"/>
                <a:ea typeface="Microsoft YaHei"/>
                <a:cs typeface="Noto Sans CJK SC"/>
              </a:rPr>
              <a:t>策略建议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556260" y="5633085"/>
            <a:ext cx="385991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D3748"/>
                </a:solidFill>
                <a:latin typeface="Noto Sans CJK SC"/>
                <a:ea typeface="Microsoft YaHei"/>
                <a:cs typeface="Noto Sans CJK SC"/>
              </a:rPr>
              <a:t>• 重点关注美伊停火谈判进展，油价短期波动较大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556260" y="5871210"/>
            <a:ext cx="315887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D3748"/>
                </a:solidFill>
                <a:latin typeface="Noto Sans CJK SC"/>
                <a:ea typeface="Microsoft YaHei"/>
                <a:cs typeface="Noto Sans CJK SC"/>
              </a:rPr>
              <a:t>• 匈牙利大选可能影响欧盟对俄政策立场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556260" y="6109335"/>
            <a:ext cx="421043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D3748"/>
                </a:solidFill>
                <a:latin typeface="Noto Sans CJK SC"/>
                <a:ea typeface="Microsoft YaHei"/>
                <a:cs typeface="Noto Sans CJK SC"/>
              </a:rPr>
              <a:t>• 美国 CPI 数据若高于预期，可能强化美联储观望态度</a:t>
            </a:r>
          </a:p>
        </p:txBody>
      </p:sp>
    </p:spTree>
  </p:cSld>
  <p:clrMapOvr>
    <a:masterClrMapping/>
  </p:clrMapOvr>
  <p:transition 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365D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4946142" y="2278380"/>
            <a:ext cx="2299716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600" b="1" dirty="0">
                <a:solidFill>
                  <a:srgbClr val="FFFFFF"/>
                </a:solidFill>
                <a:latin typeface="Noto Sans CJK SC"/>
                <a:ea typeface="Microsoft YaHei"/>
                <a:cs typeface="Noto Sans CJK SC"/>
              </a:rPr>
              <a:t>感谢关注</a:t>
            </a:r>
          </a:p>
        </p:txBody>
      </p:sp>
      <p:sp>
        <p:nvSpPr>
          <p:cNvPr id="4" name="Freeform 4"/>
          <p:cNvSpPr/>
          <p:nvPr/>
        </p:nvSpPr>
        <p:spPr>
          <a:xfrm>
            <a:off x="4191000" y="2952750"/>
            <a:ext cx="3810000" cy="38100"/>
          </a:xfrm>
          <a:custGeom>
            <a:avLst/>
            <a:gdLst/>
            <a:ahLst/>
            <a:cxnLst/>
            <a:rect l="l" t="t" r="r" b="b"/>
            <a:pathLst>
              <a:path w="3810000" h="38100">
                <a:moveTo>
                  <a:pt x="19050" y="0"/>
                </a:moveTo>
                <a:lnTo>
                  <a:pt x="3790950" y="0"/>
                </a:lnTo>
                <a:cubicBezTo>
                  <a:pt x="3801471" y="0"/>
                  <a:pt x="3810000" y="8529"/>
                  <a:pt x="3810000" y="19050"/>
                </a:cubicBezTo>
                <a:lnTo>
                  <a:pt x="3810000" y="19050"/>
                </a:lnTo>
                <a:cubicBezTo>
                  <a:pt x="3810000" y="29571"/>
                  <a:pt x="3801471" y="38100"/>
                  <a:pt x="3790950" y="38100"/>
                </a:cubicBezTo>
                <a:lnTo>
                  <a:pt x="19050" y="38100"/>
                </a:lnTo>
                <a:cubicBezTo>
                  <a:pt x="8529" y="38100"/>
                  <a:pt x="0" y="29571"/>
                  <a:pt x="0" y="190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ED8936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284470" y="3234690"/>
            <a:ext cx="162306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dirty="0">
                <a:solidFill>
                  <a:srgbClr val="A0AEC0"/>
                </a:solidFill>
                <a:latin typeface="Noto Sans CJK SC"/>
                <a:ea typeface="Microsoft YaHei"/>
                <a:cs typeface="Noto Sans CJK SC"/>
              </a:rPr>
              <a:t>国际形势日报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784408" y="3648075"/>
            <a:ext cx="262318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E2E8F0"/>
                </a:solidFill>
                <a:latin typeface="Noto Sans CJK SC"/>
                <a:ea typeface="Microsoft YaHei"/>
                <a:cs typeface="Noto Sans CJK SC"/>
              </a:rPr>
              <a:t>2026 年 4 月 9 日（周四）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783104" y="4140518"/>
            <a:ext cx="62579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718096"/>
                </a:solidFill>
                <a:latin typeface="Noto Sans CJK SC"/>
                <a:ea typeface="Microsoft YaHei"/>
                <a:cs typeface="Noto Sans CJK SC"/>
              </a:rPr>
              <a:t>明天见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767667" y="6077902"/>
            <a:ext cx="265666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718096"/>
                </a:solidFill>
                <a:latin typeface="Noto Sans CJK SC"/>
                <a:ea typeface="Microsoft YaHei"/>
                <a:cs typeface="Noto Sans CJK SC"/>
              </a:rPr>
              <a:t>风险提示：🔴 高风险 🟡 中风险 🟢 低风险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098732" y="6379845"/>
            <a:ext cx="199453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4A5568"/>
                </a:solidFill>
                <a:latin typeface="Noto Sans CJK SC"/>
                <a:ea typeface="Microsoft YaHei"/>
                <a:cs typeface="Noto Sans CJK SC"/>
              </a:rPr>
              <a:t>本简报仅供参考，不构成投资建议</a:t>
            </a:r>
          </a:p>
        </p:txBody>
      </p:sp>
    </p:spTree>
  </p:cSld>
  <p:clrMapOvr>
    <a:masterClrMapping/>
  </p:clrMapOvr>
  <p:transition 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