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各位好，欢迎收听 AI 每日洞察报告。今天是 2026 年 4 月 10 日，我们将为您带来全球 AI 前沿动态、中美厂商进展以及商业化落地的最新情报。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今天的核心亮点有三个：第一，智谱 GLM-5.1 发布，成为全球首个支持 8 小时持续工作的开源模型；第二，Kimi K2.5 发布 24 小时内登顶 LMarena 开源模型首位；第三，Science 杂志报道中国科研团队实现全球首个通用智能体突破。核心结论是：2026 年 Q2 开源模型已具备与闭源模型正面竞争能力。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智谱 GLM-5.1 是唯一达到 8 小时级持续工作的开源模型，在 SWE-bench Pro 测试中超越了 GPT-5.4 和 Claude Opus 4.6。工程能力方面，它能在 8 小时内构建 Linux 桌面，执行 1200 余步操作，向量数据库优化后吞吐量提升 6.9 倍。伴随发布，智谱 GLM 提价 10%，标志着从低价获客转向价值定价。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Kimi K2.5 上线不到 24 小时就登顶多个全球榜单，可自主调度 100 个专业分身，并行处理 1500 个步骤。海外编程工具 Kilo Code 已宣布将其作为默认模型。阿里 Qwen3.5-397B-A17B 采用混合专家架构，总参数 3970 亿但激活仅 170 亿，以小胜大提升推理效率。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阿里云推出 CodingPlan，实现四大开源模型自由切换，这是全球云厂商中独有的服务。MiniMax M2.5 登顶 OpenRouter 调用量榜首，周调用量 3.07T tokens，超过其他三家总和。腾讯混元发布 2Bit 量化端侧大模型，生成速度提升 2-3 倍，验证了端侧部署的可行性。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OpenAI 和 Google 的 30 多名员工提交法庭之友简报，支持 Anthropic 在国防部的诉讼，反映了 AI 行业对军事应用的伦理担忧。Google DeepMind 发布 Genie 3 世界模型，用户可生成世界模拟并实时交互，在社交媒体引发热议。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欧盟 AI 法案于 2024 年 8 月生效，大部分条款将于 2026 年 8 月适用。作为全球首部全面规范 AI 技术的综合性立法，它加强对高风险 AI 应用的监管，为各国提供参照。欧盟还发布了《通用人工智能行为准则》作为补充。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Kimi K2.5、GLM-5.1 等国产开源模型在核心指标上已接近或超越闭源模型。智谱逆势提价 10%，标志着从低价获客转向价值定价。中小企业可更低成本获得顶尖能力，从业者需要掌握多模型路由能力，市场将淘汰单纯靠低价获客的模型。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GLM-5.1 实现 8 小时持续工作，可自主完成 1200 步复杂操作。MiniMax M2.5 带动 100K-1M 长文本调用需求，Agent 工作流成为主要消耗场景。中小企业可部署 7×24 小时自治智能体，从业者需掌握智能体编排等新技能。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本报告所有信息均来自可信度五星的权威来源，包括 IT 之家、21 经济网、WIRED、澎湃新闻等。感谢收听，我们明天再见。</a:t>
            </a:r>
          </a:p>
          <a:p>
            <a:endParaRPr lang="zh-CN" dirty="0"/>
          </a:p>
          <a:p>
            <a:r>
              <a:rPr lang="zh-CN" dirty="0"/>
              <a:t>*备注总字数：约 650 字 | 预计演讲时长：8-10 分钟*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F002E"/>
              </a:gs>
              <a:gs pos="100000">
                <a:srgbClr val="8B0020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1905000"/>
            <a:ext cx="1905000" cy="381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953000"/>
            <a:ext cx="1143000" cy="28575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571792" y="2181225"/>
            <a:ext cx="5048417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gradFill>
                  <a:gsLst>
                    <a:gs pos="0">
                      <a:srgbClr val="FFFFFF"/>
                    </a:gs>
                    <a:gs pos="100000">
                      <a:srgbClr val="F0F0F0"/>
                    </a:gs>
                  </a:gsLst>
                  <a:lin ang="0" scaled="1"/>
                </a:gradFill>
                <a:latin typeface="Arial"/>
                <a:ea typeface="Microsoft YaHei"/>
                <a:cs typeface="Arial"/>
              </a:rPr>
              <a:t>AI 每日洞察报告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45914" y="2979420"/>
            <a:ext cx="290017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FFFFFF">
                    <a:alpha val="90000"/>
                  </a:srgbClr>
                </a:solidFill>
                <a:latin typeface="Arial"/>
                <a:ea typeface="Microsoft YaHei"/>
                <a:cs typeface="Arial"/>
              </a:rPr>
              <a:t>2026 年 4 月 10 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74852" y="3822382"/>
            <a:ext cx="504229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>
                    <a:alpha val="85000"/>
                  </a:srgbClr>
                </a:solidFill>
                <a:latin typeface="Arial"/>
                <a:ea typeface="Microsoft YaHei"/>
                <a:cs typeface="Arial"/>
              </a:rPr>
              <a:t>全球 AI 前沿动态 · 中美厂商进展 · 商业化落地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84520" y="537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零壹情报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0477500" y="5715000"/>
            <a:ext cx="1143000" cy="381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714375"/>
            <a:ext cx="11049000" cy="47625"/>
          </a:xfrm>
          <a:prstGeom prst="rect">
            <a:avLst/>
          </a:prstGeom>
          <a:gradFill>
            <a:gsLst>
              <a:gs pos="0">
                <a:srgbClr val="CF002E"/>
              </a:gs>
              <a:gs pos="100000">
                <a:srgbClr val="8B0020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8162" y="192881"/>
            <a:ext cx="4253198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核心摘要（30 秒速览）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3429000" cy="2667000"/>
          </a:xfrm>
          <a:custGeom>
            <a:avLst/>
            <a:gdLst/>
            <a:ahLst/>
            <a:cxnLst/>
            <a:rect l="l" t="t" r="r" b="b"/>
            <a:pathLst>
              <a:path w="3429000" h="2667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2590800"/>
                </a:lnTo>
                <a:cubicBezTo>
                  <a:pt x="3429000" y="2632884"/>
                  <a:pt x="3394884" y="2667000"/>
                  <a:pt x="3352800" y="2667000"/>
                </a:cubicBezTo>
                <a:lnTo>
                  <a:pt x="76200" y="2667000"/>
                </a:lnTo>
                <a:cubicBezTo>
                  <a:pt x="34116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57150" cy="2667000"/>
          </a:xfrm>
          <a:custGeom>
            <a:avLst/>
            <a:gdLst/>
            <a:ahLst/>
            <a:cxnLst/>
            <a:rect l="l" t="t" r="r" b="b"/>
            <a:pathLst>
              <a:path w="57150" h="2667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34116"/>
                  <a:pt x="57150" y="76200"/>
                </a:cubicBezTo>
                <a:lnTo>
                  <a:pt x="57150" y="2590800"/>
                </a:lnTo>
                <a:cubicBezTo>
                  <a:pt x="57150" y="2632884"/>
                  <a:pt x="44357" y="2667000"/>
                  <a:pt x="28575" y="2667000"/>
                </a:cubicBezTo>
                <a:lnTo>
                  <a:pt x="28575" y="2667000"/>
                </a:lnTo>
                <a:cubicBezTo>
                  <a:pt x="12793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12793" y="0"/>
                  <a:pt x="28575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36295" y="1393508"/>
            <a:ext cx="21673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智谱 GLM-5.1 发布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0105" y="1806892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全球首个 8 小时持续工作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0105" y="2092642"/>
            <a:ext cx="27157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SWE-bench Pro 超越 Claude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0105" y="2378392"/>
            <a:ext cx="21636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8 小时构建 Linux 桌面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0105" y="2664142"/>
            <a:ext cx="16313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吞吐提升 6.9 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2010" y="3061335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国产模型首次突破</a:t>
            </a:r>
          </a:p>
        </p:txBody>
      </p:sp>
      <p:sp>
        <p:nvSpPr>
          <p:cNvPr id="14" name="Freeform 14"/>
          <p:cNvSpPr/>
          <p:nvPr/>
        </p:nvSpPr>
        <p:spPr>
          <a:xfrm>
            <a:off x="4381500" y="1143000"/>
            <a:ext cx="3429000" cy="2667000"/>
          </a:xfrm>
          <a:custGeom>
            <a:avLst/>
            <a:gdLst/>
            <a:ahLst/>
            <a:cxnLst/>
            <a:rect l="l" t="t" r="r" b="b"/>
            <a:pathLst>
              <a:path w="3429000" h="2667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2590800"/>
                </a:lnTo>
                <a:cubicBezTo>
                  <a:pt x="3429000" y="2632884"/>
                  <a:pt x="3394884" y="2667000"/>
                  <a:pt x="3352800" y="2667000"/>
                </a:cubicBezTo>
                <a:lnTo>
                  <a:pt x="76200" y="2667000"/>
                </a:lnTo>
                <a:cubicBezTo>
                  <a:pt x="34116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4381500" y="1143000"/>
            <a:ext cx="57150" cy="2667000"/>
          </a:xfrm>
          <a:custGeom>
            <a:avLst/>
            <a:gdLst/>
            <a:ahLst/>
            <a:cxnLst/>
            <a:rect l="l" t="t" r="r" b="b"/>
            <a:pathLst>
              <a:path w="57150" h="2667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34116"/>
                  <a:pt x="57150" y="76200"/>
                </a:cubicBezTo>
                <a:lnTo>
                  <a:pt x="57150" y="2590800"/>
                </a:lnTo>
                <a:cubicBezTo>
                  <a:pt x="57150" y="2632884"/>
                  <a:pt x="44357" y="2667000"/>
                  <a:pt x="28575" y="2667000"/>
                </a:cubicBezTo>
                <a:lnTo>
                  <a:pt x="28575" y="2667000"/>
                </a:lnTo>
                <a:cubicBezTo>
                  <a:pt x="12793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46295" y="1393508"/>
            <a:ext cx="22432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Kimi K2.5 登顶榜单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50105" y="1806892"/>
            <a:ext cx="25777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24 小时登顶 LMarena 首位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50105" y="2092642"/>
            <a:ext cx="19763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调度 100 个专业分身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0105" y="2378392"/>
            <a:ext cx="18876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并行处理 1500 步骤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50105" y="2664142"/>
            <a:ext cx="18778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Kilo Code 默认模型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52010" y="3061335"/>
            <a:ext cx="18707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性能接近顶尖闭源模型</a:t>
            </a:r>
          </a:p>
        </p:txBody>
      </p:sp>
      <p:sp>
        <p:nvSpPr>
          <p:cNvPr id="22" name="Freeform 22"/>
          <p:cNvSpPr/>
          <p:nvPr/>
        </p:nvSpPr>
        <p:spPr>
          <a:xfrm>
            <a:off x="8191500" y="1143000"/>
            <a:ext cx="3429000" cy="2667000"/>
          </a:xfrm>
          <a:custGeom>
            <a:avLst/>
            <a:gdLst/>
            <a:ahLst/>
            <a:cxnLst/>
            <a:rect l="l" t="t" r="r" b="b"/>
            <a:pathLst>
              <a:path w="3429000" h="2667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2590800"/>
                </a:lnTo>
                <a:cubicBezTo>
                  <a:pt x="3429000" y="2632884"/>
                  <a:pt x="3394884" y="2667000"/>
                  <a:pt x="3352800" y="2667000"/>
                </a:cubicBezTo>
                <a:lnTo>
                  <a:pt x="76200" y="2667000"/>
                </a:lnTo>
                <a:cubicBezTo>
                  <a:pt x="34116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191500" y="1143000"/>
            <a:ext cx="57150" cy="2667000"/>
          </a:xfrm>
          <a:custGeom>
            <a:avLst/>
            <a:gdLst/>
            <a:ahLst/>
            <a:cxnLst/>
            <a:rect l="l" t="t" r="r" b="b"/>
            <a:pathLst>
              <a:path w="57150" h="2667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34116"/>
                  <a:pt x="57150" y="76200"/>
                </a:cubicBezTo>
                <a:lnTo>
                  <a:pt x="57150" y="2590800"/>
                </a:lnTo>
                <a:cubicBezTo>
                  <a:pt x="57150" y="2632884"/>
                  <a:pt x="44357" y="2667000"/>
                  <a:pt x="28575" y="2667000"/>
                </a:cubicBezTo>
                <a:lnTo>
                  <a:pt x="28575" y="2667000"/>
                </a:lnTo>
                <a:cubicBezTo>
                  <a:pt x="12793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12793" y="0"/>
                  <a:pt x="28575" y="0"/>
                </a:cubicBezTo>
                <a:close/>
              </a:path>
            </a:pathLst>
          </a:custGeom>
          <a:solidFill>
            <a:srgbClr val="00AA5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456295" y="1393508"/>
            <a:ext cx="22432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AGI 通用智能体突破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60105" y="1806892"/>
            <a:ext cx="17595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Science 杂志报道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60105" y="2092642"/>
            <a:ext cx="19763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全球首个通用智能体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60105" y="2378392"/>
            <a:ext cx="16806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耗资&lt;600 万美元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60105" y="2664142"/>
            <a:ext cx="17792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小计算能力大作为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62010" y="3061335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AA55"/>
                </a:solidFill>
                <a:latin typeface="Arial"/>
                <a:ea typeface="Microsoft YaHei"/>
                <a:cs typeface="Arial"/>
              </a:rPr>
              <a:t>中国科研里程碑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4191000"/>
            <a:ext cx="11049000" cy="1333500"/>
          </a:xfrm>
          <a:custGeom>
            <a:avLst/>
            <a:gdLst/>
            <a:ahLst/>
            <a:cxnLst/>
            <a:rect l="l" t="t" r="r" b="b"/>
            <a:pathLst>
              <a:path w="11049000" h="1333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257300"/>
                </a:lnTo>
                <a:cubicBezTo>
                  <a:pt x="11049000" y="1299384"/>
                  <a:pt x="11014884" y="1333500"/>
                  <a:pt x="10972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19050">
            <a:solidFill>
              <a:srgbClr val="CF002E"/>
            </a:solidFill>
          </a:ln>
        </p:spPr>
      </p:sp>
      <p:sp>
        <p:nvSpPr>
          <p:cNvPr id="31" name="Freeform 31"/>
          <p:cNvSpPr/>
          <p:nvPr/>
        </p:nvSpPr>
        <p:spPr>
          <a:xfrm>
            <a:off x="571500" y="4191000"/>
            <a:ext cx="76200" cy="1333500"/>
          </a:xfrm>
          <a:custGeom>
            <a:avLst/>
            <a:gdLst/>
            <a:ahLst/>
            <a:cxnLst/>
            <a:rect l="l" t="t" r="r" b="b"/>
            <a:pathLst>
              <a:path w="76200" h="13335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34116"/>
                  <a:pt x="76200" y="76200"/>
                </a:cubicBezTo>
                <a:lnTo>
                  <a:pt x="76200" y="1257300"/>
                </a:lnTo>
                <a:cubicBezTo>
                  <a:pt x="76200" y="1299384"/>
                  <a:pt x="59142" y="1333500"/>
                  <a:pt x="38100" y="1333500"/>
                </a:cubicBezTo>
                <a:lnTo>
                  <a:pt x="38100" y="1333500"/>
                </a:lnTo>
                <a:cubicBezTo>
                  <a:pt x="17058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17058" y="0"/>
                  <a:pt x="38100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33450" y="4457700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🔑 核心结论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1545" y="4870132"/>
            <a:ext cx="95366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2026 年 Q2 开源模型已具备与闭源模型正面竞争能力，智能体长程任务执行成为新战场。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575727" y="6562249"/>
            <a:ext cx="10571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2026-04-10 | 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714375"/>
            <a:ext cx="11049000" cy="47625"/>
          </a:xfrm>
          <a:prstGeom prst="rect">
            <a:avLst/>
          </a:prstGeom>
          <a:gradFill>
            <a:gsLst>
              <a:gs pos="0">
                <a:srgbClr val="CF002E"/>
              </a:gs>
              <a:gs pos="100000">
                <a:srgbClr val="8B0020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8162" y="192881"/>
            <a:ext cx="5863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大模型动态：智谱 GLM-5.1 发布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0545" y="1155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关键指标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524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42" y="0"/>
                  <a:pt x="190500" y="17058"/>
                  <a:pt x="190500" y="38100"/>
                </a:cubicBezTo>
                <a:lnTo>
                  <a:pt x="190500" y="152400"/>
                </a:lnTo>
                <a:cubicBezTo>
                  <a:pt x="190500" y="173442"/>
                  <a:pt x="173442" y="190500"/>
                  <a:pt x="15240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5825" y="1533525"/>
            <a:ext cx="37952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唯一达到 8 小时级持续工作的开源模型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905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42" y="0"/>
                  <a:pt x="190500" y="17058"/>
                  <a:pt x="190500" y="38100"/>
                </a:cubicBezTo>
                <a:lnTo>
                  <a:pt x="190500" y="152400"/>
                </a:lnTo>
                <a:cubicBezTo>
                  <a:pt x="190500" y="173442"/>
                  <a:pt x="173442" y="190500"/>
                  <a:pt x="15240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85825" y="1914525"/>
            <a:ext cx="50439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SWE-bench Pro 超越 GPT-5.4 与 Claude Opus 4.6</a:t>
            </a:r>
          </a:p>
        </p:txBody>
      </p:sp>
      <p:sp>
        <p:nvSpPr>
          <p:cNvPr id="11" name="Freeform 11"/>
          <p:cNvSpPr/>
          <p:nvPr/>
        </p:nvSpPr>
        <p:spPr>
          <a:xfrm>
            <a:off x="571500" y="2286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42" y="0"/>
                  <a:pt x="190500" y="17058"/>
                  <a:pt x="190500" y="38100"/>
                </a:cubicBezTo>
                <a:lnTo>
                  <a:pt x="190500" y="152400"/>
                </a:lnTo>
                <a:cubicBezTo>
                  <a:pt x="190500" y="173442"/>
                  <a:pt x="173442" y="190500"/>
                  <a:pt x="15240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5825" y="2295525"/>
            <a:ext cx="40252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8 小时构建 Linux 桌面（1200 余步操作）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1500" y="2667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42" y="0"/>
                  <a:pt x="190500" y="17058"/>
                  <a:pt x="190500" y="38100"/>
                </a:cubicBezTo>
                <a:lnTo>
                  <a:pt x="190500" y="152400"/>
                </a:lnTo>
                <a:cubicBezTo>
                  <a:pt x="190500" y="173442"/>
                  <a:pt x="173442" y="190500"/>
                  <a:pt x="15240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85825" y="2676525"/>
            <a:ext cx="31599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向量数据库优化吞吐提升 6.9 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0545" y="31556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工程能力展示</a:t>
            </a:r>
          </a:p>
        </p:txBody>
      </p:sp>
      <p:sp>
        <p:nvSpPr>
          <p:cNvPr id="16" name="Freeform 16"/>
          <p:cNvSpPr/>
          <p:nvPr/>
        </p:nvSpPr>
        <p:spPr>
          <a:xfrm>
            <a:off x="571500" y="3571875"/>
            <a:ext cx="5143500" cy="952500"/>
          </a:xfrm>
          <a:custGeom>
            <a:avLst/>
            <a:gdLst/>
            <a:ahLst/>
            <a:cxnLst/>
            <a:rect l="l" t="t" r="r" b="b"/>
            <a:pathLst>
              <a:path w="5143500" h="9525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876300"/>
                </a:lnTo>
                <a:cubicBezTo>
                  <a:pt x="5143500" y="918384"/>
                  <a:pt x="5109384" y="952500"/>
                  <a:pt x="5067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E5E5E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92480" y="3759518"/>
            <a:ext cx="15623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3108 → 21472 QPS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385" y="4109085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向量数据库吞吐量提升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59580" y="3850005"/>
            <a:ext cx="8584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+591%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56045" y="1155382"/>
            <a:ext cx="29264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SWE-bench Pro 性能对比</a:t>
            </a:r>
          </a:p>
        </p:txBody>
      </p:sp>
      <p:sp>
        <p:nvSpPr>
          <p:cNvPr id="21" name="Freeform 21"/>
          <p:cNvSpPr/>
          <p:nvPr/>
        </p:nvSpPr>
        <p:spPr>
          <a:xfrm>
            <a:off x="6477000" y="1524000"/>
            <a:ext cx="4953000" cy="2095500"/>
          </a:xfrm>
          <a:custGeom>
            <a:avLst/>
            <a:gdLst/>
            <a:ahLst/>
            <a:cxnLst/>
            <a:rect l="l" t="t" r="r" b="b"/>
            <a:pathLst>
              <a:path w="4953000" h="20955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2019300"/>
                </a:lnTo>
                <a:cubicBezTo>
                  <a:pt x="4953000" y="2061384"/>
                  <a:pt x="4918884" y="2095500"/>
                  <a:pt x="487680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6858000" y="1905000"/>
            <a:ext cx="1143000" cy="1333500"/>
          </a:xfrm>
          <a:custGeom>
            <a:avLst/>
            <a:gdLst/>
            <a:ahLst/>
            <a:cxnLst/>
            <a:rect l="l" t="t" r="r" b="b"/>
            <a:pathLst>
              <a:path w="1143000" h="13335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1295400"/>
                </a:lnTo>
                <a:cubicBezTo>
                  <a:pt x="1143000" y="1316442"/>
                  <a:pt x="1125942" y="1333500"/>
                  <a:pt x="1104900" y="1333500"/>
                </a:cubicBezTo>
                <a:lnTo>
                  <a:pt x="38100" y="1333500"/>
                </a:lnTo>
                <a:cubicBezTo>
                  <a:pt x="17058" y="1333500"/>
                  <a:pt x="0" y="1316442"/>
                  <a:pt x="0" y="1295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019006" y="1664018"/>
            <a:ext cx="8209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GLM-5.1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61228" y="3251835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68.5%</a:t>
            </a:r>
          </a:p>
        </p:txBody>
      </p:sp>
      <p:sp>
        <p:nvSpPr>
          <p:cNvPr id="25" name="Freeform 25"/>
          <p:cNvSpPr/>
          <p:nvPr/>
        </p:nvSpPr>
        <p:spPr>
          <a:xfrm>
            <a:off x="8382000" y="20955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1104900"/>
                </a:lnTo>
                <a:cubicBezTo>
                  <a:pt x="1143000" y="1125942"/>
                  <a:pt x="1125942" y="1143000"/>
                  <a:pt x="110490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537830" y="166401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GPT-5.4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97278" y="3251835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62.3%</a:t>
            </a:r>
          </a:p>
        </p:txBody>
      </p:sp>
      <p:sp>
        <p:nvSpPr>
          <p:cNvPr id="28" name="Freeform 28"/>
          <p:cNvSpPr/>
          <p:nvPr/>
        </p:nvSpPr>
        <p:spPr>
          <a:xfrm>
            <a:off x="9906000" y="2190750"/>
            <a:ext cx="1143000" cy="1047750"/>
          </a:xfrm>
          <a:custGeom>
            <a:avLst/>
            <a:gdLst/>
            <a:ahLst/>
            <a:cxnLst/>
            <a:rect l="l" t="t" r="r" b="b"/>
            <a:pathLst>
              <a:path w="1143000" h="104775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1009650"/>
                </a:lnTo>
                <a:cubicBezTo>
                  <a:pt x="1143000" y="1030692"/>
                  <a:pt x="1125942" y="1047750"/>
                  <a:pt x="1104900" y="1047750"/>
                </a:cubicBezTo>
                <a:lnTo>
                  <a:pt x="38100" y="1047750"/>
                </a:lnTo>
                <a:cubicBezTo>
                  <a:pt x="17058" y="1047750"/>
                  <a:pt x="0" y="1030692"/>
                  <a:pt x="0" y="1009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942790" y="16640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Claude 4.6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21278" y="3251835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58.9%</a:t>
            </a:r>
          </a:p>
        </p:txBody>
      </p:sp>
      <p:sp>
        <p:nvSpPr>
          <p:cNvPr id="31" name="Freeform 31"/>
          <p:cNvSpPr/>
          <p:nvPr/>
        </p:nvSpPr>
        <p:spPr>
          <a:xfrm>
            <a:off x="6477000" y="400050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85800"/>
                </a:lnTo>
                <a:cubicBezTo>
                  <a:pt x="4953000" y="727884"/>
                  <a:pt x="4918884" y="762000"/>
                  <a:pt x="4876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5F5"/>
          </a:solidFill>
          <a:ln w="9525">
            <a:solidFill>
              <a:srgbClr val="CF002E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745605" y="4188142"/>
            <a:ext cx="11522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⚠️ 价格调整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47510" y="4490085"/>
            <a:ext cx="61733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智谱 GLM 提价 10%，Coding 场景缓存 Token 价格接近 Claude Sonnet 4.6 水平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575727" y="6562249"/>
            <a:ext cx="10571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2026-04-10 | 03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714375"/>
            <a:ext cx="11049000" cy="47625"/>
          </a:xfrm>
          <a:prstGeom prst="rect">
            <a:avLst/>
          </a:prstGeom>
          <a:gradFill>
            <a:gsLst>
              <a:gs pos="0">
                <a:srgbClr val="CF002E"/>
              </a:gs>
              <a:gs pos="100000">
                <a:srgbClr val="8B0020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8162" y="192881"/>
            <a:ext cx="7352836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大模型动态：Kimi K2.5 &amp; 阿里 Qwen3.5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5334000" cy="4572000"/>
          </a:xfrm>
          <a:custGeom>
            <a:avLst/>
            <a:gdLst/>
            <a:ahLst/>
            <a:cxnLst/>
            <a:rect l="l" t="t" r="r" b="b"/>
            <a:pathLst>
              <a:path w="5334000" h="4572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95800"/>
                </a:lnTo>
                <a:cubicBezTo>
                  <a:pt x="5334000" y="4537884"/>
                  <a:pt x="5299884" y="4572000"/>
                  <a:pt x="5257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0066CC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00050"/>
                </a:lnTo>
                <a:cubicBezTo>
                  <a:pt x="5334000" y="442134"/>
                  <a:pt x="5299884" y="476250"/>
                  <a:pt x="5257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34390" y="1282065"/>
            <a:ext cx="1260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Kimi K2.5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8200" y="1838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核心成就</a:t>
            </a:r>
          </a:p>
        </p:txBody>
      </p:sp>
      <p:sp>
        <p:nvSpPr>
          <p:cNvPr id="10" name="Freeform 10"/>
          <p:cNvSpPr/>
          <p:nvPr/>
        </p:nvSpPr>
        <p:spPr>
          <a:xfrm>
            <a:off x="857250" y="2143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78230" y="2140268"/>
            <a:ext cx="36523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发布 24 小时登顶 LMarena 开源模型首位</a:t>
            </a:r>
          </a:p>
        </p:txBody>
      </p:sp>
      <p:sp>
        <p:nvSpPr>
          <p:cNvPr id="12" name="Freeform 12"/>
          <p:cNvSpPr/>
          <p:nvPr/>
        </p:nvSpPr>
        <p:spPr>
          <a:xfrm>
            <a:off x="857250" y="2428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78230" y="2426018"/>
            <a:ext cx="40663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Artificial Analysis 榜单位列第 5（开源第 1）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8200" y="28384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集群能力</a:t>
            </a:r>
          </a:p>
        </p:txBody>
      </p:sp>
      <p:sp>
        <p:nvSpPr>
          <p:cNvPr id="15" name="Freeform 15"/>
          <p:cNvSpPr/>
          <p:nvPr/>
        </p:nvSpPr>
        <p:spPr>
          <a:xfrm>
            <a:off x="857250" y="3143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78230" y="3140392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自主调度 100 个专业背景分身</a:t>
            </a:r>
          </a:p>
        </p:txBody>
      </p:sp>
      <p:sp>
        <p:nvSpPr>
          <p:cNvPr id="17" name="Freeform 17"/>
          <p:cNvSpPr/>
          <p:nvPr/>
        </p:nvSpPr>
        <p:spPr>
          <a:xfrm>
            <a:off x="857250" y="3429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78230" y="3426142"/>
            <a:ext cx="23115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并行处理高达 1500 个步骤</a:t>
            </a:r>
          </a:p>
        </p:txBody>
      </p:sp>
      <p:sp>
        <p:nvSpPr>
          <p:cNvPr id="19" name="Freeform 19"/>
          <p:cNvSpPr/>
          <p:nvPr/>
        </p:nvSpPr>
        <p:spPr>
          <a:xfrm>
            <a:off x="857250" y="3714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78230" y="3711892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复杂任务效率提升 10 倍+</a:t>
            </a:r>
          </a:p>
        </p:txBody>
      </p:sp>
      <p:sp>
        <p:nvSpPr>
          <p:cNvPr id="21" name="Freeform 21"/>
          <p:cNvSpPr/>
          <p:nvPr/>
        </p:nvSpPr>
        <p:spPr>
          <a:xfrm>
            <a:off x="857250" y="4191000"/>
            <a:ext cx="4762500" cy="571500"/>
          </a:xfrm>
          <a:custGeom>
            <a:avLst/>
            <a:gdLst/>
            <a:ahLst/>
            <a:cxnLst/>
            <a:rect l="l" t="t" r="r" b="b"/>
            <a:pathLst>
              <a:path w="4762500" h="57150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514350"/>
                </a:lnTo>
                <a:cubicBezTo>
                  <a:pt x="4762500" y="545913"/>
                  <a:pt x="4736913" y="571500"/>
                  <a:pt x="47053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F7FF"/>
          </a:solidFill>
          <a:ln w="9525">
            <a:solidFill>
              <a:srgbClr val="0066C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032510" y="4347210"/>
            <a:ext cx="43274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🏆 Kilo Code 宣布 Kimi K2.5 成为默认模型，首周免费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143000"/>
            <a:ext cx="5334000" cy="4572000"/>
          </a:xfrm>
          <a:custGeom>
            <a:avLst/>
            <a:gdLst/>
            <a:ahLst/>
            <a:cxnLst/>
            <a:rect l="l" t="t" r="r" b="b"/>
            <a:pathLst>
              <a:path w="5334000" h="4572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95800"/>
                </a:lnTo>
                <a:cubicBezTo>
                  <a:pt x="5334000" y="4537884"/>
                  <a:pt x="5299884" y="4572000"/>
                  <a:pt x="5257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F002E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6286500" y="114300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00050"/>
                </a:lnTo>
                <a:cubicBezTo>
                  <a:pt x="5334000" y="442134"/>
                  <a:pt x="5299884" y="476250"/>
                  <a:pt x="5257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549390" y="1282065"/>
            <a:ext cx="248862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阿里 Qwen3.5 系列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53200" y="1838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架构创新</a:t>
            </a:r>
          </a:p>
        </p:txBody>
      </p:sp>
      <p:sp>
        <p:nvSpPr>
          <p:cNvPr id="27" name="Freeform 27"/>
          <p:cNvSpPr/>
          <p:nvPr/>
        </p:nvSpPr>
        <p:spPr>
          <a:xfrm>
            <a:off x="6572250" y="2143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93230" y="2140268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Qwen3.5-397B-A17B 混合专家架构 (MoE)</a:t>
            </a:r>
          </a:p>
        </p:txBody>
      </p:sp>
      <p:sp>
        <p:nvSpPr>
          <p:cNvPr id="29" name="Freeform 29"/>
          <p:cNvSpPr/>
          <p:nvPr/>
        </p:nvSpPr>
        <p:spPr>
          <a:xfrm>
            <a:off x="6572250" y="2428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793230" y="2426018"/>
            <a:ext cx="27552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总参数 3970 亿，激活仅 170 亿</a:t>
            </a:r>
          </a:p>
        </p:txBody>
      </p:sp>
      <p:sp>
        <p:nvSpPr>
          <p:cNvPr id="31" name="Freeform 31"/>
          <p:cNvSpPr/>
          <p:nvPr/>
        </p:nvSpPr>
        <p:spPr>
          <a:xfrm>
            <a:off x="6572250" y="2714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3230" y="271176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以小胜大，推理效率大幅提升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53200" y="317182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多模态能力</a:t>
            </a:r>
          </a:p>
        </p:txBody>
      </p:sp>
      <p:sp>
        <p:nvSpPr>
          <p:cNvPr id="34" name="Freeform 34"/>
          <p:cNvSpPr/>
          <p:nvPr/>
        </p:nvSpPr>
        <p:spPr>
          <a:xfrm>
            <a:off x="6572250" y="3476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793230" y="347376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支持文本、图像和视频输入</a:t>
            </a:r>
          </a:p>
        </p:txBody>
      </p:sp>
      <p:sp>
        <p:nvSpPr>
          <p:cNvPr id="36" name="Freeform 36"/>
          <p:cNvSpPr/>
          <p:nvPr/>
        </p:nvSpPr>
        <p:spPr>
          <a:xfrm>
            <a:off x="6572250" y="3762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793230" y="3759518"/>
            <a:ext cx="33664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阿里云百炼推出 qwen3.5-plus/flash</a:t>
            </a:r>
          </a:p>
        </p:txBody>
      </p:sp>
      <p:sp>
        <p:nvSpPr>
          <p:cNvPr id="38" name="Freeform 38"/>
          <p:cNvSpPr/>
          <p:nvPr/>
        </p:nvSpPr>
        <p:spPr>
          <a:xfrm>
            <a:off x="6572250" y="4191000"/>
            <a:ext cx="4762500" cy="1333500"/>
          </a:xfrm>
          <a:custGeom>
            <a:avLst/>
            <a:gdLst/>
            <a:ahLst/>
            <a:cxnLst/>
            <a:rect l="l" t="t" r="r" b="b"/>
            <a:pathLst>
              <a:path w="4762500" h="133350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1276350"/>
                </a:lnTo>
                <a:cubicBezTo>
                  <a:pt x="4762500" y="1307913"/>
                  <a:pt x="4736913" y="1333500"/>
                  <a:pt x="4705350" y="1333500"/>
                </a:cubicBezTo>
                <a:lnTo>
                  <a:pt x="57150" y="1333500"/>
                </a:lnTo>
                <a:cubicBezTo>
                  <a:pt x="25587" y="1333500"/>
                  <a:pt x="0" y="1307913"/>
                  <a:pt x="0" y="1276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 w="9525">
            <a:solidFill>
              <a:srgbClr val="CF002E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747510" y="4347210"/>
            <a:ext cx="23399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混合专家架构 (MoE) 示意图</a:t>
            </a:r>
          </a:p>
        </p:txBody>
      </p:sp>
      <p:sp>
        <p:nvSpPr>
          <p:cNvPr id="40" name="Freeform 40"/>
          <p:cNvSpPr/>
          <p:nvPr/>
        </p:nvSpPr>
        <p:spPr>
          <a:xfrm>
            <a:off x="6762750" y="4619625"/>
            <a:ext cx="952500" cy="571500"/>
          </a:xfrm>
          <a:custGeom>
            <a:avLst/>
            <a:gdLst/>
            <a:ahLst/>
            <a:cxnLst/>
            <a:rect l="l" t="t" r="r" b="b"/>
            <a:pathLst>
              <a:path w="952500" h="57150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533400"/>
                </a:lnTo>
                <a:cubicBezTo>
                  <a:pt x="952500" y="554442"/>
                  <a:pt x="935442" y="571500"/>
                  <a:pt x="9144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F002E">
              <a:alpha val="20000"/>
            </a:srgbClr>
          </a:solidFill>
          <a:ln w="19050">
            <a:solidFill>
              <a:srgbClr val="CF002E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6995636" y="4839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总参数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01720" y="5013960"/>
            <a:ext cx="6745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3970 亿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78140" y="475869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44" name="Freeform 44"/>
          <p:cNvSpPr/>
          <p:nvPr/>
        </p:nvSpPr>
        <p:spPr>
          <a:xfrm>
            <a:off x="8286750" y="4619625"/>
            <a:ext cx="952500" cy="571500"/>
          </a:xfrm>
          <a:custGeom>
            <a:avLst/>
            <a:gdLst/>
            <a:ahLst/>
            <a:cxnLst/>
            <a:rect l="l" t="t" r="r" b="b"/>
            <a:pathLst>
              <a:path w="952500" h="57150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533400"/>
                </a:lnTo>
                <a:cubicBezTo>
                  <a:pt x="952500" y="554442"/>
                  <a:pt x="935442" y="571500"/>
                  <a:pt x="9144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F002E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442960" y="4839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激活参数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99329" y="5013960"/>
            <a:ext cx="5273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170 亿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702165" y="4839652"/>
            <a:ext cx="9084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激活率≈4.3%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575727" y="6562249"/>
            <a:ext cx="10571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2026-04-10 | 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714375"/>
            <a:ext cx="11049000" cy="47625"/>
          </a:xfrm>
          <a:prstGeom prst="rect">
            <a:avLst/>
          </a:prstGeom>
          <a:gradFill>
            <a:gsLst>
              <a:gs pos="0">
                <a:srgbClr val="CF002E"/>
              </a:gs>
              <a:gs pos="100000">
                <a:srgbClr val="8B0020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8162" y="192881"/>
            <a:ext cx="3065675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中国厂商 AI 动态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3429000" cy="2476500"/>
          </a:xfrm>
          <a:custGeom>
            <a:avLst/>
            <a:gdLst/>
            <a:ahLst/>
            <a:cxnLst/>
            <a:rect l="l" t="t" r="r" b="b"/>
            <a:pathLst>
              <a:path w="3429000" h="24765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2400300"/>
                </a:lnTo>
                <a:cubicBezTo>
                  <a:pt x="3429000" y="2442384"/>
                  <a:pt x="3394884" y="2476500"/>
                  <a:pt x="3352800" y="2476500"/>
                </a:cubicBezTo>
                <a:lnTo>
                  <a:pt x="76200" y="2476500"/>
                </a:lnTo>
                <a:cubicBezTo>
                  <a:pt x="34116" y="2476500"/>
                  <a:pt x="0" y="2442384"/>
                  <a:pt x="0" y="2400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76200" cy="2476500"/>
          </a:xfrm>
          <a:custGeom>
            <a:avLst/>
            <a:gdLst/>
            <a:ahLst/>
            <a:cxnLst/>
            <a:rect l="l" t="t" r="r" b="b"/>
            <a:pathLst>
              <a:path w="76200" h="24765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34116"/>
                  <a:pt x="76200" y="76200"/>
                </a:cubicBezTo>
                <a:lnTo>
                  <a:pt x="76200" y="2400300"/>
                </a:lnTo>
                <a:cubicBezTo>
                  <a:pt x="76200" y="2442384"/>
                  <a:pt x="59142" y="2476500"/>
                  <a:pt x="38100" y="2476500"/>
                </a:cubicBezTo>
                <a:lnTo>
                  <a:pt x="38100" y="2476500"/>
                </a:lnTo>
                <a:cubicBezTo>
                  <a:pt x="17058" y="2476500"/>
                  <a:pt x="0" y="2442384"/>
                  <a:pt x="0" y="2400300"/>
                </a:cubicBezTo>
                <a:lnTo>
                  <a:pt x="0" y="76200"/>
                </a:lnTo>
                <a:cubicBezTo>
                  <a:pt x="0" y="34116"/>
                  <a:pt x="17058" y="0"/>
                  <a:pt x="38100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3920" y="1393508"/>
            <a:ext cx="21420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阿里云 CodingPlan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1759268"/>
            <a:ext cx="2173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四大开源模型自由切换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7730" y="1997392"/>
            <a:ext cx="34157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Qwen3.5 / GLM-5 / MiniMax / Kimi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7730" y="2235518"/>
            <a:ext cx="17792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不受限于单一模型</a:t>
            </a:r>
          </a:p>
        </p:txBody>
      </p:sp>
      <p:sp>
        <p:nvSpPr>
          <p:cNvPr id="12" name="Freeform 12"/>
          <p:cNvSpPr/>
          <p:nvPr/>
        </p:nvSpPr>
        <p:spPr>
          <a:xfrm>
            <a:off x="904875" y="2714625"/>
            <a:ext cx="2809875" cy="571500"/>
          </a:xfrm>
          <a:custGeom>
            <a:avLst/>
            <a:gdLst/>
            <a:ahLst/>
            <a:cxnLst/>
            <a:rect l="l" t="t" r="r" b="b"/>
            <a:pathLst>
              <a:path w="2809875" h="571500">
                <a:moveTo>
                  <a:pt x="57150" y="0"/>
                </a:moveTo>
                <a:lnTo>
                  <a:pt x="2752725" y="0"/>
                </a:lnTo>
                <a:cubicBezTo>
                  <a:pt x="2784288" y="0"/>
                  <a:pt x="2809875" y="25587"/>
                  <a:pt x="2809875" y="57150"/>
                </a:cubicBezTo>
                <a:lnTo>
                  <a:pt x="2809875" y="514350"/>
                </a:lnTo>
                <a:cubicBezTo>
                  <a:pt x="2809875" y="545913"/>
                  <a:pt x="2784288" y="571500"/>
                  <a:pt x="2752725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 w="9525">
            <a:solidFill>
              <a:srgbClr val="CF002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033462" y="2831306"/>
            <a:ext cx="22454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🌟 全球云厂商中仅阿里云提供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5368" y="3085624"/>
            <a:ext cx="9574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 月 25 日发布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81500" y="1143000"/>
            <a:ext cx="3429000" cy="2476500"/>
          </a:xfrm>
          <a:custGeom>
            <a:avLst/>
            <a:gdLst/>
            <a:ahLst/>
            <a:cxnLst/>
            <a:rect l="l" t="t" r="r" b="b"/>
            <a:pathLst>
              <a:path w="3429000" h="24765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2400300"/>
                </a:lnTo>
                <a:cubicBezTo>
                  <a:pt x="3429000" y="2442384"/>
                  <a:pt x="3394884" y="2476500"/>
                  <a:pt x="3352800" y="2476500"/>
                </a:cubicBezTo>
                <a:lnTo>
                  <a:pt x="76200" y="2476500"/>
                </a:lnTo>
                <a:cubicBezTo>
                  <a:pt x="34116" y="2476500"/>
                  <a:pt x="0" y="2442384"/>
                  <a:pt x="0" y="2400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4381500" y="1143000"/>
            <a:ext cx="76200" cy="2476500"/>
          </a:xfrm>
          <a:custGeom>
            <a:avLst/>
            <a:gdLst/>
            <a:ahLst/>
            <a:cxnLst/>
            <a:rect l="l" t="t" r="r" b="b"/>
            <a:pathLst>
              <a:path w="76200" h="24765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34116"/>
                  <a:pt x="76200" y="76200"/>
                </a:cubicBezTo>
                <a:lnTo>
                  <a:pt x="76200" y="2400300"/>
                </a:lnTo>
                <a:cubicBezTo>
                  <a:pt x="76200" y="2442384"/>
                  <a:pt x="59142" y="2476500"/>
                  <a:pt x="38100" y="2476500"/>
                </a:cubicBezTo>
                <a:lnTo>
                  <a:pt x="38100" y="2476500"/>
                </a:lnTo>
                <a:cubicBezTo>
                  <a:pt x="17058" y="2476500"/>
                  <a:pt x="0" y="2442384"/>
                  <a:pt x="0" y="2400300"/>
                </a:cubicBezTo>
                <a:lnTo>
                  <a:pt x="0" y="76200"/>
                </a:lnTo>
                <a:cubicBezTo>
                  <a:pt x="0" y="34116"/>
                  <a:pt x="17058" y="0"/>
                  <a:pt x="381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693920" y="1393508"/>
            <a:ext cx="167396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MiniMax M2.5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97730" y="1759268"/>
            <a:ext cx="28242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登顶 OpenRouter 调用量榜首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97730" y="1997392"/>
            <a:ext cx="23017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周调用量 3.07T tokens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97730" y="2235518"/>
            <a:ext cx="27354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超 Kimi+GLM+DeepSeek 总和</a:t>
            </a:r>
          </a:p>
        </p:txBody>
      </p:sp>
      <p:sp>
        <p:nvSpPr>
          <p:cNvPr id="21" name="Freeform 21"/>
          <p:cNvSpPr/>
          <p:nvPr/>
        </p:nvSpPr>
        <p:spPr>
          <a:xfrm>
            <a:off x="4714875" y="2714625"/>
            <a:ext cx="2809875" cy="571500"/>
          </a:xfrm>
          <a:custGeom>
            <a:avLst/>
            <a:gdLst/>
            <a:ahLst/>
            <a:cxnLst/>
            <a:rect l="l" t="t" r="r" b="b"/>
            <a:pathLst>
              <a:path w="2809875" h="571500">
                <a:moveTo>
                  <a:pt x="57150" y="0"/>
                </a:moveTo>
                <a:lnTo>
                  <a:pt x="2752725" y="0"/>
                </a:lnTo>
                <a:cubicBezTo>
                  <a:pt x="2784288" y="0"/>
                  <a:pt x="2809875" y="25587"/>
                  <a:pt x="2809875" y="57150"/>
                </a:cubicBezTo>
                <a:lnTo>
                  <a:pt x="2809875" y="514350"/>
                </a:lnTo>
                <a:cubicBezTo>
                  <a:pt x="2809875" y="545913"/>
                  <a:pt x="2784288" y="571500"/>
                  <a:pt x="2752725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F7FF"/>
          </a:solidFill>
          <a:ln w="9525">
            <a:solidFill>
              <a:srgbClr val="0066C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843462" y="2831306"/>
            <a:ext cx="20988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📈 带动 100K-1M 长文本调用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45368" y="3085624"/>
            <a:ext cx="17406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Agent 工作流典型消耗场景</a:t>
            </a:r>
          </a:p>
        </p:txBody>
      </p:sp>
      <p:sp>
        <p:nvSpPr>
          <p:cNvPr id="24" name="Freeform 24"/>
          <p:cNvSpPr/>
          <p:nvPr/>
        </p:nvSpPr>
        <p:spPr>
          <a:xfrm>
            <a:off x="8191500" y="1143000"/>
            <a:ext cx="3429000" cy="2476500"/>
          </a:xfrm>
          <a:custGeom>
            <a:avLst/>
            <a:gdLst/>
            <a:ahLst/>
            <a:cxnLst/>
            <a:rect l="l" t="t" r="r" b="b"/>
            <a:pathLst>
              <a:path w="3429000" h="24765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2400300"/>
                </a:lnTo>
                <a:cubicBezTo>
                  <a:pt x="3429000" y="2442384"/>
                  <a:pt x="3394884" y="2476500"/>
                  <a:pt x="3352800" y="2476500"/>
                </a:cubicBezTo>
                <a:lnTo>
                  <a:pt x="76200" y="2476500"/>
                </a:lnTo>
                <a:cubicBezTo>
                  <a:pt x="34116" y="2476500"/>
                  <a:pt x="0" y="2442384"/>
                  <a:pt x="0" y="2400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191500" y="1143000"/>
            <a:ext cx="76200" cy="2476500"/>
          </a:xfrm>
          <a:custGeom>
            <a:avLst/>
            <a:gdLst/>
            <a:ahLst/>
            <a:cxnLst/>
            <a:rect l="l" t="t" r="r" b="b"/>
            <a:pathLst>
              <a:path w="76200" h="24765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34116"/>
                  <a:pt x="76200" y="76200"/>
                </a:cubicBezTo>
                <a:lnTo>
                  <a:pt x="76200" y="2400300"/>
                </a:lnTo>
                <a:cubicBezTo>
                  <a:pt x="76200" y="2442384"/>
                  <a:pt x="59142" y="2476500"/>
                  <a:pt x="38100" y="2476500"/>
                </a:cubicBezTo>
                <a:lnTo>
                  <a:pt x="38100" y="2476500"/>
                </a:lnTo>
                <a:cubicBezTo>
                  <a:pt x="17058" y="2476500"/>
                  <a:pt x="0" y="2442384"/>
                  <a:pt x="0" y="2400300"/>
                </a:cubicBezTo>
                <a:lnTo>
                  <a:pt x="0" y="76200"/>
                </a:lnTo>
                <a:cubicBezTo>
                  <a:pt x="0" y="34116"/>
                  <a:pt x="17058" y="0"/>
                  <a:pt x="38100" y="0"/>
                </a:cubicBezTo>
                <a:close/>
              </a:path>
            </a:pathLst>
          </a:custGeom>
          <a:solidFill>
            <a:srgbClr val="00AA5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503920" y="1393508"/>
            <a:ext cx="22053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腾讯混元 2Bit 量化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7730" y="1759268"/>
            <a:ext cx="28735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业内首个 2Bit 量化端侧大模型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07730" y="1997392"/>
            <a:ext cx="13848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面向产业场景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07730" y="223551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等效参数降低 6 倍</a:t>
            </a:r>
          </a:p>
        </p:txBody>
      </p:sp>
      <p:sp>
        <p:nvSpPr>
          <p:cNvPr id="30" name="Freeform 30"/>
          <p:cNvSpPr/>
          <p:nvPr/>
        </p:nvSpPr>
        <p:spPr>
          <a:xfrm>
            <a:off x="8524875" y="2714625"/>
            <a:ext cx="2809875" cy="571500"/>
          </a:xfrm>
          <a:custGeom>
            <a:avLst/>
            <a:gdLst/>
            <a:ahLst/>
            <a:cxnLst/>
            <a:rect l="l" t="t" r="r" b="b"/>
            <a:pathLst>
              <a:path w="2809875" h="571500">
                <a:moveTo>
                  <a:pt x="57150" y="0"/>
                </a:moveTo>
                <a:lnTo>
                  <a:pt x="2752725" y="0"/>
                </a:lnTo>
                <a:cubicBezTo>
                  <a:pt x="2784288" y="0"/>
                  <a:pt x="2809875" y="25587"/>
                  <a:pt x="2809875" y="57150"/>
                </a:cubicBezTo>
                <a:lnTo>
                  <a:pt x="2809875" y="514350"/>
                </a:lnTo>
                <a:cubicBezTo>
                  <a:pt x="2809875" y="545913"/>
                  <a:pt x="2784288" y="571500"/>
                  <a:pt x="2752725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FFF5"/>
          </a:solidFill>
          <a:ln w="9525">
            <a:solidFill>
              <a:srgbClr val="00AA55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653462" y="2831306"/>
            <a:ext cx="21160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AA55"/>
                </a:solidFill>
                <a:latin typeface="Arial"/>
                <a:ea typeface="Microsoft YaHei"/>
                <a:cs typeface="Arial"/>
              </a:rPr>
              <a:t>⚡ 端侧生成速度提升 2-3 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55368" y="3085624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 月 10 日发布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4000500"/>
            <a:ext cx="11049000" cy="1714500"/>
          </a:xfrm>
          <a:custGeom>
            <a:avLst/>
            <a:gdLst/>
            <a:ahLst/>
            <a:cxnLst/>
            <a:rect l="l" t="t" r="r" b="b"/>
            <a:pathLst>
              <a:path w="11049000" h="1714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638300"/>
                </a:lnTo>
                <a:cubicBezTo>
                  <a:pt x="11049000" y="1680384"/>
                  <a:pt x="11014884" y="1714500"/>
                  <a:pt x="10972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36295" y="4251008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中国厂商核心优势</a:t>
            </a:r>
          </a:p>
        </p:txBody>
      </p:sp>
      <p:sp>
        <p:nvSpPr>
          <p:cNvPr id="35" name="Freeform 35"/>
          <p:cNvSpPr/>
          <p:nvPr/>
        </p:nvSpPr>
        <p:spPr>
          <a:xfrm>
            <a:off x="857250" y="4619625"/>
            <a:ext cx="3238500" cy="857250"/>
          </a:xfrm>
          <a:custGeom>
            <a:avLst/>
            <a:gdLst/>
            <a:ahLst/>
            <a:cxnLst/>
            <a:rect l="l" t="t" r="r" b="b"/>
            <a:pathLst>
              <a:path w="3238500" h="857250">
                <a:moveTo>
                  <a:pt x="57150" y="0"/>
                </a:moveTo>
                <a:lnTo>
                  <a:pt x="3181350" y="0"/>
                </a:lnTo>
                <a:cubicBezTo>
                  <a:pt x="3212913" y="0"/>
                  <a:pt x="3238500" y="25587"/>
                  <a:pt x="3238500" y="57150"/>
                </a:cubicBezTo>
                <a:lnTo>
                  <a:pt x="3238500" y="800100"/>
                </a:lnTo>
                <a:cubicBezTo>
                  <a:pt x="3238500" y="831663"/>
                  <a:pt x="3212913" y="857250"/>
                  <a:pt x="3181350" y="857250"/>
                </a:cubicBezTo>
                <a:lnTo>
                  <a:pt x="57150" y="857250"/>
                </a:lnTo>
                <a:cubicBezTo>
                  <a:pt x="25587" y="857250"/>
                  <a:pt x="0" y="831663"/>
                  <a:pt x="0" y="800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021080" y="4678680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多模型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2510" y="5061585"/>
            <a:ext cx="18882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阿里云 CodingPlan 实现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32510" y="525208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四大模型自由切换</a:t>
            </a:r>
          </a:p>
        </p:txBody>
      </p:sp>
      <p:sp>
        <p:nvSpPr>
          <p:cNvPr id="39" name="Freeform 39"/>
          <p:cNvSpPr/>
          <p:nvPr/>
        </p:nvSpPr>
        <p:spPr>
          <a:xfrm>
            <a:off x="4429125" y="4619625"/>
            <a:ext cx="3238500" cy="857250"/>
          </a:xfrm>
          <a:custGeom>
            <a:avLst/>
            <a:gdLst/>
            <a:ahLst/>
            <a:cxnLst/>
            <a:rect l="l" t="t" r="r" b="b"/>
            <a:pathLst>
              <a:path w="3238500" h="857250">
                <a:moveTo>
                  <a:pt x="57150" y="0"/>
                </a:moveTo>
                <a:lnTo>
                  <a:pt x="3181350" y="0"/>
                </a:lnTo>
                <a:cubicBezTo>
                  <a:pt x="3212913" y="0"/>
                  <a:pt x="3238500" y="25587"/>
                  <a:pt x="3238500" y="57150"/>
                </a:cubicBezTo>
                <a:lnTo>
                  <a:pt x="3238500" y="800100"/>
                </a:lnTo>
                <a:cubicBezTo>
                  <a:pt x="3238500" y="831663"/>
                  <a:pt x="3212913" y="857250"/>
                  <a:pt x="3181350" y="857250"/>
                </a:cubicBezTo>
                <a:lnTo>
                  <a:pt x="57150" y="857250"/>
                </a:lnTo>
                <a:cubicBezTo>
                  <a:pt x="25587" y="857250"/>
                  <a:pt x="0" y="831663"/>
                  <a:pt x="0" y="800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4592955" y="4678680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长文本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604385" y="5061585"/>
            <a:ext cx="1765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MiniMax 带动 100K-1M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04385" y="5252085"/>
            <a:ext cx="17918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Agent 工作流调用需求</a:t>
            </a:r>
          </a:p>
        </p:txBody>
      </p:sp>
      <p:sp>
        <p:nvSpPr>
          <p:cNvPr id="43" name="Freeform 43"/>
          <p:cNvSpPr/>
          <p:nvPr/>
        </p:nvSpPr>
        <p:spPr>
          <a:xfrm>
            <a:off x="8001000" y="4619625"/>
            <a:ext cx="3238500" cy="857250"/>
          </a:xfrm>
          <a:custGeom>
            <a:avLst/>
            <a:gdLst/>
            <a:ahLst/>
            <a:cxnLst/>
            <a:rect l="l" t="t" r="r" b="b"/>
            <a:pathLst>
              <a:path w="3238500" h="857250">
                <a:moveTo>
                  <a:pt x="57150" y="0"/>
                </a:moveTo>
                <a:lnTo>
                  <a:pt x="3181350" y="0"/>
                </a:lnTo>
                <a:cubicBezTo>
                  <a:pt x="3212913" y="0"/>
                  <a:pt x="3238500" y="25587"/>
                  <a:pt x="3238500" y="57150"/>
                </a:cubicBezTo>
                <a:lnTo>
                  <a:pt x="3238500" y="800100"/>
                </a:lnTo>
                <a:cubicBezTo>
                  <a:pt x="3238500" y="831663"/>
                  <a:pt x="3212913" y="857250"/>
                  <a:pt x="3181350" y="857250"/>
                </a:cubicBezTo>
                <a:lnTo>
                  <a:pt x="57150" y="857250"/>
                </a:lnTo>
                <a:cubicBezTo>
                  <a:pt x="25587" y="857250"/>
                  <a:pt x="0" y="831663"/>
                  <a:pt x="0" y="800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164830" y="4678680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AA55"/>
                </a:solidFill>
                <a:latin typeface="Arial"/>
                <a:ea typeface="Microsoft YaHei"/>
                <a:cs typeface="Arial"/>
              </a:rPr>
              <a:t>端侧部署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176260" y="5061585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腾讯 2Bit 量化验证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176260" y="5252085"/>
            <a:ext cx="13361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边缘 AI 设备机会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575727" y="6562249"/>
            <a:ext cx="10571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2026-04-10 | 05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714375"/>
            <a:ext cx="11049000" cy="47625"/>
          </a:xfrm>
          <a:prstGeom prst="rect">
            <a:avLst/>
          </a:prstGeom>
          <a:gradFill>
            <a:gsLst>
              <a:gs pos="0">
                <a:srgbClr val="CF002E"/>
              </a:gs>
              <a:gs pos="100000">
                <a:srgbClr val="8B0020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8162" y="192881"/>
            <a:ext cx="3065675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美国厂商 AI 动态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5334000" cy="4572000"/>
          </a:xfrm>
          <a:custGeom>
            <a:avLst/>
            <a:gdLst/>
            <a:ahLst/>
            <a:cxnLst/>
            <a:rect l="l" t="t" r="r" b="b"/>
            <a:pathLst>
              <a:path w="5334000" h="4572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95800"/>
                </a:lnTo>
                <a:cubicBezTo>
                  <a:pt x="5334000" y="4537884"/>
                  <a:pt x="5299884" y="4572000"/>
                  <a:pt x="5257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00050"/>
                </a:lnTo>
                <a:cubicBezTo>
                  <a:pt x="5334000" y="442134"/>
                  <a:pt x="5299884" y="476250"/>
                  <a:pt x="5257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36295" y="1298258"/>
            <a:ext cx="42422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OpenAI、Google 员工支持 Anthropic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8200" y="1838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事件背景</a:t>
            </a:r>
          </a:p>
        </p:txBody>
      </p:sp>
      <p:sp>
        <p:nvSpPr>
          <p:cNvPr id="10" name="Freeform 10"/>
          <p:cNvSpPr/>
          <p:nvPr/>
        </p:nvSpPr>
        <p:spPr>
          <a:xfrm>
            <a:off x="857250" y="2143125"/>
            <a:ext cx="4762500" cy="857250"/>
          </a:xfrm>
          <a:custGeom>
            <a:avLst/>
            <a:gdLst/>
            <a:ahLst/>
            <a:cxnLst/>
            <a:rect l="l" t="t" r="r" b="b"/>
            <a:pathLst>
              <a:path w="4762500" h="85725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800100"/>
                </a:lnTo>
                <a:cubicBezTo>
                  <a:pt x="4762500" y="831663"/>
                  <a:pt x="4736913" y="857250"/>
                  <a:pt x="4705350" y="857250"/>
                </a:cubicBezTo>
                <a:lnTo>
                  <a:pt x="57150" y="857250"/>
                </a:lnTo>
                <a:cubicBezTo>
                  <a:pt x="25587" y="857250"/>
                  <a:pt x="0" y="831663"/>
                  <a:pt x="0" y="800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9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31558" y="2291239"/>
            <a:ext cx="52463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Anthropic 拒绝让国防部 unrestricted access 其 AI 模型后，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1558" y="2576989"/>
            <a:ext cx="17083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被标记为供应链风险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8200" y="3171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行业响应</a:t>
            </a:r>
          </a:p>
        </p:txBody>
      </p:sp>
      <p:sp>
        <p:nvSpPr>
          <p:cNvPr id="14" name="Freeform 14"/>
          <p:cNvSpPr/>
          <p:nvPr/>
        </p:nvSpPr>
        <p:spPr>
          <a:xfrm>
            <a:off x="857250" y="3476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78230" y="3473768"/>
            <a:ext cx="25876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30+ 名员工提交法庭之友简报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762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78230" y="3759518"/>
            <a:ext cx="29622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来自 OpenAI 和 Google DeepMind</a:t>
            </a:r>
          </a:p>
        </p:txBody>
      </p:sp>
      <p:sp>
        <p:nvSpPr>
          <p:cNvPr id="18" name="Freeform 18"/>
          <p:cNvSpPr/>
          <p:nvPr/>
        </p:nvSpPr>
        <p:spPr>
          <a:xfrm>
            <a:off x="857250" y="4048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78230" y="4045268"/>
            <a:ext cx="40367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包括 Google DeepMind 首席科学家 Jeff Dean</a:t>
            </a:r>
          </a:p>
        </p:txBody>
      </p:sp>
      <p:sp>
        <p:nvSpPr>
          <p:cNvPr id="20" name="Freeform 20"/>
          <p:cNvSpPr/>
          <p:nvPr/>
        </p:nvSpPr>
        <p:spPr>
          <a:xfrm>
            <a:off x="857250" y="4572000"/>
            <a:ext cx="4762500" cy="762000"/>
          </a:xfrm>
          <a:custGeom>
            <a:avLst/>
            <a:gdLst/>
            <a:ahLst/>
            <a:cxnLst/>
            <a:rect l="l" t="t" r="r" b="b"/>
            <a:pathLst>
              <a:path w="4762500" h="76200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704850"/>
                </a:lnTo>
                <a:cubicBezTo>
                  <a:pt x="4762500" y="736413"/>
                  <a:pt x="4736913" y="762000"/>
                  <a:pt x="4705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333333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031558" y="4720114"/>
            <a:ext cx="98067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💡 行业影响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2510" y="5013960"/>
            <a:ext cx="52882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OpenAI 员工公开支持竞争对手，反映 AI 行业对军事应用的伦理担忧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143000"/>
            <a:ext cx="5334000" cy="4572000"/>
          </a:xfrm>
          <a:custGeom>
            <a:avLst/>
            <a:gdLst/>
            <a:ahLst/>
            <a:cxnLst/>
            <a:rect l="l" t="t" r="r" b="b"/>
            <a:pathLst>
              <a:path w="5334000" h="4572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95800"/>
                </a:lnTo>
                <a:cubicBezTo>
                  <a:pt x="5334000" y="4537884"/>
                  <a:pt x="5299884" y="4572000"/>
                  <a:pt x="5257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6286500" y="114300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00050"/>
                </a:lnTo>
                <a:cubicBezTo>
                  <a:pt x="5334000" y="442134"/>
                  <a:pt x="5299884" y="476250"/>
                  <a:pt x="5257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551295" y="1298258"/>
            <a:ext cx="29138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Google DeepMind Genie 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53200" y="1838325"/>
            <a:ext cx="25914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世界模型 (World Model)</a:t>
            </a:r>
          </a:p>
        </p:txBody>
      </p:sp>
      <p:sp>
        <p:nvSpPr>
          <p:cNvPr id="27" name="Freeform 27"/>
          <p:cNvSpPr/>
          <p:nvPr/>
        </p:nvSpPr>
        <p:spPr>
          <a:xfrm>
            <a:off x="6572250" y="2143125"/>
            <a:ext cx="4762500" cy="1714500"/>
          </a:xfrm>
          <a:custGeom>
            <a:avLst/>
            <a:gdLst/>
            <a:ahLst/>
            <a:cxnLst/>
            <a:rect l="l" t="t" r="r" b="b"/>
            <a:pathLst>
              <a:path w="4762500" h="171450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1657350"/>
                </a:lnTo>
                <a:cubicBezTo>
                  <a:pt x="4762500" y="1688913"/>
                  <a:pt x="4736913" y="1714500"/>
                  <a:pt x="4705350" y="1714500"/>
                </a:cubicBezTo>
                <a:lnTo>
                  <a:pt x="57150" y="1714500"/>
                </a:lnTo>
                <a:cubicBezTo>
                  <a:pt x="25587" y="1714500"/>
                  <a:pt x="0" y="1688913"/>
                  <a:pt x="0" y="1657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F7F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6858000" y="2381250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76200" y="0"/>
                </a:moveTo>
                <a:lnTo>
                  <a:pt x="1352550" y="0"/>
                </a:lnTo>
                <a:cubicBezTo>
                  <a:pt x="1394634" y="0"/>
                  <a:pt x="1428750" y="34116"/>
                  <a:pt x="1428750" y="76200"/>
                </a:cubicBezTo>
                <a:lnTo>
                  <a:pt x="1428750" y="1066800"/>
                </a:lnTo>
                <a:cubicBezTo>
                  <a:pt x="1428750" y="1108884"/>
                  <a:pt x="1394634" y="1143000"/>
                  <a:pt x="13525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4285F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189089" y="26327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285F4"/>
                </a:solidFill>
                <a:latin typeface="Arial"/>
                <a:ea typeface="Microsoft YaHei"/>
                <a:cs typeface="Arial"/>
              </a:rPr>
              <a:t>用户输入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10163" y="2887028"/>
            <a:ext cx="7244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文本/图像</a:t>
            </a:r>
          </a:p>
        </p:txBody>
      </p:sp>
      <p:sp>
        <p:nvSpPr>
          <p:cNvPr id="31" name="Polygon 31"/>
          <p:cNvSpPr/>
          <p:nvPr/>
        </p:nvSpPr>
        <p:spPr>
          <a:xfrm>
            <a:off x="8286750" y="2905125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0" y="47625"/>
                </a:moveTo>
                <a:lnTo>
                  <a:pt x="285750" y="47625"/>
                </a:lnTo>
                <a:lnTo>
                  <a:pt x="285750" y="0"/>
                </a:lnTo>
                <a:lnTo>
                  <a:pt x="381000" y="95250"/>
                </a:lnTo>
                <a:lnTo>
                  <a:pt x="285750" y="190500"/>
                </a:lnTo>
                <a:lnTo>
                  <a:pt x="28575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8667750" y="2381250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76200" y="0"/>
                </a:moveTo>
                <a:lnTo>
                  <a:pt x="1352550" y="0"/>
                </a:lnTo>
                <a:cubicBezTo>
                  <a:pt x="1394634" y="0"/>
                  <a:pt x="1428750" y="34116"/>
                  <a:pt x="1428750" y="76200"/>
                </a:cubicBezTo>
                <a:lnTo>
                  <a:pt x="1428750" y="1066800"/>
                </a:lnTo>
                <a:cubicBezTo>
                  <a:pt x="1428750" y="1108884"/>
                  <a:pt x="1394634" y="1143000"/>
                  <a:pt x="13525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4285F4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8998839" y="26327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285F4"/>
                </a:solidFill>
                <a:latin typeface="Arial"/>
                <a:ea typeface="Microsoft YaHei"/>
                <a:cs typeface="Arial"/>
              </a:rPr>
              <a:t>世界模拟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62085" y="28870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实时交互</a:t>
            </a:r>
          </a:p>
        </p:txBody>
      </p:sp>
      <p:sp>
        <p:nvSpPr>
          <p:cNvPr id="35" name="Polygon 35"/>
          <p:cNvSpPr/>
          <p:nvPr/>
        </p:nvSpPr>
        <p:spPr>
          <a:xfrm>
            <a:off x="10096500" y="2905125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0" y="47625"/>
                </a:moveTo>
                <a:lnTo>
                  <a:pt x="285750" y="47625"/>
                </a:lnTo>
                <a:lnTo>
                  <a:pt x="285750" y="0"/>
                </a:lnTo>
                <a:lnTo>
                  <a:pt x="381000" y="95250"/>
                </a:lnTo>
                <a:lnTo>
                  <a:pt x="285750" y="190500"/>
                </a:lnTo>
                <a:lnTo>
                  <a:pt x="28575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10477500" y="2381250"/>
            <a:ext cx="571500" cy="1143000"/>
          </a:xfrm>
          <a:custGeom>
            <a:avLst/>
            <a:gdLst/>
            <a:ahLst/>
            <a:cxnLst/>
            <a:rect l="l" t="t" r="r" b="b"/>
            <a:pathLst>
              <a:path w="571500" h="1143000">
                <a:moveTo>
                  <a:pt x="76200" y="0"/>
                </a:moveTo>
                <a:lnTo>
                  <a:pt x="495300" y="0"/>
                </a:lnTo>
                <a:cubicBezTo>
                  <a:pt x="537384" y="0"/>
                  <a:pt x="571500" y="34116"/>
                  <a:pt x="571500" y="76200"/>
                </a:cubicBezTo>
                <a:lnTo>
                  <a:pt x="571500" y="1066800"/>
                </a:lnTo>
                <a:cubicBezTo>
                  <a:pt x="571500" y="1108884"/>
                  <a:pt x="537384" y="1143000"/>
                  <a:pt x="4953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4285F4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588895" y="26489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285F4"/>
                </a:solidFill>
                <a:latin typeface="Arial"/>
                <a:ea typeface="Microsoft YaHei"/>
                <a:cs typeface="Arial"/>
              </a:rPr>
              <a:t>输出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488930" y="29032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交互世界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53200" y="40290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技术特点</a:t>
            </a:r>
          </a:p>
        </p:txBody>
      </p:sp>
      <p:sp>
        <p:nvSpPr>
          <p:cNvPr id="40" name="Freeform 40"/>
          <p:cNvSpPr/>
          <p:nvPr/>
        </p:nvSpPr>
        <p:spPr>
          <a:xfrm>
            <a:off x="6572250" y="4333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793230" y="433101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用户可生成世界模拟并实时交互</a:t>
            </a:r>
          </a:p>
        </p:txBody>
      </p:sp>
      <p:sp>
        <p:nvSpPr>
          <p:cNvPr id="42" name="Freeform 42"/>
          <p:cNvSpPr/>
          <p:nvPr/>
        </p:nvSpPr>
        <p:spPr>
          <a:xfrm>
            <a:off x="6572250" y="4619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793230" y="461676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在社交媒体引发热议</a:t>
            </a:r>
          </a:p>
        </p:txBody>
      </p:sp>
      <p:sp>
        <p:nvSpPr>
          <p:cNvPr id="44" name="Freeform 44"/>
          <p:cNvSpPr/>
          <p:nvPr/>
        </p:nvSpPr>
        <p:spPr>
          <a:xfrm>
            <a:off x="6572250" y="4905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793230" y="490251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基础世界模型新突破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575727" y="6562249"/>
            <a:ext cx="10571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2026-04-10 | 06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714375"/>
            <a:ext cx="11049000" cy="47625"/>
          </a:xfrm>
          <a:prstGeom prst="rect">
            <a:avLst/>
          </a:prstGeom>
          <a:gradFill>
            <a:gsLst>
              <a:gs pos="0">
                <a:srgbClr val="CF002E"/>
              </a:gs>
              <a:gs pos="100000">
                <a:srgbClr val="8B0020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8162" y="192881"/>
            <a:ext cx="2542359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AI 政策与监管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11049000" cy="2667000"/>
          </a:xfrm>
          <a:custGeom>
            <a:avLst/>
            <a:gdLst/>
            <a:ahLst/>
            <a:cxnLst/>
            <a:rect l="l" t="t" r="r" b="b"/>
            <a:pathLst>
              <a:path w="11049000" h="2667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2590800"/>
                </a:lnTo>
                <a:cubicBezTo>
                  <a:pt x="11049000" y="2632884"/>
                  <a:pt x="11014884" y="2667000"/>
                  <a:pt x="10972800" y="2667000"/>
                </a:cubicBezTo>
                <a:lnTo>
                  <a:pt x="76200" y="2667000"/>
                </a:lnTo>
                <a:cubicBezTo>
                  <a:pt x="34116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906894" y="1377315"/>
            <a:ext cx="237821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欧盟 AI 法案时间线</a:t>
            </a:r>
          </a:p>
        </p:txBody>
      </p:sp>
      <p:sp>
        <p:nvSpPr>
          <p:cNvPr id="8" name="Line 8"/>
          <p:cNvSpPr/>
          <p:nvPr/>
        </p:nvSpPr>
        <p:spPr>
          <a:xfrm>
            <a:off x="1143000" y="2095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CF002E"/>
            </a:solidFill>
          </a:ln>
        </p:spPr>
      </p:sp>
      <p:sp>
        <p:nvSpPr>
          <p:cNvPr id="9" name="Ellipse 9"/>
          <p:cNvSpPr/>
          <p:nvPr/>
        </p:nvSpPr>
        <p:spPr>
          <a:xfrm>
            <a:off x="2933700" y="1981200"/>
            <a:ext cx="228600" cy="228600"/>
          </a:xfrm>
          <a:prstGeom prst="ellipse">
            <a:avLst/>
          </a:prstGeom>
          <a:solidFill>
            <a:srgbClr val="CF002E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2571750" y="238125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57150" y="0"/>
                </a:moveTo>
                <a:lnTo>
                  <a:pt x="895350" y="0"/>
                </a:lnTo>
                <a:cubicBezTo>
                  <a:pt x="926913" y="0"/>
                  <a:pt x="952500" y="25587"/>
                  <a:pt x="952500" y="57150"/>
                </a:cubicBezTo>
                <a:lnTo>
                  <a:pt x="952500" y="704850"/>
                </a:lnTo>
                <a:cubicBezTo>
                  <a:pt x="952500" y="736413"/>
                  <a:pt x="926913" y="762000"/>
                  <a:pt x="895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F002E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49700" y="2489835"/>
            <a:ext cx="996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2024.08.01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27960" y="2744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正式生效</a:t>
            </a:r>
          </a:p>
        </p:txBody>
      </p:sp>
      <p:sp>
        <p:nvSpPr>
          <p:cNvPr id="13" name="Polygon 13"/>
          <p:cNvSpPr/>
          <p:nvPr/>
        </p:nvSpPr>
        <p:spPr>
          <a:xfrm>
            <a:off x="3000375" y="2381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029700" y="1981200"/>
            <a:ext cx="228600" cy="228600"/>
          </a:xfrm>
          <a:prstGeom prst="ellipse">
            <a:avLst/>
          </a:prstGeom>
          <a:solidFill>
            <a:srgbClr val="CF002E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8667750" y="238125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57150" y="0"/>
                </a:moveTo>
                <a:lnTo>
                  <a:pt x="895350" y="0"/>
                </a:lnTo>
                <a:cubicBezTo>
                  <a:pt x="926913" y="0"/>
                  <a:pt x="952500" y="25587"/>
                  <a:pt x="952500" y="57150"/>
                </a:cubicBezTo>
                <a:lnTo>
                  <a:pt x="952500" y="704850"/>
                </a:lnTo>
                <a:cubicBezTo>
                  <a:pt x="952500" y="736413"/>
                  <a:pt x="926913" y="762000"/>
                  <a:pt x="895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F002E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622697" y="2489835"/>
            <a:ext cx="1042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2026.08.02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93931" y="27441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大部分条款适用</a:t>
            </a:r>
          </a:p>
        </p:txBody>
      </p:sp>
      <p:sp>
        <p:nvSpPr>
          <p:cNvPr id="18" name="Polygon 18"/>
          <p:cNvSpPr/>
          <p:nvPr/>
        </p:nvSpPr>
        <p:spPr>
          <a:xfrm>
            <a:off x="9096375" y="2381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5905500" y="1809750"/>
            <a:ext cx="381000" cy="571500"/>
          </a:xfrm>
          <a:custGeom>
            <a:avLst/>
            <a:gdLst/>
            <a:ahLst/>
            <a:cxnLst/>
            <a:rect l="l" t="t" r="r" b="b"/>
            <a:pathLst>
              <a:path w="381000" h="571500">
                <a:moveTo>
                  <a:pt x="38100" y="0"/>
                </a:moveTo>
                <a:lnTo>
                  <a:pt x="342900" y="0"/>
                </a:lnTo>
                <a:cubicBezTo>
                  <a:pt x="363942" y="0"/>
                  <a:pt x="381000" y="17058"/>
                  <a:pt x="381000" y="38100"/>
                </a:cubicBezTo>
                <a:lnTo>
                  <a:pt x="381000" y="533400"/>
                </a:lnTo>
                <a:cubicBezTo>
                  <a:pt x="381000" y="554442"/>
                  <a:pt x="363942" y="571500"/>
                  <a:pt x="342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946553" y="209359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当前</a:t>
            </a:r>
          </a:p>
        </p:txBody>
      </p:sp>
      <p:sp>
        <p:nvSpPr>
          <p:cNvPr id="21" name="Polygon 21"/>
          <p:cNvSpPr/>
          <p:nvPr/>
        </p:nvSpPr>
        <p:spPr>
          <a:xfrm>
            <a:off x="6048375" y="2381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50545" y="4108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监管重点</a:t>
            </a:r>
          </a:p>
        </p:txBody>
      </p:sp>
      <p:sp>
        <p:nvSpPr>
          <p:cNvPr id="23" name="Freeform 23"/>
          <p:cNvSpPr/>
          <p:nvPr/>
        </p:nvSpPr>
        <p:spPr>
          <a:xfrm>
            <a:off x="571500" y="4524375"/>
            <a:ext cx="5143500" cy="952500"/>
          </a:xfrm>
          <a:custGeom>
            <a:avLst/>
            <a:gdLst/>
            <a:ahLst/>
            <a:cxnLst/>
            <a:rect l="l" t="t" r="r" b="b"/>
            <a:pathLst>
              <a:path w="5143500" h="9525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876300"/>
                </a:lnTo>
                <a:cubicBezTo>
                  <a:pt x="5143500" y="918384"/>
                  <a:pt x="5109384" y="952500"/>
                  <a:pt x="5067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5F5"/>
          </a:solidFill>
          <a:ln w="9525">
            <a:solidFill>
              <a:srgbClr val="CF002E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571500" y="4524375"/>
            <a:ext cx="57150" cy="952500"/>
          </a:xfrm>
          <a:custGeom>
            <a:avLst/>
            <a:gdLst/>
            <a:ahLst/>
            <a:cxnLst/>
            <a:rect l="l" t="t" r="r" b="b"/>
            <a:pathLst>
              <a:path w="57150" h="952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34116"/>
                  <a:pt x="57150" y="76200"/>
                </a:cubicBezTo>
                <a:lnTo>
                  <a:pt x="57150" y="876300"/>
                </a:lnTo>
                <a:cubicBezTo>
                  <a:pt x="57150" y="918384"/>
                  <a:pt x="44357" y="952500"/>
                  <a:pt x="28575" y="952500"/>
                </a:cubicBezTo>
                <a:lnTo>
                  <a:pt x="28575" y="952500"/>
                </a:lnTo>
                <a:cubicBezTo>
                  <a:pt x="12793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12793" y="0"/>
                  <a:pt x="28575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40105" y="4712018"/>
            <a:ext cx="17836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高风险 AI 应用监管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010" y="5013960"/>
            <a:ext cx="44295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鉴于"某些应用人工智能的方式可能引发不可接受的风险"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010" y="5252085"/>
            <a:ext cx="25629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欧盟加强对高风险 AI 应用的监管</a:t>
            </a:r>
          </a:p>
        </p:txBody>
      </p:sp>
      <p:sp>
        <p:nvSpPr>
          <p:cNvPr id="28" name="Freeform 28"/>
          <p:cNvSpPr/>
          <p:nvPr/>
        </p:nvSpPr>
        <p:spPr>
          <a:xfrm>
            <a:off x="6477000" y="4524375"/>
            <a:ext cx="5143500" cy="952500"/>
          </a:xfrm>
          <a:custGeom>
            <a:avLst/>
            <a:gdLst/>
            <a:ahLst/>
            <a:cxnLst/>
            <a:rect l="l" t="t" r="r" b="b"/>
            <a:pathLst>
              <a:path w="5143500" h="9525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876300"/>
                </a:lnTo>
                <a:cubicBezTo>
                  <a:pt x="5143500" y="918384"/>
                  <a:pt x="5109384" y="952500"/>
                  <a:pt x="5067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E5E5E5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477000" y="4524375"/>
            <a:ext cx="57150" cy="952500"/>
          </a:xfrm>
          <a:custGeom>
            <a:avLst/>
            <a:gdLst/>
            <a:ahLst/>
            <a:cxnLst/>
            <a:rect l="l" t="t" r="r" b="b"/>
            <a:pathLst>
              <a:path w="57150" h="952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34116"/>
                  <a:pt x="57150" y="76200"/>
                </a:cubicBezTo>
                <a:lnTo>
                  <a:pt x="57150" y="876300"/>
                </a:lnTo>
                <a:cubicBezTo>
                  <a:pt x="57150" y="918384"/>
                  <a:pt x="44357" y="952500"/>
                  <a:pt x="28575" y="952500"/>
                </a:cubicBezTo>
                <a:lnTo>
                  <a:pt x="28575" y="952500"/>
                </a:lnTo>
                <a:cubicBezTo>
                  <a:pt x="12793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745605" y="471201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全球首部综合性立法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47510" y="5013960"/>
            <a:ext cx="38862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作为全球首部全面规范人工智能技术的综合性立法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47510" y="5252085"/>
            <a:ext cx="18619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为各国 AI 监管提供参照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571500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514350"/>
                </a:lnTo>
                <a:cubicBezTo>
                  <a:pt x="11049000" y="545913"/>
                  <a:pt x="11023413" y="571500"/>
                  <a:pt x="10991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F7FF"/>
          </a:solidFill>
          <a:ln w="9525">
            <a:solidFill>
              <a:srgbClr val="0066CC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42010" y="5918835"/>
            <a:ext cx="5238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📋 补充：欧盟发布《通用人工智能行为准则》，补充 AI 法案框架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75727" y="6562249"/>
            <a:ext cx="10571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2026-04-10 | 07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714375"/>
            <a:ext cx="11049000" cy="47625"/>
          </a:xfrm>
          <a:prstGeom prst="rect">
            <a:avLst/>
          </a:prstGeom>
          <a:gradFill>
            <a:gsLst>
              <a:gs pos="0">
                <a:srgbClr val="CF002E"/>
              </a:gs>
              <a:gs pos="100000">
                <a:srgbClr val="8B0020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8162" y="192881"/>
            <a:ext cx="610493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趋势洞察：开源模型能力追平闭源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0545" y="1155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核心观察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524000"/>
            <a:ext cx="5143500" cy="1333500"/>
          </a:xfrm>
          <a:custGeom>
            <a:avLst/>
            <a:gdLst/>
            <a:ahLst/>
            <a:cxnLst/>
            <a:rect l="l" t="t" r="r" b="b"/>
            <a:pathLst>
              <a:path w="5143500" h="13335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257300"/>
                </a:lnTo>
                <a:cubicBezTo>
                  <a:pt x="5143500" y="1299384"/>
                  <a:pt x="5109384" y="1333500"/>
                  <a:pt x="50673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5F5"/>
          </a:solidFill>
          <a:ln w="9525">
            <a:solidFill>
              <a:srgbClr val="CF002E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71500" y="1524000"/>
            <a:ext cx="57150" cy="1333500"/>
          </a:xfrm>
          <a:custGeom>
            <a:avLst/>
            <a:gdLst/>
            <a:ahLst/>
            <a:cxnLst/>
            <a:rect l="l" t="t" r="r" b="b"/>
            <a:pathLst>
              <a:path w="57150" h="1333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34116"/>
                  <a:pt x="57150" y="76200"/>
                </a:cubicBezTo>
                <a:lnTo>
                  <a:pt x="57150" y="1257300"/>
                </a:lnTo>
                <a:cubicBezTo>
                  <a:pt x="57150" y="1299384"/>
                  <a:pt x="44357" y="1333500"/>
                  <a:pt x="28575" y="1333500"/>
                </a:cubicBezTo>
                <a:lnTo>
                  <a:pt x="28575" y="1333500"/>
                </a:lnTo>
                <a:cubicBezTo>
                  <a:pt x="12793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12793" y="0"/>
                  <a:pt x="28575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0105" y="17116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性能追平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1058" y="2005489"/>
            <a:ext cx="422219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Kimi K2.5、GLM-5.1 等国产开源模型在核心指标上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1058" y="2243614"/>
            <a:ext cx="32538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已接近或超越 Claude、GPT 等闭源模型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010" y="2585085"/>
            <a:ext cx="28276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从"低价获客"转向"价值定价"阶段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1500" y="3048000"/>
            <a:ext cx="5143500" cy="952500"/>
          </a:xfrm>
          <a:custGeom>
            <a:avLst/>
            <a:gdLst/>
            <a:ahLst/>
            <a:cxnLst/>
            <a:rect l="l" t="t" r="r" b="b"/>
            <a:pathLst>
              <a:path w="5143500" h="9525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876300"/>
                </a:lnTo>
                <a:cubicBezTo>
                  <a:pt x="5143500" y="918384"/>
                  <a:pt x="5109384" y="952500"/>
                  <a:pt x="5067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E5E5E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40105" y="3235642"/>
            <a:ext cx="16283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智谱逆势提价 10%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2010" y="3537585"/>
            <a:ext cx="45697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Coding 场景缓存 Token 价格接近 Claude Sonnet 4.6 水平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56045" y="1155382"/>
            <a:ext cx="30782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开源 vs 闭源 性能对比趋势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77000" y="1524000"/>
            <a:ext cx="4953000" cy="2476500"/>
          </a:xfrm>
          <a:custGeom>
            <a:avLst/>
            <a:gdLst/>
            <a:ahLst/>
            <a:cxnLst/>
            <a:rect l="l" t="t" r="r" b="b"/>
            <a:pathLst>
              <a:path w="4953000" h="24765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2400300"/>
                </a:lnTo>
                <a:cubicBezTo>
                  <a:pt x="4953000" y="2442384"/>
                  <a:pt x="4918884" y="2476500"/>
                  <a:pt x="4876800" y="2476500"/>
                </a:cubicBezTo>
                <a:lnTo>
                  <a:pt x="76200" y="2476500"/>
                </a:lnTo>
                <a:cubicBezTo>
                  <a:pt x="34116" y="2476500"/>
                  <a:pt x="0" y="2442384"/>
                  <a:pt x="0" y="2400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>
            <a:noFill/>
          </a:ln>
        </p:spPr>
      </p:sp>
      <p:sp>
        <p:nvSpPr>
          <p:cNvPr id="18" name="Line 18"/>
          <p:cNvSpPr/>
          <p:nvPr/>
        </p:nvSpPr>
        <p:spPr>
          <a:xfrm>
            <a:off x="6953250" y="3619500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19050">
            <a:solidFill>
              <a:srgbClr val="999999"/>
            </a:solidFill>
          </a:ln>
        </p:spPr>
      </p:sp>
      <p:sp>
        <p:nvSpPr>
          <p:cNvPr id="19" name="Line 19"/>
          <p:cNvSpPr/>
          <p:nvPr/>
        </p:nvSpPr>
        <p:spPr>
          <a:xfrm>
            <a:off x="6953250" y="190500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9050">
            <a:solidFill>
              <a:srgbClr val="999999"/>
            </a:solidFill>
          </a:ln>
        </p:spPr>
      </p:sp>
      <p:sp>
        <p:nvSpPr>
          <p:cNvPr id="20" name="Polyline 20"/>
          <p:cNvSpPr/>
          <p:nvPr/>
        </p:nvSpPr>
        <p:spPr>
          <a:xfrm>
            <a:off x="6953250" y="1905000"/>
            <a:ext cx="4000500" cy="190500"/>
          </a:xfrm>
          <a:custGeom>
            <a:avLst/>
            <a:gdLst/>
            <a:ahLst/>
            <a:cxnLst/>
            <a:rect l="l" t="t" r="r" b="b"/>
            <a:pathLst>
              <a:path w="4000500" h="190500">
                <a:moveTo>
                  <a:pt x="0" y="190500"/>
                </a:moveTo>
                <a:lnTo>
                  <a:pt x="1143000" y="142875"/>
                </a:lnTo>
                <a:lnTo>
                  <a:pt x="2286000" y="95250"/>
                </a:lnTo>
                <a:lnTo>
                  <a:pt x="3429000" y="47625"/>
                </a:lnTo>
                <a:lnTo>
                  <a:pt x="4000500" y="0"/>
                </a:lnTo>
              </a:path>
            </a:pathLst>
          </a:custGeom>
          <a:noFill/>
          <a:ln w="28575">
            <a:solidFill>
              <a:srgbClr val="333333"/>
            </a:solidFill>
            <a:custDash>
              <a:ds d="166666" sp="166666"/>
            </a:custDash>
          </a:ln>
        </p:spPr>
      </p:sp>
      <p:sp>
        <p:nvSpPr>
          <p:cNvPr id="21" name="Ellipse 21"/>
          <p:cNvSpPr/>
          <p:nvPr/>
        </p:nvSpPr>
        <p:spPr>
          <a:xfrm>
            <a:off x="6896100" y="2038350"/>
            <a:ext cx="114300" cy="1143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9182100" y="1943100"/>
            <a:ext cx="114300" cy="1143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10896600" y="1847850"/>
            <a:ext cx="114300" cy="1143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035665" y="18392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闭源模型</a:t>
            </a:r>
          </a:p>
        </p:txBody>
      </p:sp>
      <p:sp>
        <p:nvSpPr>
          <p:cNvPr id="25" name="Polyline 25"/>
          <p:cNvSpPr/>
          <p:nvPr/>
        </p:nvSpPr>
        <p:spPr>
          <a:xfrm>
            <a:off x="6953250" y="1952625"/>
            <a:ext cx="4000500" cy="1095375"/>
          </a:xfrm>
          <a:custGeom>
            <a:avLst/>
            <a:gdLst/>
            <a:ahLst/>
            <a:cxnLst/>
            <a:rect l="l" t="t" r="r" b="b"/>
            <a:pathLst>
              <a:path w="4000500" h="1095375">
                <a:moveTo>
                  <a:pt x="0" y="1095375"/>
                </a:moveTo>
                <a:lnTo>
                  <a:pt x="1143000" y="809625"/>
                </a:lnTo>
                <a:lnTo>
                  <a:pt x="2286000" y="428625"/>
                </a:lnTo>
                <a:lnTo>
                  <a:pt x="3429000" y="142875"/>
                </a:lnTo>
                <a:lnTo>
                  <a:pt x="4000500" y="0"/>
                </a:lnTo>
              </a:path>
            </a:pathLst>
          </a:custGeom>
          <a:noFill/>
          <a:ln w="28575">
            <a:gradFill>
              <a:gsLst>
                <a:gs pos="0">
                  <a:srgbClr val="0066CC"/>
                </a:gs>
                <a:gs pos="100000">
                  <a:srgbClr val="CF002E"/>
                </a:gs>
              </a:gsLst>
              <a:lin ang="0" scaled="1"/>
            </a:gradFill>
          </a:ln>
        </p:spPr>
      </p:sp>
      <p:sp>
        <p:nvSpPr>
          <p:cNvPr id="26" name="Ellipse 26"/>
          <p:cNvSpPr/>
          <p:nvPr/>
        </p:nvSpPr>
        <p:spPr>
          <a:xfrm>
            <a:off x="6896100" y="2990850"/>
            <a:ext cx="114300" cy="114300"/>
          </a:xfrm>
          <a:prstGeom prst="ellipse">
            <a:avLst/>
          </a:prstGeom>
          <a:solidFill>
            <a:srgbClr val="CF002E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9182100" y="2324100"/>
            <a:ext cx="114300" cy="114300"/>
          </a:xfrm>
          <a:prstGeom prst="ellipse">
            <a:avLst/>
          </a:prstGeom>
          <a:solidFill>
            <a:srgbClr val="CF002E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10896600" y="1895475"/>
            <a:ext cx="114300" cy="114300"/>
          </a:xfrm>
          <a:prstGeom prst="ellipse">
            <a:avLst/>
          </a:prstGeom>
          <a:solidFill>
            <a:srgbClr val="CF002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035665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开源模型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70310" y="3752374"/>
            <a:ext cx="5658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2025 Q4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74110" y="3752374"/>
            <a:ext cx="5302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2026 Q1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670810" y="3752374"/>
            <a:ext cx="5658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2026 Q2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0545" y="4489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后续影响</a:t>
            </a:r>
          </a:p>
        </p:txBody>
      </p:sp>
      <p:sp>
        <p:nvSpPr>
          <p:cNvPr id="34" name="Freeform 34"/>
          <p:cNvSpPr/>
          <p:nvPr/>
        </p:nvSpPr>
        <p:spPr>
          <a:xfrm>
            <a:off x="571500" y="4905375"/>
            <a:ext cx="3429000" cy="1143000"/>
          </a:xfrm>
          <a:custGeom>
            <a:avLst/>
            <a:gdLst/>
            <a:ahLst/>
            <a:cxnLst/>
            <a:rect l="l" t="t" r="r" b="b"/>
            <a:pathLst>
              <a:path w="3429000" h="1143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066800"/>
                </a:lnTo>
                <a:cubicBezTo>
                  <a:pt x="3429000" y="1108884"/>
                  <a:pt x="3394884" y="1143000"/>
                  <a:pt x="3352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2480" y="5093018"/>
            <a:ext cx="10383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🏢 中小企业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4385" y="5347335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可更低成本获得顶尖模型能力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4385" y="55854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需关注 API 价格波动风险</a:t>
            </a:r>
          </a:p>
        </p:txBody>
      </p:sp>
      <p:sp>
        <p:nvSpPr>
          <p:cNvPr id="38" name="Freeform 38"/>
          <p:cNvSpPr/>
          <p:nvPr/>
        </p:nvSpPr>
        <p:spPr>
          <a:xfrm>
            <a:off x="4381500" y="4905375"/>
            <a:ext cx="3429000" cy="1143000"/>
          </a:xfrm>
          <a:custGeom>
            <a:avLst/>
            <a:gdLst/>
            <a:ahLst/>
            <a:cxnLst/>
            <a:rect l="l" t="t" r="r" b="b"/>
            <a:pathLst>
              <a:path w="3429000" h="1143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066800"/>
                </a:lnTo>
                <a:cubicBezTo>
                  <a:pt x="3429000" y="1108884"/>
                  <a:pt x="3394884" y="1143000"/>
                  <a:pt x="3352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4602480" y="5093018"/>
            <a:ext cx="1059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👨‍💻 从业者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04385" y="5347335"/>
            <a:ext cx="28696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模型选型从"选最贵"转向"选最适合"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604385" y="55854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多模型路由能力成为核心竞争力</a:t>
            </a:r>
          </a:p>
        </p:txBody>
      </p:sp>
      <p:sp>
        <p:nvSpPr>
          <p:cNvPr id="42" name="Freeform 42"/>
          <p:cNvSpPr/>
          <p:nvPr/>
        </p:nvSpPr>
        <p:spPr>
          <a:xfrm>
            <a:off x="8191500" y="4905375"/>
            <a:ext cx="3429000" cy="1143000"/>
          </a:xfrm>
          <a:custGeom>
            <a:avLst/>
            <a:gdLst/>
            <a:ahLst/>
            <a:cxnLst/>
            <a:rect l="l" t="t" r="r" b="b"/>
            <a:pathLst>
              <a:path w="3429000" h="1143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066800"/>
                </a:lnTo>
                <a:cubicBezTo>
                  <a:pt x="3429000" y="1108884"/>
                  <a:pt x="3394884" y="1143000"/>
                  <a:pt x="3352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8412480" y="5093018"/>
            <a:ext cx="6243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AA55"/>
                </a:solidFill>
                <a:latin typeface="Arial"/>
                <a:ea typeface="Microsoft YaHei"/>
                <a:cs typeface="Arial"/>
              </a:rPr>
              <a:t>📈 市场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414385" y="5347335"/>
            <a:ext cx="30800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2026 年 Q2 后，单纯靠低价获客的模型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14385" y="55854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将失去市场，需构建差异化能力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575727" y="6562249"/>
            <a:ext cx="10571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2026-04-10 | 08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714375"/>
            <a:ext cx="11049000" cy="47625"/>
          </a:xfrm>
          <a:prstGeom prst="rect">
            <a:avLst/>
          </a:prstGeom>
          <a:gradFill>
            <a:gsLst>
              <a:gs pos="0">
                <a:srgbClr val="CF002E"/>
              </a:gs>
              <a:gs pos="100000">
                <a:srgbClr val="8B0020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8162" y="192881"/>
            <a:ext cx="691003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趋势洞察：智能体长程任务成为新战场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0545" y="1155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核心指标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571625"/>
            <a:ext cx="5143500" cy="1047750"/>
          </a:xfrm>
          <a:custGeom>
            <a:avLst/>
            <a:gdLst/>
            <a:ahLst/>
            <a:cxnLst/>
            <a:rect l="l" t="t" r="r" b="b"/>
            <a:pathLst>
              <a:path w="5143500" h="10477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971550"/>
                </a:lnTo>
                <a:cubicBezTo>
                  <a:pt x="5143500" y="1013634"/>
                  <a:pt x="5109384" y="1047750"/>
                  <a:pt x="50673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5F5"/>
          </a:solidFill>
          <a:ln w="9525">
            <a:solidFill>
              <a:srgbClr val="CF002E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71500" y="1571625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34116"/>
                  <a:pt x="57150" y="76200"/>
                </a:cubicBezTo>
                <a:lnTo>
                  <a:pt x="57150" y="971550"/>
                </a:lnTo>
                <a:cubicBezTo>
                  <a:pt x="57150" y="1013634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12793" y="0"/>
                  <a:pt x="28575" y="0"/>
                </a:cubicBezTo>
                <a:close/>
              </a:path>
            </a:pathLst>
          </a:custGeom>
          <a:solidFill>
            <a:srgbClr val="CF002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0105" y="1759268"/>
            <a:ext cx="20734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8 小时级持续工作能力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010" y="2061210"/>
            <a:ext cx="47274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GLM-5.1 实现 8 小时持续工作，可自主完成 1200 步复杂操作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962" y="2355056"/>
            <a:ext cx="20988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新标杆：8 小时 + 自治任务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762250"/>
            <a:ext cx="5143500" cy="1047750"/>
          </a:xfrm>
          <a:custGeom>
            <a:avLst/>
            <a:gdLst/>
            <a:ahLst/>
            <a:cxnLst/>
            <a:rect l="l" t="t" r="r" b="b"/>
            <a:pathLst>
              <a:path w="5143500" h="10477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971550"/>
                </a:lnTo>
                <a:cubicBezTo>
                  <a:pt x="5143500" y="1013634"/>
                  <a:pt x="5109384" y="1047750"/>
                  <a:pt x="50673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7FF"/>
          </a:solidFill>
          <a:ln w="9525">
            <a:solidFill>
              <a:srgbClr val="0066CC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571500" y="2762250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34116"/>
                  <a:pt x="57150" y="76200"/>
                </a:cubicBezTo>
                <a:lnTo>
                  <a:pt x="57150" y="971550"/>
                </a:lnTo>
                <a:cubicBezTo>
                  <a:pt x="57150" y="1013634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40105" y="2949892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长文本调用需求爆发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2010" y="3251835"/>
            <a:ext cx="35181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MiniMax M2.5 带动 100K-1M 长文本调用需求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2962" y="3545681"/>
            <a:ext cx="24525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Agent 工作流成为主要消耗场景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6045" y="1155382"/>
            <a:ext cx="3343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Agent 工作流调用量增长趋势</a:t>
            </a:r>
          </a:p>
        </p:txBody>
      </p:sp>
      <p:sp>
        <p:nvSpPr>
          <p:cNvPr id="18" name="Freeform 18"/>
          <p:cNvSpPr/>
          <p:nvPr/>
        </p:nvSpPr>
        <p:spPr>
          <a:xfrm>
            <a:off x="6477000" y="1524000"/>
            <a:ext cx="4953000" cy="2286000"/>
          </a:xfrm>
          <a:custGeom>
            <a:avLst/>
            <a:gdLst/>
            <a:ahLst/>
            <a:cxnLst/>
            <a:rect l="l" t="t" r="r" b="b"/>
            <a:pathLst>
              <a:path w="4953000" h="2286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2209800"/>
                </a:lnTo>
                <a:cubicBezTo>
                  <a:pt x="4953000" y="2251884"/>
                  <a:pt x="4918884" y="2286000"/>
                  <a:pt x="487680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6953250" y="3429000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19050">
            <a:solidFill>
              <a:srgbClr val="999999"/>
            </a:solidFill>
          </a:ln>
        </p:spPr>
      </p:sp>
      <p:sp>
        <p:nvSpPr>
          <p:cNvPr id="20" name="Line 20"/>
          <p:cNvSpPr/>
          <p:nvPr/>
        </p:nvSpPr>
        <p:spPr>
          <a:xfrm>
            <a:off x="6953250" y="190500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19050">
            <a:solidFill>
              <a:srgbClr val="999999"/>
            </a:solidFill>
          </a:ln>
        </p:spPr>
      </p:sp>
      <p:sp>
        <p:nvSpPr>
          <p:cNvPr id="21" name="Polyline 21"/>
          <p:cNvSpPr/>
          <p:nvPr/>
        </p:nvSpPr>
        <p:spPr>
          <a:xfrm>
            <a:off x="6953250" y="1428750"/>
            <a:ext cx="4000500" cy="1809750"/>
          </a:xfrm>
          <a:custGeom>
            <a:avLst/>
            <a:gdLst/>
            <a:ahLst/>
            <a:cxnLst/>
            <a:rect l="l" t="t" r="r" b="b"/>
            <a:pathLst>
              <a:path w="4000500" h="1809750">
                <a:moveTo>
                  <a:pt x="0" y="1809750"/>
                </a:moveTo>
                <a:lnTo>
                  <a:pt x="666750" y="1714500"/>
                </a:lnTo>
                <a:lnTo>
                  <a:pt x="1333500" y="1524000"/>
                </a:lnTo>
                <a:lnTo>
                  <a:pt x="2000250" y="1238250"/>
                </a:lnTo>
                <a:lnTo>
                  <a:pt x="2667000" y="857250"/>
                </a:lnTo>
                <a:lnTo>
                  <a:pt x="3333750" y="381000"/>
                </a:lnTo>
                <a:lnTo>
                  <a:pt x="4000500" y="0"/>
                </a:lnTo>
              </a:path>
            </a:pathLst>
          </a:custGeom>
          <a:noFill/>
          <a:ln w="28575">
            <a:solidFill>
              <a:srgbClr val="CF002E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6905625" y="3190875"/>
            <a:ext cx="95250" cy="95250"/>
          </a:xfrm>
          <a:prstGeom prst="ellipse">
            <a:avLst/>
          </a:prstGeom>
          <a:solidFill>
            <a:srgbClr val="CF002E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239125" y="2905125"/>
            <a:ext cx="95250" cy="95250"/>
          </a:xfrm>
          <a:prstGeom prst="ellipse">
            <a:avLst/>
          </a:prstGeom>
          <a:solidFill>
            <a:srgbClr val="CF002E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9572625" y="2238375"/>
            <a:ext cx="95250" cy="95250"/>
          </a:xfrm>
          <a:prstGeom prst="ellipse">
            <a:avLst/>
          </a:prstGeom>
          <a:solidFill>
            <a:srgbClr val="CF002E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10906125" y="1381125"/>
            <a:ext cx="95250" cy="95250"/>
          </a:xfrm>
          <a:prstGeom prst="ellipse">
            <a:avLst/>
          </a:prstGeom>
          <a:solidFill>
            <a:srgbClr val="CF002E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6953250" y="1428750"/>
            <a:ext cx="4000500" cy="2000250"/>
          </a:xfrm>
          <a:custGeom>
            <a:avLst/>
            <a:gdLst/>
            <a:ahLst/>
            <a:cxnLst/>
            <a:rect l="l" t="t" r="r" b="b"/>
            <a:pathLst>
              <a:path w="4000500" h="2000250">
                <a:moveTo>
                  <a:pt x="0" y="1809750"/>
                </a:moveTo>
                <a:lnTo>
                  <a:pt x="666750" y="1714500"/>
                </a:lnTo>
                <a:lnTo>
                  <a:pt x="1333500" y="1524000"/>
                </a:lnTo>
                <a:lnTo>
                  <a:pt x="2000250" y="1238250"/>
                </a:lnTo>
                <a:lnTo>
                  <a:pt x="2667000" y="857250"/>
                </a:lnTo>
                <a:lnTo>
                  <a:pt x="3333750" y="381000"/>
                </a:lnTo>
                <a:lnTo>
                  <a:pt x="4000500" y="0"/>
                </a:lnTo>
                <a:lnTo>
                  <a:pt x="4000500" y="2000250"/>
                </a:lnTo>
                <a:lnTo>
                  <a:pt x="0" y="2000250"/>
                </a:lnTo>
                <a:close/>
              </a:path>
            </a:pathLst>
          </a:custGeom>
          <a:solidFill>
            <a:srgbClr val="CF002E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670310" y="3561874"/>
            <a:ext cx="5658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2025 Q4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88360" y="3561874"/>
            <a:ext cx="5302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2026 Q1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670810" y="3561874"/>
            <a:ext cx="5658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2026 Q2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23171" y="25617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调用量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68132" y="2752249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↑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0545" y="4489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后续影响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4905375"/>
            <a:ext cx="3429000" cy="1143000"/>
          </a:xfrm>
          <a:custGeom>
            <a:avLst/>
            <a:gdLst/>
            <a:ahLst/>
            <a:cxnLst/>
            <a:rect l="l" t="t" r="r" b="b"/>
            <a:pathLst>
              <a:path w="3429000" h="1143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066800"/>
                </a:lnTo>
                <a:cubicBezTo>
                  <a:pt x="3429000" y="1108884"/>
                  <a:pt x="3394884" y="1143000"/>
                  <a:pt x="3352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92480" y="5093018"/>
            <a:ext cx="10383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F002E"/>
                </a:solidFill>
                <a:latin typeface="Arial"/>
                <a:ea typeface="Microsoft YaHei"/>
                <a:cs typeface="Arial"/>
              </a:rPr>
              <a:t>🏢 中小企业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4385" y="5347335"/>
            <a:ext cx="2273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可部署 7×24 小时自治智能体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4385" y="558546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人力成本大幅降低</a:t>
            </a:r>
          </a:p>
        </p:txBody>
      </p:sp>
      <p:sp>
        <p:nvSpPr>
          <p:cNvPr id="37" name="Freeform 37"/>
          <p:cNvSpPr/>
          <p:nvPr/>
        </p:nvSpPr>
        <p:spPr>
          <a:xfrm>
            <a:off x="4381500" y="4905375"/>
            <a:ext cx="3429000" cy="1143000"/>
          </a:xfrm>
          <a:custGeom>
            <a:avLst/>
            <a:gdLst/>
            <a:ahLst/>
            <a:cxnLst/>
            <a:rect l="l" t="t" r="r" b="b"/>
            <a:pathLst>
              <a:path w="3429000" h="1143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066800"/>
                </a:lnTo>
                <a:cubicBezTo>
                  <a:pt x="3429000" y="1108884"/>
                  <a:pt x="3394884" y="1143000"/>
                  <a:pt x="3352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602480" y="5093018"/>
            <a:ext cx="1059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👨‍💻 从业者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604385" y="5347335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需掌握智能体编排、长程任务分解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04385" y="558546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自我纠错等新技能</a:t>
            </a:r>
          </a:p>
        </p:txBody>
      </p:sp>
      <p:sp>
        <p:nvSpPr>
          <p:cNvPr id="41" name="Freeform 41"/>
          <p:cNvSpPr/>
          <p:nvPr/>
        </p:nvSpPr>
        <p:spPr>
          <a:xfrm>
            <a:off x="8191500" y="4905375"/>
            <a:ext cx="3429000" cy="1143000"/>
          </a:xfrm>
          <a:custGeom>
            <a:avLst/>
            <a:gdLst/>
            <a:ahLst/>
            <a:cxnLst/>
            <a:rect l="l" t="t" r="r" b="b"/>
            <a:pathLst>
              <a:path w="3429000" h="1143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066800"/>
                </a:lnTo>
                <a:cubicBezTo>
                  <a:pt x="3429000" y="1108884"/>
                  <a:pt x="3394884" y="1143000"/>
                  <a:pt x="3352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412480" y="5093018"/>
            <a:ext cx="6243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AA55"/>
                </a:solidFill>
                <a:latin typeface="Arial"/>
                <a:ea typeface="Microsoft YaHei"/>
                <a:cs typeface="Arial"/>
              </a:rPr>
              <a:t>📈 市场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14385" y="5347335"/>
            <a:ext cx="31501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2026 年下半年，支持 8 小时 + 持续工作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414385" y="55854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的模型将成为企业采购标配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575727" y="6562249"/>
            <a:ext cx="10571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2026-04-10 | 09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714375"/>
            <a:ext cx="11049000" cy="47625"/>
          </a:xfrm>
          <a:prstGeom prst="rect">
            <a:avLst/>
          </a:prstGeom>
          <a:gradFill>
            <a:gsLst>
              <a:gs pos="0">
                <a:srgbClr val="CF002E"/>
              </a:gs>
              <a:gs pos="100000">
                <a:srgbClr val="8B0020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8162" y="192881"/>
            <a:ext cx="1676876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信息来源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00050"/>
                </a:lnTo>
                <a:cubicBezTo>
                  <a:pt x="11049000" y="442134"/>
                  <a:pt x="11014884" y="476250"/>
                  <a:pt x="10972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35355" y="13020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信息来源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45355" y="13020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可信度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26605" y="13020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链接数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31605" y="13020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报道主题</a:t>
            </a:r>
          </a:p>
        </p:txBody>
      </p:sp>
      <p:sp>
        <p:nvSpPr>
          <p:cNvPr id="11" name="Freeform 11"/>
          <p:cNvSpPr/>
          <p:nvPr/>
        </p:nvSpPr>
        <p:spPr>
          <a:xfrm>
            <a:off x="571500" y="1714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19100"/>
                </a:lnTo>
                <a:cubicBezTo>
                  <a:pt x="11049000" y="450663"/>
                  <a:pt x="11023413" y="476250"/>
                  <a:pt x="10991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36308" y="1881664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IT 之家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43450" y="1857375"/>
            <a:ext cx="6405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AA00"/>
                </a:solidFill>
                <a:latin typeface="Arial"/>
                <a:ea typeface="Microsoft YaHei"/>
                <a:cs typeface="Arial"/>
              </a:rPr>
              <a:t>⭐⭐⭐⭐⭐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27558" y="1881664"/>
            <a:ext cx="13480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33510" y="188976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智谱 GLM-5.1 发布</a:t>
            </a:r>
          </a:p>
        </p:txBody>
      </p:sp>
      <p:sp>
        <p:nvSpPr>
          <p:cNvPr id="16" name="Freeform 16"/>
          <p:cNvSpPr/>
          <p:nvPr/>
        </p:nvSpPr>
        <p:spPr>
          <a:xfrm>
            <a:off x="571500" y="22860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19100"/>
                </a:lnTo>
                <a:cubicBezTo>
                  <a:pt x="11049000" y="450663"/>
                  <a:pt x="11023413" y="476250"/>
                  <a:pt x="10991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E5E5E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36308" y="2453164"/>
            <a:ext cx="15779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21 经济网 / 财联社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43450" y="2428875"/>
            <a:ext cx="6405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AA00"/>
                </a:solidFill>
                <a:latin typeface="Arial"/>
                <a:ea typeface="Microsoft YaHei"/>
                <a:cs typeface="Arial"/>
              </a:rPr>
              <a:t>⭐⭐⭐⭐⭐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27558" y="2453164"/>
            <a:ext cx="13480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33510" y="2461260"/>
            <a:ext cx="15552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Kimi K2.5 登顶榜单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857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19100"/>
                </a:lnTo>
                <a:cubicBezTo>
                  <a:pt x="11049000" y="450663"/>
                  <a:pt x="11023413" y="476250"/>
                  <a:pt x="10991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36308" y="3024664"/>
            <a:ext cx="53516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WIRED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43450" y="3000375"/>
            <a:ext cx="6405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AA00"/>
                </a:solidFill>
                <a:latin typeface="Arial"/>
                <a:ea typeface="Microsoft YaHei"/>
                <a:cs typeface="Arial"/>
              </a:rPr>
              <a:t>⭐⭐⭐⭐⭐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27558" y="3024664"/>
            <a:ext cx="13480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33510" y="3032760"/>
            <a:ext cx="25104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OpenAI/Google 支持 Anthropic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34290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19100"/>
                </a:lnTo>
                <a:cubicBezTo>
                  <a:pt x="11049000" y="450663"/>
                  <a:pt x="11023413" y="476250"/>
                  <a:pt x="10991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E5E5E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36308" y="3596164"/>
            <a:ext cx="7772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澎湃新闻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43450" y="3571875"/>
            <a:ext cx="6405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AA00"/>
                </a:solidFill>
                <a:latin typeface="Arial"/>
                <a:ea typeface="Microsoft YaHei"/>
                <a:cs typeface="Arial"/>
              </a:rPr>
              <a:t>⭐⭐⭐⭐⭐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27558" y="3596164"/>
            <a:ext cx="13480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33510" y="36042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中国厂商动态</a:t>
            </a:r>
          </a:p>
        </p:txBody>
      </p:sp>
      <p:sp>
        <p:nvSpPr>
          <p:cNvPr id="31" name="Freeform 31"/>
          <p:cNvSpPr/>
          <p:nvPr/>
        </p:nvSpPr>
        <p:spPr>
          <a:xfrm>
            <a:off x="571500" y="4000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19100"/>
                </a:lnTo>
                <a:cubicBezTo>
                  <a:pt x="11049000" y="450663"/>
                  <a:pt x="11023413" y="476250"/>
                  <a:pt x="10991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36308" y="4167664"/>
            <a:ext cx="9634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阿里云文档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43450" y="4143375"/>
            <a:ext cx="6405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AA00"/>
                </a:solidFill>
                <a:latin typeface="Arial"/>
                <a:ea typeface="Microsoft YaHei"/>
                <a:cs typeface="Arial"/>
              </a:rPr>
              <a:t>⭐⭐⭐⭐⭐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27558" y="4167664"/>
            <a:ext cx="882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33510" y="417576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Qwen3.5 系列更新</a:t>
            </a:r>
          </a:p>
        </p:txBody>
      </p:sp>
      <p:sp>
        <p:nvSpPr>
          <p:cNvPr id="36" name="Freeform 36"/>
          <p:cNvSpPr/>
          <p:nvPr/>
        </p:nvSpPr>
        <p:spPr>
          <a:xfrm>
            <a:off x="571500" y="45720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19100"/>
                </a:lnTo>
                <a:cubicBezTo>
                  <a:pt x="11049000" y="450663"/>
                  <a:pt x="11023413" y="476250"/>
                  <a:pt x="10991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9FA"/>
          </a:solidFill>
          <a:ln w="9525">
            <a:solidFill>
              <a:srgbClr val="E5E5E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36308" y="4739164"/>
            <a:ext cx="125208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BIGAI 官方博客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743450" y="4714875"/>
            <a:ext cx="6405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AA00"/>
                </a:solidFill>
                <a:latin typeface="Arial"/>
                <a:ea typeface="Microsoft YaHei"/>
                <a:cs typeface="Arial"/>
              </a:rPr>
              <a:t>⭐⭐⭐⭐⭐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127558" y="4739164"/>
            <a:ext cx="882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33510" y="4747260"/>
            <a:ext cx="15552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AGI 通用智能体突破</a:t>
            </a:r>
          </a:p>
        </p:txBody>
      </p:sp>
      <p:sp>
        <p:nvSpPr>
          <p:cNvPr id="41" name="Freeform 41"/>
          <p:cNvSpPr/>
          <p:nvPr/>
        </p:nvSpPr>
        <p:spPr>
          <a:xfrm>
            <a:off x="571500" y="5143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19100"/>
                </a:lnTo>
                <a:cubicBezTo>
                  <a:pt x="11049000" y="450663"/>
                  <a:pt x="11023413" y="476250"/>
                  <a:pt x="10991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36308" y="5310664"/>
            <a:ext cx="14010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Nebius 官方公告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743450" y="5286375"/>
            <a:ext cx="6405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AA00"/>
                </a:solidFill>
                <a:latin typeface="Arial"/>
                <a:ea typeface="Microsoft YaHei"/>
                <a:cs typeface="Arial"/>
              </a:rPr>
              <a:t>⭐⭐⭐⭐⭐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127558" y="5310664"/>
            <a:ext cx="882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033510" y="5318760"/>
            <a:ext cx="18268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Tavily 被 4 亿美元收购</a:t>
            </a:r>
          </a:p>
        </p:txBody>
      </p:sp>
      <p:sp>
        <p:nvSpPr>
          <p:cNvPr id="46" name="Freeform 46"/>
          <p:cNvSpPr/>
          <p:nvPr/>
        </p:nvSpPr>
        <p:spPr>
          <a:xfrm>
            <a:off x="571500" y="581025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19100"/>
                </a:lnTo>
                <a:cubicBezTo>
                  <a:pt x="11049000" y="450663"/>
                  <a:pt x="11023413" y="476250"/>
                  <a:pt x="10991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F7FF"/>
          </a:solidFill>
          <a:ln w="9525">
            <a:solidFill>
              <a:srgbClr val="0066CC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842010" y="5985510"/>
            <a:ext cx="65448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📊 本报告基于公开信息整理，所有来源可信度均为五星，投资/决策请自行核实。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143381" y="6554152"/>
            <a:ext cx="19052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© 2026 零壹情报 | 每日更新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611326" y="6562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2026-04-10 | 10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