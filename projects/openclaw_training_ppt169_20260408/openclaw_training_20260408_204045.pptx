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439430" y="2691765"/>
            <a:ext cx="531314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OpenClaw 内部培训材料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85661" y="3392805"/>
            <a:ext cx="542067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从原理到实践，掌握 AI Agent 操作系统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22558" y="4600575"/>
            <a:ext cx="17468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Noto Sans SC Regular"/>
                <a:ea typeface="Microsoft YaHei"/>
                <a:cs typeface="Noto Sans SC Regular"/>
              </a:rPr>
              <a:t>2026 年 4 月 9 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60896" y="4981575"/>
            <a:ext cx="16702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4A3B8"/>
                </a:solidFill>
                <a:latin typeface="Noto Sans SC Regular"/>
                <a:ea typeface="Microsoft YaHei"/>
                <a:cs typeface="Noto Sans SC Regular"/>
              </a:rPr>
              <a:t>演讲者: Vincent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2857500" y="5715000"/>
            <a:ext cx="6477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334156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1.1 OpenClaw 介绍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5330" y="1297305"/>
            <a:ext cx="276767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OpenClaw 是什么？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3450" y="1933575"/>
            <a:ext cx="20207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Regular"/>
                <a:ea typeface="Microsoft YaHei"/>
                <a:cs typeface="Noto Sans SC Regular"/>
              </a:rPr>
              <a:t>• AI Agent 操作系统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3450" y="2314575"/>
            <a:ext cx="40909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Regular"/>
                <a:ea typeface="Microsoft YaHei"/>
                <a:cs typeface="Noto Sans SC Regular"/>
              </a:rPr>
              <a:t>• 让 AI 从"聊天机器人"变成"自主执行者"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3450" y="2695575"/>
            <a:ext cx="32913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Regular"/>
                <a:ea typeface="Microsoft YaHei"/>
                <a:cs typeface="Noto Sans SC Regular"/>
              </a:rPr>
              <a:t>• 支持复杂任务的自动化和持续化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450" y="3076575"/>
            <a:ext cx="32913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Regular"/>
                <a:ea typeface="Microsoft YaHei"/>
                <a:cs typeface="Noto Sans SC Regular"/>
              </a:rPr>
              <a:t>• 提供企业级任务监控和质量保障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5330" y="3773805"/>
            <a:ext cx="12801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核心价值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3450" y="441007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Regular"/>
                <a:ea typeface="Microsoft YaHei"/>
                <a:cs typeface="Noto Sans SC Regular"/>
              </a:rPr>
              <a:t>• 会话管理：主会话、子会话、隔离会话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450" y="4791075"/>
            <a:ext cx="498919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Regular"/>
                <a:ea typeface="Microsoft YaHei"/>
                <a:cs typeface="Noto Sans SC Regular"/>
              </a:rPr>
              <a:t>• 任务调度：Cron 定时任务、Heartbeat 心跳机制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3450" y="5172075"/>
            <a:ext cx="41676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Regular"/>
                <a:ea typeface="Microsoft YaHei"/>
                <a:cs typeface="Noto Sans SC Regular"/>
              </a:rPr>
              <a:t>• 技能系统：可扩展的技能开发和执行框架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450" y="5553075"/>
            <a:ext cx="39704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Regular"/>
                <a:ea typeface="Microsoft YaHei"/>
                <a:cs typeface="Noto Sans SC Regular"/>
              </a:rPr>
              <a:t>• Multi-Agent：多 Agent 协同工作体系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3450" y="5934075"/>
            <a:ext cx="48248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Regular"/>
                <a:ea typeface="Microsoft YaHei"/>
                <a:cs typeface="Noto Sans SC Regular"/>
              </a:rPr>
              <a:t>• 记忆系统：短期记忆、长期记忆、自我改进记忆</a:t>
            </a:r>
          </a:p>
        </p:txBody>
      </p:sp>
      <p:sp>
        <p:nvSpPr>
          <p:cNvPr id="15" name="Line 1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231628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1.2 技术架构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5330" y="1297305"/>
            <a:ext cx="12801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核心组件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3450" y="1933575"/>
            <a:ext cx="9253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Gateway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62200" y="1933575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核心服务，管理所有组件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3450" y="2314575"/>
            <a:ext cx="17797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Session Manager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62200" y="2314575"/>
            <a:ext cx="1790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会话生命周期管理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3450" y="2695575"/>
            <a:ext cx="16154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Cron Scheduler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62200" y="26955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定时任务调度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450" y="3076575"/>
            <a:ext cx="13306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Skills Engine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62200" y="30765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技能加载和执行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450" y="3457575"/>
            <a:ext cx="168116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Memory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62200" y="34575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记忆存储和检索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3450" y="3838575"/>
            <a:ext cx="125396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Tools Proxy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62200" y="38385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工具调用代理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0" y="1905000"/>
            <a:ext cx="4762500" cy="28575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639050" y="2124075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架构层次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13208" y="2537460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Gateway → Agent → Tools → 外部系统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32814" y="291846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79196" y="329946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结果返回 → 用户输出</a:t>
            </a:r>
          </a:p>
        </p:txBody>
      </p:sp>
      <p:sp>
        <p:nvSpPr>
          <p:cNvPr id="22" name="Line 22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29101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29101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29101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29101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29101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4093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31073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11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4093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12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4093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4093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4093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15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4093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16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4093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17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4093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18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4093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19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50790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20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40931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21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50790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22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50790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23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470535"/>
            <a:ext cx="150790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1E293B"/>
                </a:solidFill>
                <a:latin typeface="Noto Sans SC Bold"/>
                <a:ea typeface="Microsoft YaHei"/>
                <a:cs typeface="Noto Sans SC Bold"/>
              </a:rPr>
              <a:t>Slide 24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9140" y="1710690"/>
            <a:ext cx="72357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4748B"/>
                </a:solidFill>
                <a:latin typeface="Noto Sans SC Regular"/>
                <a:ea typeface="Microsoft YaHei"/>
                <a:cs typeface="Noto Sans SC Regular"/>
              </a:rPr>
              <a:t>Content will be generated based on training_content.md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1143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