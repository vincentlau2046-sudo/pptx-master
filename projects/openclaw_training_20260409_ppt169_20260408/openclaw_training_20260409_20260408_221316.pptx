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365D"/>
              </a:gs>
              <a:gs pos="100000">
                <a:srgbClr val="2C5282"/>
              </a:gs>
            </a:gsLst>
            <a:lin ang="2700000" scaled="1"/>
          </a:gra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0" y="0"/>
            <a:ext cx="3810000" cy="6858000"/>
          </a:xfrm>
          <a:custGeom>
            <a:avLst/>
            <a:gdLst/>
            <a:ahLst/>
            <a:cxnLst/>
            <a:rect l="l" t="t" r="r" b="b"/>
            <a:pathLst>
              <a:path w="3810000" h="6858000">
                <a:moveTo>
                  <a:pt x="0" y="0"/>
                </a:moveTo>
                <a:lnTo>
                  <a:pt x="3810000" y="6858000"/>
                </a:lnTo>
              </a:path>
            </a:pathLst>
          </a:custGeom>
          <a:noFill/>
          <a:ln w="19050">
            <a:solidFill>
              <a:srgbClr val="3182CE">
                <a:alpha val="30000"/>
              </a:srgbClr>
            </a:solidFill>
          </a:ln>
        </p:spPr>
      </p:sp>
      <p:sp>
        <p:nvSpPr>
          <p:cNvPr id="4" name="Line 4"/>
          <p:cNvSpPr/>
          <p:nvPr/>
        </p:nvSpPr>
        <p:spPr>
          <a:xfrm>
            <a:off x="8382000" y="0"/>
            <a:ext cx="3810000" cy="6858000"/>
          </a:xfrm>
          <a:custGeom>
            <a:avLst/>
            <a:gdLst/>
            <a:ahLst/>
            <a:cxnLst/>
            <a:rect l="l" t="t" r="r" b="b"/>
            <a:pathLst>
              <a:path w="3810000" h="6858000">
                <a:moveTo>
                  <a:pt x="0" y="0"/>
                </a:moveTo>
                <a:lnTo>
                  <a:pt x="3810000" y="6858000"/>
                </a:lnTo>
              </a:path>
            </a:pathLst>
          </a:custGeom>
          <a:noFill/>
          <a:ln w="19050">
            <a:solidFill>
              <a:srgbClr val="3182CE">
                <a:alpha val="30000"/>
              </a:srgbClr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3192604" y="2213610"/>
            <a:ext cx="580679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OpenClaw 内部培训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82452" y="3107055"/>
            <a:ext cx="342709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掌握核心架构与开发实践</a:t>
            </a:r>
          </a:p>
        </p:txBody>
      </p:sp>
      <p:sp>
        <p:nvSpPr>
          <p:cNvPr id="7" name="Rectangle 7"/>
          <p:cNvSpPr/>
          <p:nvPr/>
        </p:nvSpPr>
        <p:spPr>
          <a:xfrm>
            <a:off x="4191000" y="3619500"/>
            <a:ext cx="3810000" cy="38100"/>
          </a:xfrm>
          <a:prstGeom prst="rect">
            <a:avLst/>
          </a:prstGeom>
          <a:gradFill>
            <a:gsLst>
              <a:gs pos="0">
                <a:srgbClr val="ED8936"/>
              </a:gs>
              <a:gs pos="100000">
                <a:srgbClr val="F6AD55"/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713494" y="4108132"/>
            <a:ext cx="27650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E2E8F0"/>
                </a:solidFill>
                <a:latin typeface="Source Han Sans CN"/>
                <a:ea typeface="Microsoft YaHei"/>
                <a:cs typeface="Source Han Sans CN"/>
              </a:rPr>
              <a:t>培训日期：2026年4月9日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08659" y="4489132"/>
            <a:ext cx="317468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E2E8F0"/>
                </a:solidFill>
                <a:latin typeface="Source Han Sans CN"/>
                <a:ea typeface="Microsoft YaHei"/>
                <a:cs typeface="Source Han Sans CN"/>
              </a:rPr>
              <a:t>培训对象：部门内部技术团队</a:t>
            </a:r>
          </a:p>
        </p:txBody>
      </p:sp>
      <p:sp>
        <p:nvSpPr>
          <p:cNvPr id="10" name="Rectangle 10"/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0F2942">
              <a:alpha val="80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148518" y="6395085"/>
            <a:ext cx="389496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18096"/>
                </a:solidFill>
                <a:latin typeface="Source Han Sans CN"/>
                <a:ea typeface="Microsoft YaHei"/>
                <a:cs typeface="Source Han Sans CN"/>
              </a:rPr>
              <a:t>AI Agent 操作系统 | 技能系统 | Multi-Agent 协同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1A365D"/>
              </a:gs>
              <a:gs pos="50000">
                <a:srgbClr val="3182CE"/>
              </a:gs>
              <a:gs pos="100000">
                <a:srgbClr val="ED8936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培训目标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7620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490918" y="1428750"/>
            <a:ext cx="3700082" cy="1905000"/>
            <a:chOff x="490918" y="1428750"/>
            <a:chExt cx="3700082" cy="1905000"/>
          </a:xfrm>
        </p:grpSpPr>
        <p:sp>
          <p:nvSpPr>
            <p:cNvPr id="6" name="Rectangle 6"/>
            <p:cNvSpPr/>
            <p:nvPr/>
          </p:nvSpPr>
          <p:spPr>
            <a:xfrm>
              <a:off x="952500" y="1428750"/>
              <a:ext cx="3238500" cy="19050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238250" y="1714500"/>
              <a:ext cx="571500" cy="571500"/>
            </a:xfrm>
            <a:prstGeom prst="ellipse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44549" y="1817370"/>
              <a:ext cx="35890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90918" y="2393632"/>
              <a:ext cx="206616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掌握核心架构原理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1686" y="2775585"/>
              <a:ext cx="198462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理解 OpenClaw 技术基础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913956" y="1428750"/>
            <a:ext cx="3801294" cy="1905000"/>
            <a:chOff x="3913956" y="1428750"/>
            <a:chExt cx="3801294" cy="1905000"/>
          </a:xfrm>
        </p:grpSpPr>
        <p:sp>
          <p:nvSpPr>
            <p:cNvPr id="12" name="Rectangle 12"/>
            <p:cNvSpPr/>
            <p:nvPr/>
          </p:nvSpPr>
          <p:spPr>
            <a:xfrm>
              <a:off x="4476750" y="1428750"/>
              <a:ext cx="3238500" cy="19050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4762500" y="1714500"/>
              <a:ext cx="571500" cy="571500"/>
            </a:xfrm>
            <a:prstGeom prst="ellipse">
              <a:avLst/>
            </a:prstGeom>
            <a:solidFill>
              <a:srgbClr val="38B2A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824984" y="1817370"/>
              <a:ext cx="44653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13956" y="2393632"/>
              <a:ext cx="226858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独立开发 Cron 任务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069080" y="2775585"/>
              <a:ext cx="19583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掌握定时任务配置与调度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393925" y="1428750"/>
            <a:ext cx="3845575" cy="1905000"/>
            <a:chOff x="7393925" y="1428750"/>
            <a:chExt cx="3845575" cy="1905000"/>
          </a:xfrm>
        </p:grpSpPr>
        <p:sp>
          <p:nvSpPr>
            <p:cNvPr id="18" name="Rectangle 18"/>
            <p:cNvSpPr/>
            <p:nvPr/>
          </p:nvSpPr>
          <p:spPr>
            <a:xfrm>
              <a:off x="8001000" y="1428750"/>
              <a:ext cx="3238500" cy="19050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8286750" y="1714500"/>
              <a:ext cx="571500" cy="571500"/>
            </a:xfrm>
            <a:prstGeom prst="ellipse">
              <a:avLst/>
            </a:prstGeom>
            <a:solidFill>
              <a:srgbClr val="ED893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49234" y="1817370"/>
              <a:ext cx="44653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93925" y="2393632"/>
              <a:ext cx="235714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开发 OpenClaw 技能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80960" y="2775585"/>
              <a:ext cx="17830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从需求分析到发布部署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955731" y="3619500"/>
            <a:ext cx="3997394" cy="1905000"/>
            <a:chOff x="1955731" y="3619500"/>
            <a:chExt cx="3997394" cy="1905000"/>
          </a:xfrm>
        </p:grpSpPr>
        <p:sp>
          <p:nvSpPr>
            <p:cNvPr id="24" name="Rectangle 24"/>
            <p:cNvSpPr/>
            <p:nvPr/>
          </p:nvSpPr>
          <p:spPr>
            <a:xfrm>
              <a:off x="2714625" y="3619500"/>
              <a:ext cx="3238500" cy="19050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00375" y="3905250"/>
              <a:ext cx="571500" cy="571500"/>
            </a:xfrm>
            <a:prstGeom prst="ellipse">
              <a:avLst/>
            </a:prstGeom>
            <a:solidFill>
              <a:srgbClr val="805AD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062859" y="4008120"/>
              <a:ext cx="44653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955731" y="4584382"/>
              <a:ext cx="266078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构建 Multi-Agent 体系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328863" y="4966335"/>
              <a:ext cx="19145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多Agent协同与任务调度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903809" y="3619500"/>
            <a:ext cx="3573566" cy="1905000"/>
            <a:chOff x="5903809" y="3619500"/>
            <a:chExt cx="3573566" cy="1905000"/>
          </a:xfrm>
        </p:grpSpPr>
        <p:sp>
          <p:nvSpPr>
            <p:cNvPr id="30" name="Rectangle 30"/>
            <p:cNvSpPr/>
            <p:nvPr/>
          </p:nvSpPr>
          <p:spPr>
            <a:xfrm>
              <a:off x="6238875" y="3619500"/>
              <a:ext cx="3238500" cy="19050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6524625" y="3905250"/>
              <a:ext cx="571500" cy="571500"/>
            </a:xfrm>
            <a:prstGeom prst="ellipse">
              <a:avLst/>
            </a:prstGeom>
            <a:solidFill>
              <a:srgbClr val="E53E3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87109" y="4008120"/>
              <a:ext cx="44653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05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903809" y="4584382"/>
              <a:ext cx="181313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企业级任务监控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06465" y="4966335"/>
              <a:ext cx="1607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质量保障与故障排查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02 / 38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7210" y="37528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目录导航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857250"/>
            <a:ext cx="7620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952500" y="1333500"/>
            <a:ext cx="5143500" cy="2286000"/>
            <a:chOff x="952500" y="1333500"/>
            <a:chExt cx="5143500" cy="2286000"/>
          </a:xfrm>
        </p:grpSpPr>
        <p:sp>
          <p:nvSpPr>
            <p:cNvPr id="5" name="Rectangle 5"/>
            <p:cNvSpPr/>
            <p:nvPr/>
          </p:nvSpPr>
          <p:spPr>
            <a:xfrm>
              <a:off x="952500" y="1333500"/>
              <a:ext cx="5143500" cy="2286000"/>
            </a:xfrm>
            <a:prstGeom prst="rect">
              <a:avLst/>
            </a:prstGeom>
            <a:gradFill>
              <a:gsLst>
                <a:gs pos="0">
                  <a:srgbClr val="1A365D"/>
                </a:gs>
                <a:gs pos="100000">
                  <a:srgbClr val="2C528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316355" y="1664018"/>
              <a:ext cx="69480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0AEC0"/>
                  </a:solidFill>
                  <a:latin typeface="Source Han Sans CN"/>
                  <a:ea typeface="Microsoft YaHei"/>
                  <a:cs typeface="Source Han Sans CN"/>
                </a:rPr>
                <a:t>PART 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03020" y="1931670"/>
              <a:ext cx="116509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原理篇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16355" y="2426018"/>
              <a:ext cx="177922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0AEC0"/>
                  </a:solidFill>
                  <a:latin typeface="Source Han Sans CN"/>
                  <a:ea typeface="Microsoft YaHei"/>
                  <a:cs typeface="Source Han Sans CN"/>
                </a:rPr>
                <a:t>OpenClaw 技术基础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18260" y="3108960"/>
              <a:ext cx="26856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2E8F0"/>
                  </a:solidFill>
                  <a:latin typeface="Source Han Sans CN"/>
                  <a:ea typeface="Microsoft YaHei"/>
                  <a:cs typeface="Source Han Sans CN"/>
                </a:rPr>
                <a:t>• 技术架构 • 信息架构 • 记忆架构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18260" y="3347085"/>
              <a:ext cx="28434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2E8F0"/>
                  </a:solidFill>
                  <a:latin typeface="Source Han Sans CN"/>
                  <a:ea typeface="Microsoft YaHei"/>
                  <a:cs typeface="Source Han Sans CN"/>
                </a:rPr>
                <a:t>• 技能架构 • SubAgent • Cron 调度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286500" y="1333500"/>
            <a:ext cx="5143500" cy="2286000"/>
            <a:chOff x="6286500" y="1333500"/>
            <a:chExt cx="5143500" cy="2286000"/>
          </a:xfrm>
        </p:grpSpPr>
        <p:sp>
          <p:nvSpPr>
            <p:cNvPr id="12" name="Rectangle 12"/>
            <p:cNvSpPr/>
            <p:nvPr/>
          </p:nvSpPr>
          <p:spPr>
            <a:xfrm>
              <a:off x="6286500" y="1333500"/>
              <a:ext cx="5143500" cy="2286000"/>
            </a:xfrm>
            <a:prstGeom prst="rect">
              <a:avLst/>
            </a:prstGeom>
            <a:gradFill>
              <a:gsLst>
                <a:gs pos="0">
                  <a:srgbClr val="3182CE"/>
                </a:gs>
                <a:gs pos="100000">
                  <a:srgbClr val="4299E1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50355" y="1664018"/>
              <a:ext cx="7440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EE3F8"/>
                  </a:solidFill>
                  <a:latin typeface="Source Han Sans CN"/>
                  <a:ea typeface="Microsoft YaHei"/>
                  <a:cs typeface="Source Han Sans CN"/>
                </a:rPr>
                <a:t>PART 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37020" y="1931670"/>
              <a:ext cx="300532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实践篇：定时任务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50355" y="2426018"/>
              <a:ext cx="24298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EE3F8"/>
                  </a:solidFill>
                  <a:latin typeface="Source Han Sans CN"/>
                  <a:ea typeface="Microsoft YaHei"/>
                  <a:cs typeface="Source Han Sans CN"/>
                </a:rPr>
                <a:t>第一个 OpenClaw 定时任务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52260" y="3108960"/>
              <a:ext cx="286092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BF8FF"/>
                  </a:solidFill>
                  <a:latin typeface="Source Han Sans CN"/>
                  <a:ea typeface="Microsoft YaHei"/>
                  <a:cs typeface="Source Han Sans CN"/>
                </a:rPr>
                <a:t>• 关键要素 • 实战案例 • 复盘与避坑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2500" y="3810000"/>
            <a:ext cx="5143500" cy="2286000"/>
            <a:chOff x="952500" y="3810000"/>
            <a:chExt cx="5143500" cy="2286000"/>
          </a:xfrm>
        </p:grpSpPr>
        <p:sp>
          <p:nvSpPr>
            <p:cNvPr id="18" name="Rectangle 18"/>
            <p:cNvSpPr/>
            <p:nvPr/>
          </p:nvSpPr>
          <p:spPr>
            <a:xfrm>
              <a:off x="952500" y="3810000"/>
              <a:ext cx="5143500" cy="2286000"/>
            </a:xfrm>
            <a:prstGeom prst="rect">
              <a:avLst/>
            </a:prstGeom>
            <a:gradFill>
              <a:gsLst>
                <a:gs pos="0">
                  <a:srgbClr val="38B2AC"/>
                </a:gs>
                <a:gs pos="100000">
                  <a:srgbClr val="4FD1C5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316355" y="4140518"/>
              <a:ext cx="7440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2F5EA"/>
                  </a:solidFill>
                  <a:latin typeface="Source Han Sans CN"/>
                  <a:ea typeface="Microsoft YaHei"/>
                  <a:cs typeface="Source Han Sans CN"/>
                </a:rPr>
                <a:t>PART 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03020" y="4408170"/>
              <a:ext cx="300532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实践篇：技能开发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16355" y="4902518"/>
              <a:ext cx="24298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2F5EA"/>
                  </a:solidFill>
                  <a:latin typeface="Source Han Sans CN"/>
                  <a:ea typeface="Microsoft YaHei"/>
                  <a:cs typeface="Source Han Sans CN"/>
                </a:rPr>
                <a:t>第一个 OpenClaw 技能开发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18260" y="5585460"/>
              <a:ext cx="30361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6FFFA"/>
                  </a:solidFill>
                  <a:latin typeface="Source Han Sans CN"/>
                  <a:ea typeface="Microsoft YaHei"/>
                  <a:cs typeface="Source Han Sans CN"/>
                </a:rPr>
                <a:t>• 关键要素 • 实战案例 • 常见坑与方案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86500" y="3810000"/>
            <a:ext cx="5143500" cy="2286000"/>
            <a:chOff x="6286500" y="3810000"/>
            <a:chExt cx="5143500" cy="2286000"/>
          </a:xfrm>
        </p:grpSpPr>
        <p:sp>
          <p:nvSpPr>
            <p:cNvPr id="24" name="Rectangle 24"/>
            <p:cNvSpPr/>
            <p:nvPr/>
          </p:nvSpPr>
          <p:spPr>
            <a:xfrm>
              <a:off x="6286500" y="3810000"/>
              <a:ext cx="5143500" cy="2286000"/>
            </a:xfrm>
            <a:prstGeom prst="rect">
              <a:avLst/>
            </a:prstGeom>
            <a:gradFill>
              <a:gsLst>
                <a:gs pos="0">
                  <a:srgbClr val="ED8936"/>
                </a:gs>
                <a:gs pos="100000">
                  <a:srgbClr val="F6AD55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50355" y="4140518"/>
              <a:ext cx="7440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EEBC8"/>
                  </a:solidFill>
                  <a:latin typeface="Source Han Sans CN"/>
                  <a:ea typeface="Microsoft YaHei"/>
                  <a:cs typeface="Source Han Sans CN"/>
                </a:rPr>
                <a:t>PART 04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37020" y="4408170"/>
              <a:ext cx="364940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实践篇：Multi-Agent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50355" y="4902518"/>
              <a:ext cx="20158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EEBC8"/>
                  </a:solidFill>
                  <a:latin typeface="Source Han Sans CN"/>
                  <a:ea typeface="Microsoft YaHei"/>
                  <a:cs typeface="Source Han Sans CN"/>
                </a:rPr>
                <a:t>Multi-Agent 体系开发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52260" y="5585460"/>
              <a:ext cx="286092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AF0"/>
                  </a:solidFill>
                  <a:latin typeface="Source Han Sans CN"/>
                  <a:ea typeface="Microsoft YaHei"/>
                  <a:cs typeface="Source Han Sans CN"/>
                </a:rPr>
                <a:t>• 核心概念 • 任务路由 • 监控与运维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03 / 38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技术架构总览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3238500" y="1333500"/>
            <a:ext cx="5715000" cy="3048000"/>
          </a:xfrm>
          <a:prstGeom prst="rect">
            <a:avLst/>
          </a:prstGeom>
          <a:gradFill>
            <a:gsLst>
              <a:gs pos="0">
                <a:srgbClr val="1A365D"/>
              </a:gs>
              <a:gs pos="100000">
                <a:srgbClr val="2C5282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949054" y="1441132"/>
            <a:ext cx="229389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OpenClaw Gateway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3429000" y="1905000"/>
            <a:ext cx="1238250" cy="762000"/>
            <a:chOff x="3429000" y="1905000"/>
            <a:chExt cx="1238250" cy="762000"/>
          </a:xfrm>
        </p:grpSpPr>
        <p:sp>
          <p:nvSpPr>
            <p:cNvPr id="8" name="Rectangle 8"/>
            <p:cNvSpPr/>
            <p:nvPr/>
          </p:nvSpPr>
          <p:spPr>
            <a:xfrm>
              <a:off x="3429000" y="1905000"/>
              <a:ext cx="1238250" cy="762000"/>
            </a:xfrm>
            <a:prstGeom prst="rect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744954" y="2220278"/>
              <a:ext cx="6063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Session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770519" y="2426970"/>
              <a:ext cx="5552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EE3F8"/>
                  </a:solidFill>
                  <a:latin typeface="Source Han Sans CN"/>
                  <a:ea typeface="Microsoft YaHei"/>
                  <a:cs typeface="Source Han Sans CN"/>
                </a:rPr>
                <a:t>Manager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857750" y="1905000"/>
            <a:ext cx="1238250" cy="762000"/>
            <a:chOff x="4857750" y="1905000"/>
            <a:chExt cx="1238250" cy="762000"/>
          </a:xfrm>
        </p:grpSpPr>
        <p:sp>
          <p:nvSpPr>
            <p:cNvPr id="12" name="Rectangle 12"/>
            <p:cNvSpPr/>
            <p:nvPr/>
          </p:nvSpPr>
          <p:spPr>
            <a:xfrm>
              <a:off x="4857750" y="1905000"/>
              <a:ext cx="1238250" cy="762000"/>
            </a:xfrm>
            <a:prstGeom prst="rect">
              <a:avLst/>
            </a:prstGeom>
            <a:solidFill>
              <a:srgbClr val="38B2A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86418" y="2220278"/>
              <a:ext cx="380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Cron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156549" y="2426970"/>
              <a:ext cx="6406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2F5EA"/>
                  </a:solidFill>
                  <a:latin typeface="Source Han Sans CN"/>
                  <a:ea typeface="Microsoft YaHei"/>
                  <a:cs typeface="Source Han Sans CN"/>
                </a:rPr>
                <a:t>Scheduler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286500" y="1905000"/>
            <a:ext cx="1238250" cy="762000"/>
            <a:chOff x="6286500" y="1905000"/>
            <a:chExt cx="1238250" cy="762000"/>
          </a:xfrm>
        </p:grpSpPr>
        <p:sp>
          <p:nvSpPr>
            <p:cNvPr id="16" name="Rectangle 16"/>
            <p:cNvSpPr/>
            <p:nvPr/>
          </p:nvSpPr>
          <p:spPr>
            <a:xfrm>
              <a:off x="6286500" y="1905000"/>
              <a:ext cx="1238250" cy="762000"/>
            </a:xfrm>
            <a:prstGeom prst="rect">
              <a:avLst/>
            </a:prstGeom>
            <a:solidFill>
              <a:srgbClr val="ED893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86989" y="2220278"/>
              <a:ext cx="4372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Skills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93741" y="2426970"/>
              <a:ext cx="4237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EEBC8"/>
                  </a:solidFill>
                  <a:latin typeface="Source Han Sans CN"/>
                  <a:ea typeface="Microsoft YaHei"/>
                  <a:cs typeface="Source Han Sans CN"/>
                </a:rPr>
                <a:t>Engine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715250" y="1905000"/>
            <a:ext cx="1238250" cy="762000"/>
            <a:chOff x="7715250" y="1905000"/>
            <a:chExt cx="1238250" cy="762000"/>
          </a:xfrm>
        </p:grpSpPr>
        <p:sp>
          <p:nvSpPr>
            <p:cNvPr id="20" name="Rectangle 20"/>
            <p:cNvSpPr/>
            <p:nvPr/>
          </p:nvSpPr>
          <p:spPr>
            <a:xfrm>
              <a:off x="7715250" y="1905000"/>
              <a:ext cx="1238250" cy="762000"/>
            </a:xfrm>
            <a:prstGeom prst="rect">
              <a:avLst/>
            </a:prstGeom>
            <a:solidFill>
              <a:srgbClr val="805AD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23153" y="2220278"/>
              <a:ext cx="6224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Memory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92916" y="2426970"/>
              <a:ext cx="4829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9D8FD"/>
                  </a:solidFill>
                  <a:latin typeface="Source Han Sans CN"/>
                  <a:ea typeface="Microsoft YaHei"/>
                  <a:cs typeface="Source Han Sans CN"/>
                </a:rPr>
                <a:t>System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095750" y="2857500"/>
            <a:ext cx="1238250" cy="762000"/>
            <a:chOff x="4095750" y="2857500"/>
            <a:chExt cx="1238250" cy="762000"/>
          </a:xfrm>
        </p:grpSpPr>
        <p:sp>
          <p:nvSpPr>
            <p:cNvPr id="24" name="Rectangle 24"/>
            <p:cNvSpPr/>
            <p:nvPr/>
          </p:nvSpPr>
          <p:spPr>
            <a:xfrm>
              <a:off x="4095750" y="2857500"/>
              <a:ext cx="1238250" cy="762000"/>
            </a:xfrm>
            <a:prstGeom prst="rect">
              <a:avLst/>
            </a:prstGeom>
            <a:solidFill>
              <a:srgbClr val="E53E3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60010" y="3172778"/>
              <a:ext cx="5097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Multi-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22708" y="3379470"/>
              <a:ext cx="3843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ED7D7"/>
                  </a:solidFill>
                  <a:latin typeface="Source Han Sans CN"/>
                  <a:ea typeface="Microsoft YaHei"/>
                  <a:cs typeface="Source Han Sans CN"/>
                </a:rPr>
                <a:t>Agent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524500" y="2857500"/>
            <a:ext cx="1238250" cy="762000"/>
            <a:chOff x="5524500" y="2857500"/>
            <a:chExt cx="1238250" cy="762000"/>
          </a:xfrm>
        </p:grpSpPr>
        <p:sp>
          <p:nvSpPr>
            <p:cNvPr id="28" name="Rectangle 28"/>
            <p:cNvSpPr/>
            <p:nvPr/>
          </p:nvSpPr>
          <p:spPr>
            <a:xfrm>
              <a:off x="5524500" y="2857500"/>
              <a:ext cx="1238250" cy="762000"/>
            </a:xfrm>
            <a:prstGeom prst="rect">
              <a:avLst/>
            </a:prstGeom>
            <a:solidFill>
              <a:srgbClr val="DD6B2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929015" y="3172778"/>
              <a:ext cx="4292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Tools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951458" y="3379470"/>
              <a:ext cx="3843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EEBC8"/>
                  </a:solidFill>
                  <a:latin typeface="Source Han Sans CN"/>
                  <a:ea typeface="Microsoft YaHei"/>
                  <a:cs typeface="Source Han Sans CN"/>
                </a:rPr>
                <a:t>Proxy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953250" y="2857500"/>
            <a:ext cx="1238250" cy="762000"/>
            <a:chOff x="6953250" y="2857500"/>
            <a:chExt cx="1238250" cy="762000"/>
          </a:xfrm>
        </p:grpSpPr>
        <p:sp>
          <p:nvSpPr>
            <p:cNvPr id="32" name="Rectangle 32"/>
            <p:cNvSpPr/>
            <p:nvPr/>
          </p:nvSpPr>
          <p:spPr>
            <a:xfrm>
              <a:off x="6953250" y="2857500"/>
              <a:ext cx="1238250" cy="762000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232974" y="3172778"/>
              <a:ext cx="6788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Message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44061" y="3379470"/>
              <a:ext cx="456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EE3F8"/>
                  </a:solidFill>
                  <a:latin typeface="Source Han Sans CN"/>
                  <a:ea typeface="Microsoft YaHei"/>
                  <a:cs typeface="Source Han Sans CN"/>
                </a:rPr>
                <a:t>Router</a:t>
              </a:r>
            </a:p>
          </p:txBody>
        </p:sp>
      </p:grpSp>
      <p:sp>
        <p:nvSpPr>
          <p:cNvPr id="36" name="Line 36"/>
          <p:cNvSpPr/>
          <p:nvPr/>
        </p:nvSpPr>
        <p:spPr>
          <a:xfrm>
            <a:off x="6096000" y="4000500"/>
            <a:ext cx="9525" cy="571500"/>
          </a:xfrm>
          <a:custGeom>
            <a:avLst/>
            <a:gdLst/>
            <a:ahLst/>
            <a:cxnLst/>
            <a:rect l="l" t="t" r="r" b="b"/>
            <a:pathLst>
              <a:path w="9525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/>
          <a:ln w="19050">
            <a:solidFill>
              <a:srgbClr val="3182CE"/>
            </a:solidFill>
            <a:custDash>
              <a:ds d="250000" sp="250000"/>
            </a:custDash>
          </a:ln>
        </p:spPr>
      </p:sp>
      <p:grpSp>
        <p:nvGrpSpPr>
          <p:cNvPr id="39" name="Group 39"/>
          <p:cNvGrpSpPr/>
          <p:nvPr/>
        </p:nvGrpSpPr>
        <p:grpSpPr>
          <a:xfrm>
            <a:off x="4667250" y="4667250"/>
            <a:ext cx="2857500" cy="666750"/>
            <a:chOff x="4667250" y="4667250"/>
            <a:chExt cx="2857500" cy="666750"/>
          </a:xfrm>
        </p:grpSpPr>
        <p:sp>
          <p:nvSpPr>
            <p:cNvPr id="37" name="Rectangle 37"/>
            <p:cNvSpPr/>
            <p:nvPr/>
          </p:nvSpPr>
          <p:spPr>
            <a:xfrm>
              <a:off x="4667250" y="4667250"/>
              <a:ext cx="2857500" cy="666750"/>
            </a:xfrm>
            <a:prstGeom prst="rect">
              <a:avLst/>
            </a:prstGeom>
            <a:solidFill>
              <a:srgbClr val="EBF8FF"/>
            </a:solidFill>
            <a:ln w="19050">
              <a:solidFill>
                <a:srgbClr val="3182CE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197450" y="4937760"/>
              <a:ext cx="179710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Main Agent (主会话)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0" y="0"/>
            <a:ext cx="2667000" cy="666750"/>
            <a:chOff x="0" y="0"/>
            <a:chExt cx="2667000" cy="666750"/>
          </a:xfrm>
        </p:grpSpPr>
        <p:sp>
          <p:nvSpPr>
            <p:cNvPr id="40" name="Rectangle 40"/>
            <p:cNvSpPr/>
            <p:nvPr/>
          </p:nvSpPr>
          <p:spPr>
            <a:xfrm>
              <a:off x="0" y="0"/>
              <a:ext cx="2667000" cy="666750"/>
            </a:xfrm>
            <a:prstGeom prst="rect">
              <a:avLst/>
            </a:prstGeom>
            <a:solidFill>
              <a:srgbClr val="FEF3E2"/>
            </a:solidFill>
            <a:ln w="19050">
              <a:solidFill>
                <a:srgbClr val="ED893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30349" y="270510"/>
              <a:ext cx="18063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Sub Agents (子会话)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-57312" y="0"/>
            <a:ext cx="2781624" cy="666750"/>
            <a:chOff x="-57312" y="0"/>
            <a:chExt cx="2781624" cy="666750"/>
          </a:xfrm>
        </p:grpSpPr>
        <p:sp>
          <p:nvSpPr>
            <p:cNvPr id="43" name="Rectangle 43"/>
            <p:cNvSpPr/>
            <p:nvPr/>
          </p:nvSpPr>
          <p:spPr>
            <a:xfrm>
              <a:off x="0" y="0"/>
              <a:ext cx="2667000" cy="666750"/>
            </a:xfrm>
            <a:prstGeom prst="rect">
              <a:avLst/>
            </a:prstGeom>
            <a:solidFill>
              <a:srgbClr val="FAF5FF"/>
            </a:solidFill>
            <a:ln w="19050">
              <a:solidFill>
                <a:srgbClr val="805AD5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-57312" y="270510"/>
              <a:ext cx="27816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External Tools (飞书/GitHub等)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05 / 38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213883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核心组件表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35" name="Group 35"/>
          <p:cNvGrpSpPr/>
          <p:nvPr/>
        </p:nvGrpSpPr>
        <p:grpSpPr>
          <a:xfrm>
            <a:off x="571500" y="1238250"/>
            <a:ext cx="11049000" cy="4572000"/>
            <a:chOff x="571500" y="1238250"/>
            <a:chExt cx="11049000" cy="4572000"/>
          </a:xfrm>
        </p:grpSpPr>
        <p:sp>
          <p:nvSpPr>
            <p:cNvPr id="6" name="Rectangle 6"/>
            <p:cNvSpPr/>
            <p:nvPr/>
          </p:nvSpPr>
          <p:spPr>
            <a:xfrm>
              <a:off x="571500" y="1238250"/>
              <a:ext cx="11049000" cy="45720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238250"/>
              <a:ext cx="11049000" cy="47625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2010" y="141351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组件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366260" y="141351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职责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128760" y="14135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关键配置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71500" y="1714500"/>
              <a:ext cx="11049000" cy="571500"/>
            </a:xfrm>
            <a:prstGeom prst="rect">
              <a:avLst/>
            </a:prstGeom>
            <a:solidFill>
              <a:srgbClr val="EBF8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2962" y="1926431"/>
              <a:ext cx="7272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Gateway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748915" y="193452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核心服务，管理所有组件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2368" y="1942624"/>
              <a:ext cx="19329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ource Han Sans CN"/>
                  <a:ea typeface="Microsoft YaHei"/>
                  <a:cs typeface="Source Han Sans CN"/>
                </a:rPr>
                <a:t>~/.openclaw/openclaw.json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71500" y="2286000"/>
              <a:ext cx="11049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2962" y="2497931"/>
              <a:ext cx="14001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Session Manager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748915" y="2506028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会话生命周期管理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12368" y="2514124"/>
              <a:ext cx="21465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ource Han Sans CN"/>
                  <a:ea typeface="Microsoft YaHei"/>
                  <a:cs typeface="Source Han Sans CN"/>
                </a:rPr>
                <a:t>sessions_spawn, sessions_list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71500" y="2857500"/>
              <a:ext cx="11049000" cy="571500"/>
            </a:xfrm>
            <a:prstGeom prst="rect">
              <a:avLst/>
            </a:prstGeom>
            <a:solidFill>
              <a:srgbClr val="FEF3E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2962" y="3069431"/>
              <a:ext cx="12707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Cron Scheduler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48915" y="3077528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定时任务调度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12368" y="3085624"/>
              <a:ext cx="14772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ource Han Sans CN"/>
                  <a:ea typeface="Microsoft YaHei"/>
                  <a:cs typeface="Source Han Sans CN"/>
                </a:rPr>
                <a:t>cron add/update/run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71500" y="3429000"/>
              <a:ext cx="11049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2962" y="3640931"/>
              <a:ext cx="10464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Skills Engine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48915" y="3649028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技能加载和执行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12368" y="3657124"/>
              <a:ext cx="20254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ource Han Sans CN"/>
                  <a:ea typeface="Microsoft YaHei"/>
                  <a:cs typeface="Source Han Sans CN"/>
                </a:rPr>
                <a:t>skills/&lt;skill-name&gt;/SKILL.md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71500" y="4000500"/>
              <a:ext cx="11049000" cy="571500"/>
            </a:xfrm>
            <a:prstGeom prst="rect">
              <a:avLst/>
            </a:prstGeom>
            <a:solidFill>
              <a:srgbClr val="E6FFF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2962" y="4212431"/>
              <a:ext cx="13224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Memory System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748915" y="4220528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记忆存储和检索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12368" y="4228624"/>
              <a:ext cx="27873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ource Han Sans CN"/>
                  <a:ea typeface="Microsoft YaHei"/>
                  <a:cs typeface="Source Han Sans CN"/>
                </a:rPr>
                <a:t>MEMORY.md, memory/, self-improving/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71500" y="4572000"/>
              <a:ext cx="11049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2962" y="4783931"/>
              <a:ext cx="98607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Tools Proxy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748915" y="4792028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工具调用代理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12368" y="4800124"/>
              <a:ext cx="21536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ource Han Sans CN"/>
                  <a:ea typeface="Microsoft YaHei"/>
                  <a:cs typeface="Source Han Sans CN"/>
                </a:rPr>
                <a:t>exec, message, web_search 等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06 / 38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信息架构：数据流向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11430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33" name="Group 33"/>
          <p:cNvGrpSpPr/>
          <p:nvPr/>
        </p:nvGrpSpPr>
        <p:grpSpPr>
          <a:xfrm>
            <a:off x="762000" y="2476500"/>
            <a:ext cx="8382000" cy="3048000"/>
            <a:chOff x="762000" y="2476500"/>
            <a:chExt cx="8382000" cy="3048000"/>
          </a:xfrm>
        </p:grpSpPr>
        <p:sp>
          <p:nvSpPr>
            <p:cNvPr id="6" name="Rectangle 6"/>
            <p:cNvSpPr/>
            <p:nvPr/>
          </p:nvSpPr>
          <p:spPr>
            <a:xfrm>
              <a:off x="762000" y="2476500"/>
              <a:ext cx="1524000" cy="762000"/>
            </a:xfrm>
            <a:prstGeom prst="rect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2803" y="275939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用户输入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0784" y="3027045"/>
              <a:ext cx="116643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EE3F8"/>
                  </a:solidFill>
                  <a:latin typeface="Source Han Sans CN"/>
                  <a:ea typeface="Microsoft YaHei"/>
                  <a:cs typeface="Source Han Sans CN"/>
                </a:rPr>
                <a:t>微信/飞书/Discord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2381250" y="28575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rgbClr val="1A365D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3048000" y="2476500"/>
              <a:ext cx="1524000" cy="7620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373628" y="2759392"/>
              <a:ext cx="8727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Gateway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535680" y="302704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0AEC0"/>
                  </a:solidFill>
                  <a:latin typeface="Source Han Sans CN"/>
                  <a:ea typeface="Microsoft YaHei"/>
                  <a:cs typeface="Source Han Sans CN"/>
                </a:rPr>
                <a:t>核心服务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4667250" y="28575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rgbClr val="1A365D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0" y="2476500"/>
              <a:ext cx="1524000" cy="762000"/>
            </a:xfrm>
            <a:prstGeom prst="rect">
              <a:avLst/>
            </a:prstGeom>
            <a:solidFill>
              <a:srgbClr val="38B2A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794194" y="2759392"/>
              <a:ext cx="6036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Agent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755958" y="3027045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2F5EA"/>
                  </a:solidFill>
                  <a:latin typeface="Source Han Sans CN"/>
                  <a:ea typeface="Microsoft YaHei"/>
                  <a:cs typeface="Source Han Sans CN"/>
                </a:rPr>
                <a:t>推理与决策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6953250" y="28575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rgbClr val="1A365D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20000" y="2476500"/>
              <a:ext cx="1524000" cy="762000"/>
            </a:xfrm>
            <a:prstGeom prst="rect">
              <a:avLst/>
            </a:prstGeom>
            <a:solidFill>
              <a:srgbClr val="ED893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06073" y="2759392"/>
              <a:ext cx="5518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Tools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44790" y="3027045"/>
              <a:ext cx="10744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EEBC8"/>
                  </a:solidFill>
                  <a:latin typeface="Source Han Sans CN"/>
                  <a:ea typeface="Microsoft YaHei"/>
                  <a:cs typeface="Source Han Sans CN"/>
                </a:rPr>
                <a:t>exec/feishu_doc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8382000" y="3333750"/>
              <a:ext cx="9525" cy="857250"/>
            </a:xfrm>
            <a:custGeom>
              <a:avLst/>
              <a:gdLst/>
              <a:ahLst/>
              <a:cxnLst/>
              <a:rect l="l" t="t" r="r" b="b"/>
              <a:pathLst>
                <a:path w="9525" h="857250">
                  <a:moveTo>
                    <a:pt x="0" y="0"/>
                  </a:moveTo>
                  <a:lnTo>
                    <a:pt x="0" y="857250"/>
                  </a:lnTo>
                </a:path>
              </a:pathLst>
            </a:custGeom>
            <a:noFill/>
            <a:ln w="28575">
              <a:solidFill>
                <a:srgbClr val="1A365D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7620000" y="4762500"/>
              <a:ext cx="1524000" cy="762000"/>
            </a:xfrm>
            <a:prstGeom prst="rect">
              <a:avLst/>
            </a:prstGeom>
            <a:solidFill>
              <a:srgbClr val="805AD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950803" y="504539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外部系统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34932" y="5313045"/>
              <a:ext cx="10941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9D8FD"/>
                  </a:solidFill>
                  <a:latin typeface="Source Han Sans CN"/>
                  <a:ea typeface="Microsoft YaHei"/>
                  <a:cs typeface="Source Han Sans CN"/>
                </a:rPr>
                <a:t>GitHub/飞书/搜索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6953250" y="51435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66675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1A365D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6096000" y="5143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76200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1A365D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4572000" y="5143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76200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1A365D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3810000" y="3619500"/>
              <a:ext cx="9525" cy="1524000"/>
            </a:xfrm>
            <a:custGeom>
              <a:avLst/>
              <a:gdLst/>
              <a:ahLst/>
              <a:cxnLst/>
              <a:rect l="l" t="t" r="r" b="b"/>
              <a:pathLst>
                <a:path w="9525" h="1524000">
                  <a:moveTo>
                    <a:pt x="0" y="15240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1A365D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2381250" y="36195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57150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1A365D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762000" y="4762500"/>
              <a:ext cx="1524000" cy="762000"/>
            </a:xfrm>
            <a:prstGeom prst="rect">
              <a:avLst/>
            </a:prstGeom>
            <a:solidFill>
              <a:srgbClr val="E53E3E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92803" y="504539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用户输出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49680" y="531304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ED7D7"/>
                  </a:solidFill>
                  <a:latin typeface="Source Han Sans CN"/>
                  <a:ea typeface="Microsoft YaHei"/>
                  <a:cs typeface="Source Han Sans CN"/>
                </a:rPr>
                <a:t>结果返回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07 / 38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420909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信息架构：数据持久化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11430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36" name="Group 36"/>
          <p:cNvGrpSpPr/>
          <p:nvPr/>
        </p:nvGrpSpPr>
        <p:grpSpPr>
          <a:xfrm>
            <a:off x="952500" y="1428750"/>
            <a:ext cx="10287000" cy="4286250"/>
            <a:chOff x="952500" y="1428750"/>
            <a:chExt cx="10287000" cy="4286250"/>
          </a:xfrm>
        </p:grpSpPr>
        <p:sp>
          <p:nvSpPr>
            <p:cNvPr id="6" name="Rectangle 6"/>
            <p:cNvSpPr/>
            <p:nvPr/>
          </p:nvSpPr>
          <p:spPr>
            <a:xfrm>
              <a:off x="952500" y="1428750"/>
              <a:ext cx="10287000" cy="428625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952500" y="1428750"/>
              <a:ext cx="10287000" cy="47625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23010" y="16040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数据类型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747260" y="16040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存储位置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557260" y="160401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用途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952500" y="2095500"/>
              <a:ext cx="10287000" cy="619125"/>
              <a:chOff x="952500" y="2095500"/>
              <a:chExt cx="10287000" cy="619125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952500" y="2095500"/>
                <a:ext cx="10287000" cy="619125"/>
              </a:xfrm>
              <a:prstGeom prst="rect">
                <a:avLst/>
              </a:prstGeom>
              <a:solidFill>
                <a:srgbClr val="EBF8FF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223010" y="2327910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会话历史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748212" y="2336006"/>
                <a:ext cx="175379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Gateway 内存 + 数据库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558212" y="2336006"/>
                <a:ext cx="8501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对话上下文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952500" y="2762250"/>
              <a:ext cx="10287000" cy="619125"/>
              <a:chOff x="952500" y="2762250"/>
              <a:chExt cx="10287000" cy="619125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952500" y="2762250"/>
                <a:ext cx="10287000" cy="61912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223010" y="2994660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长期记忆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748212" y="3002756"/>
                <a:ext cx="97333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MEMORY.md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558212" y="3002756"/>
                <a:ext cx="150733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用户偏好、重要事件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952500" y="3429000"/>
              <a:ext cx="10287000" cy="619125"/>
              <a:chOff x="952500" y="3429000"/>
              <a:chExt cx="10287000" cy="619125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952500" y="3429000"/>
                <a:ext cx="10287000" cy="619125"/>
              </a:xfrm>
              <a:prstGeom prst="rect">
                <a:avLst/>
              </a:prstGeom>
              <a:solidFill>
                <a:srgbClr val="FEF3E2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223010" y="3661410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每日日志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748212" y="3669506"/>
                <a:ext cx="200025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memory/YYYY-MM-DD.md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558212" y="3669506"/>
                <a:ext cx="10144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原始执行记录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952500" y="4095750"/>
              <a:ext cx="10287000" cy="619125"/>
              <a:chOff x="952500" y="4095750"/>
              <a:chExt cx="10287000" cy="619125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952500" y="4095750"/>
                <a:ext cx="10287000" cy="61912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223010" y="4328160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自我改进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748212" y="4336256"/>
                <a:ext cx="147447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~/self-improving/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558212" y="4336256"/>
                <a:ext cx="10144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执行优化规则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952500" y="4762500"/>
              <a:ext cx="10287000" cy="619125"/>
              <a:chOff x="952500" y="4762500"/>
              <a:chExt cx="10287000" cy="619125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952500" y="4762500"/>
                <a:ext cx="10287000" cy="619125"/>
              </a:xfrm>
              <a:prstGeom prst="rect">
                <a:avLst/>
              </a:prstGeom>
              <a:solidFill>
                <a:srgbClr val="E6FFFA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223010" y="4994910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任务状态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748212" y="5003006"/>
                <a:ext cx="1959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shared/task_status.md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558212" y="5003006"/>
                <a:ext cx="167985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Multi-Agent 任务跟踪</a:t>
                </a:r>
              </a:p>
            </p:txBody>
          </p:sp>
        </p:grpSp>
      </p:grpSp>
      <p:sp>
        <p:nvSpPr>
          <p:cNvPr id="37" name="TextBox 37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08 / 38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记忆架构：三层体系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15" name="Group 15"/>
          <p:cNvGrpSpPr/>
          <p:nvPr/>
        </p:nvGrpSpPr>
        <p:grpSpPr>
          <a:xfrm>
            <a:off x="2286000" y="1714500"/>
            <a:ext cx="7620000" cy="4191000"/>
            <a:chOff x="2286000" y="1714500"/>
            <a:chExt cx="7620000" cy="4191000"/>
          </a:xfrm>
        </p:grpSpPr>
        <p:sp>
          <p:nvSpPr>
            <p:cNvPr id="6" name="Polygon 6"/>
            <p:cNvSpPr/>
            <p:nvPr/>
          </p:nvSpPr>
          <p:spPr>
            <a:xfrm>
              <a:off x="3810000" y="1714500"/>
              <a:ext cx="4572000" cy="1143000"/>
            </a:xfrm>
            <a:custGeom>
              <a:avLst/>
              <a:gdLst/>
              <a:ahLst/>
              <a:cxnLst/>
              <a:rect l="l" t="t" r="r" b="b"/>
              <a:pathLst>
                <a:path w="4572000" h="1143000">
                  <a:moveTo>
                    <a:pt x="2286000" y="0"/>
                  </a:moveTo>
                  <a:lnTo>
                    <a:pt x="4572000" y="1143000"/>
                  </a:lnTo>
                  <a:lnTo>
                    <a:pt x="0" y="1143000"/>
                  </a:lnTo>
                  <a:close/>
                </a:path>
              </a:pathLst>
            </a:custGeom>
            <a:gradFill>
              <a:gsLst>
                <a:gs pos="0">
                  <a:srgbClr val="ED8936"/>
                </a:gs>
                <a:gs pos="100000">
                  <a:srgbClr val="F6AD55"/>
                </a:gs>
              </a:gsLst>
              <a:lin ang="16200000" scaled="1"/>
            </a:gra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386864" y="221932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自我改进记忆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407914" y="2506028"/>
              <a:ext cx="13761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AF0"/>
                  </a:solidFill>
                  <a:latin typeface="Source Han Sans CN"/>
                  <a:ea typeface="Microsoft YaHei"/>
                  <a:cs typeface="Source Han Sans CN"/>
                </a:rPr>
                <a:t>~/self-improving/</a:t>
              </a:r>
            </a:p>
          </p:txBody>
        </p:sp>
        <p:sp>
          <p:nvSpPr>
            <p:cNvPr id="9" name="Polygon 9"/>
            <p:cNvSpPr/>
            <p:nvPr/>
          </p:nvSpPr>
          <p:spPr>
            <a:xfrm>
              <a:off x="3238500" y="2952750"/>
              <a:ext cx="5715000" cy="1428750"/>
            </a:xfrm>
            <a:custGeom>
              <a:avLst/>
              <a:gdLst/>
              <a:ahLst/>
              <a:cxnLst/>
              <a:rect l="l" t="t" r="r" b="b"/>
              <a:pathLst>
                <a:path w="5715000" h="1428750">
                  <a:moveTo>
                    <a:pt x="571500" y="0"/>
                  </a:moveTo>
                  <a:lnTo>
                    <a:pt x="5143500" y="0"/>
                  </a:lnTo>
                  <a:lnTo>
                    <a:pt x="5715000" y="1428750"/>
                  </a:lnTo>
                  <a:lnTo>
                    <a:pt x="0" y="1428750"/>
                  </a:lnTo>
                  <a:close/>
                </a:path>
              </a:pathLst>
            </a:custGeom>
            <a:gradFill>
              <a:gsLst>
                <a:gs pos="0">
                  <a:srgbClr val="2C5282"/>
                </a:gs>
                <a:gs pos="100000">
                  <a:srgbClr val="38B2AC"/>
                </a:gs>
              </a:gsLst>
              <a:lin ang="16200000" scaled="1"/>
            </a:gra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616892" y="34575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长期记忆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41777" y="3791902"/>
              <a:ext cx="9084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6FFFA"/>
                  </a:solidFill>
                  <a:latin typeface="Source Han Sans CN"/>
                  <a:ea typeface="Microsoft YaHei"/>
                  <a:cs typeface="Source Han Sans CN"/>
                </a:rPr>
                <a:t>MEMORY.md</a:t>
              </a:r>
            </a:p>
          </p:txBody>
        </p:sp>
        <p:sp>
          <p:nvSpPr>
            <p:cNvPr id="12" name="Polygon 12"/>
            <p:cNvSpPr/>
            <p:nvPr/>
          </p:nvSpPr>
          <p:spPr>
            <a:xfrm>
              <a:off x="2286000" y="4476750"/>
              <a:ext cx="7620000" cy="1428750"/>
            </a:xfrm>
            <a:custGeom>
              <a:avLst/>
              <a:gdLst/>
              <a:ahLst/>
              <a:cxnLst/>
              <a:rect l="l" t="t" r="r" b="b"/>
              <a:pathLst>
                <a:path w="7620000" h="1428750">
                  <a:moveTo>
                    <a:pt x="952500" y="0"/>
                  </a:moveTo>
                  <a:lnTo>
                    <a:pt x="6667500" y="0"/>
                  </a:lnTo>
                  <a:lnTo>
                    <a:pt x="7620000" y="1428750"/>
                  </a:lnTo>
                  <a:lnTo>
                    <a:pt x="0" y="1428750"/>
                  </a:lnTo>
                  <a:close/>
                </a:path>
              </a:pathLst>
            </a:custGeom>
            <a:gradFill>
              <a:gsLst>
                <a:gs pos="0">
                  <a:srgbClr val="1A365D"/>
                </a:gs>
                <a:gs pos="100000">
                  <a:srgbClr val="3182CE"/>
                </a:gs>
              </a:gsLst>
              <a:lin ang="16200000" scaled="1"/>
            </a:gra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616892" y="49815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短期记忆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488424" y="5315902"/>
              <a:ext cx="12151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0AEC0"/>
                  </a:solidFill>
                  <a:latin typeface="Source Han Sans CN"/>
                  <a:ea typeface="Microsoft YaHei"/>
                  <a:cs typeface="Source Han Sans CN"/>
                </a:rPr>
                <a:t>Session Context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667500" y="1714500"/>
            <a:ext cx="4572000" cy="4719638"/>
            <a:chOff x="6667500" y="1714500"/>
            <a:chExt cx="4572000" cy="4719638"/>
          </a:xfrm>
        </p:grpSpPr>
        <p:sp>
          <p:nvSpPr>
            <p:cNvPr id="16" name="Rectangle 16"/>
            <p:cNvSpPr/>
            <p:nvPr/>
          </p:nvSpPr>
          <p:spPr>
            <a:xfrm>
              <a:off x="6667500" y="1714500"/>
              <a:ext cx="4572000" cy="40005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934200" y="198120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各层详情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029450" y="2457450"/>
              <a:ext cx="228600" cy="228600"/>
            </a:xfrm>
            <a:prstGeom prst="ellipse">
              <a:avLst/>
            </a:prstGeom>
            <a:solidFill>
              <a:srgbClr val="ED893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414260" y="25088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自我改进记忆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939915" y="2791778"/>
              <a:ext cx="21429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执行优化规则 (memory.md)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39915" y="3029902"/>
              <a:ext cx="19589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领域专用知识 (domains/)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39915" y="3268028"/>
              <a:ext cx="20125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项目特定配置 (projects/)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39915" y="3506152"/>
              <a:ext cx="23116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错误和修正 (corrections.md)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029450" y="4076700"/>
              <a:ext cx="228600" cy="228600"/>
            </a:xfrm>
            <a:prstGeom prst="ellipse">
              <a:avLst/>
            </a:prstGeom>
            <a:solidFill>
              <a:srgbClr val="38B2A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414260" y="412813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长期记忆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939915" y="4411028"/>
              <a:ext cx="12304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用户背景和偏好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939915" y="4649152"/>
              <a:ext cx="12304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重要决策和事件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39915" y="4887278"/>
              <a:ext cx="9237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项目上下文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029450" y="5410200"/>
              <a:ext cx="228600" cy="228600"/>
            </a:xfrm>
            <a:prstGeom prst="ellipse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14260" y="546163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短期记忆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39915" y="5744528"/>
              <a:ext cx="13838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当前会话消息历史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939915" y="5982652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工具调用结果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39915" y="6220778"/>
              <a:ext cx="7704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临时变量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09 / 38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记忆使用规范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25" name="Group 25"/>
          <p:cNvGrpSpPr/>
          <p:nvPr/>
        </p:nvGrpSpPr>
        <p:grpSpPr>
          <a:xfrm>
            <a:off x="571500" y="1238250"/>
            <a:ext cx="5524500" cy="4762500"/>
            <a:chOff x="571500" y="1238250"/>
            <a:chExt cx="5524500" cy="4762500"/>
          </a:xfrm>
        </p:grpSpPr>
        <p:sp>
          <p:nvSpPr>
            <p:cNvPr id="6" name="Rectangle 6"/>
            <p:cNvSpPr/>
            <p:nvPr/>
          </p:nvSpPr>
          <p:spPr>
            <a:xfrm>
              <a:off x="571500" y="1238250"/>
              <a:ext cx="5524500" cy="4762500"/>
            </a:xfrm>
            <a:prstGeom prst="rect">
              <a:avLst/>
            </a:prstGeom>
            <a:solidFill>
              <a:srgbClr val="EBF8FF"/>
            </a:solidFill>
            <a:ln w="19050">
              <a:solidFill>
                <a:srgbClr val="3182C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6295" y="1488758"/>
              <a:ext cx="181313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会话启动时读取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42010" y="1870710"/>
              <a:ext cx="2834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每次主会话启动时（必须按顺序）：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923925" y="2352675"/>
              <a:ext cx="2343031" cy="230981"/>
              <a:chOff x="923925" y="2352675"/>
              <a:chExt cx="2343031" cy="230981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923925" y="2352675"/>
                <a:ext cx="152400" cy="152400"/>
              </a:xfrm>
              <a:prstGeom prst="ellipse">
                <a:avLst/>
              </a:prstGeom>
              <a:solidFill>
                <a:srgbClr val="3182CE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176338" y="2355056"/>
                <a:ext cx="209061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读取 SOUL.md（人格定义）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923925" y="2733675"/>
              <a:ext cx="2310170" cy="230981"/>
              <a:chOff x="923925" y="2733675"/>
              <a:chExt cx="2310170" cy="230981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923925" y="2733675"/>
                <a:ext cx="152400" cy="152400"/>
              </a:xfrm>
              <a:prstGeom prst="ellipse">
                <a:avLst/>
              </a:prstGeom>
              <a:solidFill>
                <a:srgbClr val="38B2AC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176338" y="2736056"/>
                <a:ext cx="205775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读取 USER.md（用户信息）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923925" y="3114675"/>
              <a:ext cx="2589491" cy="230981"/>
              <a:chOff x="923925" y="3114675"/>
              <a:chExt cx="2589491" cy="230981"/>
            </a:xfrm>
          </p:grpSpPr>
          <p:sp>
            <p:nvSpPr>
              <p:cNvPr id="15" name="Ellipse 15"/>
              <p:cNvSpPr/>
              <p:nvPr/>
            </p:nvSpPr>
            <p:spPr>
              <a:xfrm>
                <a:off x="923925" y="3114675"/>
                <a:ext cx="152400" cy="152400"/>
              </a:xfrm>
              <a:prstGeom prst="ellipse">
                <a:avLst/>
              </a:prstGeom>
              <a:solidFill>
                <a:srgbClr val="ED8936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176338" y="3117056"/>
                <a:ext cx="233707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读取 MEMORY.md（长期记忆）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923925" y="3495675"/>
              <a:ext cx="2203371" cy="230981"/>
              <a:chOff x="923925" y="3495675"/>
              <a:chExt cx="2203371" cy="230981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923925" y="3495675"/>
                <a:ext cx="152400" cy="152400"/>
              </a:xfrm>
              <a:prstGeom prst="ellipse">
                <a:avLst/>
              </a:prstGeom>
              <a:solidFill>
                <a:srgbClr val="805AD5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176338" y="3498056"/>
                <a:ext cx="195095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扫描最近 2 天的 memory/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923925" y="3876675"/>
              <a:ext cx="2811304" cy="230981"/>
              <a:chOff x="923925" y="3876675"/>
              <a:chExt cx="2811304" cy="230981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923925" y="3876675"/>
                <a:ext cx="152400" cy="152400"/>
              </a:xfrm>
              <a:prstGeom prst="ellipse">
                <a:avLst/>
              </a:prstGeom>
              <a:solidFill>
                <a:srgbClr val="E53E3E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176338" y="3879056"/>
                <a:ext cx="255889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读取 ~/self-improving/ 相关文件</a:t>
                </a:r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842010" y="4347210"/>
              <a:ext cx="25542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⚠️ 注意：仅主会话需要完整读取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286500" y="1238250"/>
            <a:ext cx="5524500" cy="4762500"/>
            <a:chOff x="6286500" y="1238250"/>
            <a:chExt cx="5524500" cy="4762500"/>
          </a:xfrm>
        </p:grpSpPr>
        <p:sp>
          <p:nvSpPr>
            <p:cNvPr id="26" name="Rectangle 26"/>
            <p:cNvSpPr/>
            <p:nvPr/>
          </p:nvSpPr>
          <p:spPr>
            <a:xfrm>
              <a:off x="6286500" y="1238250"/>
              <a:ext cx="5524500" cy="4762500"/>
            </a:xfrm>
            <a:prstGeom prst="rect">
              <a:avLst/>
            </a:prstGeom>
            <a:solidFill>
              <a:srgbClr val="FEF3E2"/>
            </a:solidFill>
            <a:ln w="19050">
              <a:solidFill>
                <a:srgbClr val="ED893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51295" y="1488758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写入规则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57010" y="1870710"/>
              <a:ext cx="23088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根据内容类型选择写入位置：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6572250" y="2286000"/>
              <a:ext cx="4953000" cy="666750"/>
              <a:chOff x="6572250" y="2286000"/>
              <a:chExt cx="4953000" cy="6667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6572250" y="2286000"/>
                <a:ext cx="4953000" cy="6667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6715125" y="2524125"/>
                <a:ext cx="190500" cy="190500"/>
              </a:xfrm>
              <a:prstGeom prst="ellipse">
                <a:avLst/>
              </a:prstGeom>
              <a:solidFill>
                <a:srgbClr val="3182CE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034212" y="2431256"/>
                <a:ext cx="89118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事实性事件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036118" y="2676049"/>
                <a:ext cx="185458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→ memory/YYYY-MM-DD.md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6572250" y="3048000"/>
              <a:ext cx="4953000" cy="666750"/>
              <a:chOff x="6572250" y="3048000"/>
              <a:chExt cx="4953000" cy="6667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6572250" y="3048000"/>
                <a:ext cx="4953000" cy="6667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6715125" y="3286125"/>
                <a:ext cx="190500" cy="190500"/>
              </a:xfrm>
              <a:prstGeom prst="ellipse">
                <a:avLst/>
              </a:prstGeom>
              <a:solidFill>
                <a:srgbClr val="38B2AC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034212" y="3193256"/>
                <a:ext cx="115859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重要决策/洞察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036118" y="3438049"/>
                <a:ext cx="96459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→ MEMORY.md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6572250" y="3810000"/>
              <a:ext cx="4953000" cy="666750"/>
              <a:chOff x="6572250" y="3810000"/>
              <a:chExt cx="4953000" cy="66675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6572250" y="3810000"/>
                <a:ext cx="4953000" cy="6667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40" name="Ellipse 40"/>
              <p:cNvSpPr/>
              <p:nvPr/>
            </p:nvSpPr>
            <p:spPr>
              <a:xfrm>
                <a:off x="6715125" y="4048125"/>
                <a:ext cx="190500" cy="190500"/>
              </a:xfrm>
              <a:prstGeom prst="ellipse">
                <a:avLst/>
              </a:prstGeom>
              <a:solidFill>
                <a:srgbClr val="ED8936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034212" y="3955256"/>
                <a:ext cx="106370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执行优化规则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036118" y="4200049"/>
                <a:ext cx="218922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→ ~/self-improving/memory.md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6572250" y="4572000"/>
              <a:ext cx="4953000" cy="666750"/>
              <a:chOff x="6572250" y="4572000"/>
              <a:chExt cx="4953000" cy="66675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6572250" y="4572000"/>
                <a:ext cx="4953000" cy="6667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6715125" y="4810125"/>
                <a:ext cx="190500" cy="190500"/>
              </a:xfrm>
              <a:prstGeom prst="ellipse">
                <a:avLst/>
              </a:prstGeom>
              <a:solidFill>
                <a:srgbClr val="805AD5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7034212" y="4717256"/>
                <a:ext cx="106370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领域特定知识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036118" y="4962049"/>
                <a:ext cx="290122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→ ~/self-improving/domains/&lt;domain&gt;.md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6572250" y="5334000"/>
              <a:ext cx="4953000" cy="666750"/>
              <a:chOff x="6572250" y="5334000"/>
              <a:chExt cx="4953000" cy="66675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6572250" y="5334000"/>
                <a:ext cx="4953000" cy="6667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50" name="Ellipse 50"/>
              <p:cNvSpPr/>
              <p:nvPr/>
            </p:nvSpPr>
            <p:spPr>
              <a:xfrm>
                <a:off x="6715125" y="5572125"/>
                <a:ext cx="190500" cy="190500"/>
              </a:xfrm>
              <a:prstGeom prst="ellipse">
                <a:avLst/>
              </a:prstGeom>
              <a:solidFill>
                <a:srgbClr val="E53E3E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7034212" y="5479256"/>
                <a:ext cx="71866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用户纠正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036118" y="5724049"/>
                <a:ext cx="334265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→ ~/self-improving/corrections.md（立即写入）</a:t>
                </a:r>
              </a:p>
            </p:txBody>
          </p:sp>
        </p:grpSp>
      </p:grpSp>
      <p:sp>
        <p:nvSpPr>
          <p:cNvPr id="55" name="TextBox 55"/>
          <p:cNvSpPr txBox="1"/>
          <p:nvPr/>
        </p:nvSpPr>
        <p:spPr>
          <a:xfrm>
            <a:off x="11322272" y="65541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10 / 38</a:t>
            </a:r>
          </a:p>
        </p:txBody>
      </p: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技能架构：技能定义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2450" y="1171575"/>
            <a:ext cx="375306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技能是 OpenClaw 的可扩展功能模块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52500" y="1714500"/>
            <a:ext cx="1714500" cy="1143000"/>
            <a:chOff x="952500" y="1714500"/>
            <a:chExt cx="1714500" cy="1143000"/>
          </a:xfrm>
        </p:grpSpPr>
        <p:sp>
          <p:nvSpPr>
            <p:cNvPr id="7" name="Rectangle 7"/>
            <p:cNvSpPr/>
            <p:nvPr/>
          </p:nvSpPr>
          <p:spPr>
            <a:xfrm>
              <a:off x="952500" y="1714500"/>
              <a:ext cx="1714500" cy="1143000"/>
            </a:xfrm>
            <a:prstGeom prst="rect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42324" y="2092642"/>
              <a:ext cx="9348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SKILL.md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06329" y="2410778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EE3F8"/>
                  </a:solidFill>
                  <a:latin typeface="Source Han Sans CN"/>
                  <a:ea typeface="Microsoft YaHei"/>
                  <a:cs typeface="Source Han Sans CN"/>
                </a:rPr>
                <a:t>技能描述、触发规则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89710" y="260127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EE3F8"/>
                  </a:solidFill>
                  <a:latin typeface="Source Han Sans CN"/>
                  <a:ea typeface="Microsoft YaHei"/>
                  <a:cs typeface="Source Han Sans CN"/>
                </a:rPr>
                <a:t>执行流程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857500" y="1714500"/>
            <a:ext cx="1714500" cy="1143000"/>
            <a:chOff x="2857500" y="1714500"/>
            <a:chExt cx="1714500" cy="1143000"/>
          </a:xfrm>
        </p:grpSpPr>
        <p:sp>
          <p:nvSpPr>
            <p:cNvPr id="12" name="Rectangle 12"/>
            <p:cNvSpPr/>
            <p:nvPr/>
          </p:nvSpPr>
          <p:spPr>
            <a:xfrm>
              <a:off x="2857500" y="1714500"/>
              <a:ext cx="1714500" cy="1143000"/>
            </a:xfrm>
            <a:prstGeom prst="rect">
              <a:avLst/>
            </a:prstGeom>
            <a:solidFill>
              <a:srgbClr val="38B2A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268026" y="2092642"/>
              <a:ext cx="8934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scripts/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394710" y="241077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2F5EA"/>
                  </a:solidFill>
                  <a:latin typeface="Source Han Sans CN"/>
                  <a:ea typeface="Microsoft YaHei"/>
                  <a:cs typeface="Source Han Sans CN"/>
                </a:rPr>
                <a:t>执行脚本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15483" y="2601278"/>
              <a:ext cx="15985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2F5EA"/>
                  </a:solidFill>
                  <a:latin typeface="Source Han Sans CN"/>
                  <a:ea typeface="Microsoft YaHei"/>
                  <a:cs typeface="Source Han Sans CN"/>
                </a:rPr>
                <a:t>Shell/Python/Node.js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762500" y="1714500"/>
            <a:ext cx="1714500" cy="1143000"/>
            <a:chOff x="4762500" y="1714500"/>
            <a:chExt cx="1714500" cy="1143000"/>
          </a:xfrm>
        </p:grpSpPr>
        <p:sp>
          <p:nvSpPr>
            <p:cNvPr id="17" name="Rectangle 17"/>
            <p:cNvSpPr/>
            <p:nvPr/>
          </p:nvSpPr>
          <p:spPr>
            <a:xfrm>
              <a:off x="4762500" y="1714500"/>
              <a:ext cx="1714500" cy="1143000"/>
            </a:xfrm>
            <a:prstGeom prst="rect">
              <a:avLst/>
            </a:prstGeom>
            <a:solidFill>
              <a:srgbClr val="ED893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976352" y="2092642"/>
              <a:ext cx="12867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references/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99710" y="241077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EEBC8"/>
                  </a:solidFill>
                  <a:latin typeface="Source Han Sans CN"/>
                  <a:ea typeface="Microsoft YaHei"/>
                  <a:cs typeface="Source Han Sans CN"/>
                </a:rPr>
                <a:t>参考文档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76386" y="2601278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EEBC8"/>
                  </a:solidFill>
                  <a:latin typeface="Source Han Sans CN"/>
                  <a:ea typeface="Microsoft YaHei"/>
                  <a:cs typeface="Source Han Sans CN"/>
                </a:rPr>
                <a:t>和模板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667500" y="1714500"/>
            <a:ext cx="1714500" cy="1143000"/>
            <a:chOff x="6667500" y="1714500"/>
            <a:chExt cx="1714500" cy="1143000"/>
          </a:xfrm>
        </p:grpSpPr>
        <p:sp>
          <p:nvSpPr>
            <p:cNvPr id="22" name="Rectangle 22"/>
            <p:cNvSpPr/>
            <p:nvPr/>
          </p:nvSpPr>
          <p:spPr>
            <a:xfrm>
              <a:off x="6667500" y="1714500"/>
              <a:ext cx="1714500" cy="1143000"/>
            </a:xfrm>
            <a:prstGeom prst="rect">
              <a:avLst/>
            </a:prstGeom>
            <a:solidFill>
              <a:srgbClr val="805AD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43459" y="2092642"/>
              <a:ext cx="116258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templates/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81386" y="2410778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9D8FD"/>
                  </a:solidFill>
                  <a:latin typeface="Source Han Sans CN"/>
                  <a:ea typeface="Microsoft YaHei"/>
                  <a:cs typeface="Source Han Sans CN"/>
                </a:rPr>
                <a:t>模板库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67014" y="2601278"/>
              <a:ext cx="11154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9D8FD"/>
                  </a:solidFill>
                  <a:latin typeface="Source Han Sans CN"/>
                  <a:ea typeface="Microsoft YaHei"/>
                  <a:cs typeface="Source Han Sans CN"/>
                </a:rPr>
                <a:t>布局/图表/图标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572500" y="1714500"/>
            <a:ext cx="1714500" cy="1143000"/>
            <a:chOff x="8572500" y="1714500"/>
            <a:chExt cx="1714500" cy="1143000"/>
          </a:xfrm>
        </p:grpSpPr>
        <p:sp>
          <p:nvSpPr>
            <p:cNvPr id="27" name="Rectangle 27"/>
            <p:cNvSpPr/>
            <p:nvPr/>
          </p:nvSpPr>
          <p:spPr>
            <a:xfrm>
              <a:off x="8572500" y="1714500"/>
              <a:ext cx="1714500" cy="1143000"/>
            </a:xfrm>
            <a:prstGeom prst="rect">
              <a:avLst/>
            </a:prstGeom>
            <a:solidFill>
              <a:srgbClr val="E53E3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14080" y="2092642"/>
              <a:ext cx="831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output/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956358" y="2410778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ED7D7"/>
                  </a:solidFill>
                  <a:latin typeface="Source Han Sans CN"/>
                  <a:ea typeface="Microsoft YaHei"/>
                  <a:cs typeface="Source Han Sans CN"/>
                </a:rPr>
                <a:t>技能输出目录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109710" y="260127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ED7D7"/>
                  </a:solidFill>
                  <a:latin typeface="Source Han Sans CN"/>
                  <a:ea typeface="Microsoft YaHei"/>
                  <a:cs typeface="Source Han Sans CN"/>
                </a:rPr>
                <a:t>（可选）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52500" y="3238500"/>
            <a:ext cx="10287000" cy="2857500"/>
            <a:chOff x="952500" y="3238500"/>
            <a:chExt cx="10287000" cy="2857500"/>
          </a:xfrm>
        </p:grpSpPr>
        <p:sp>
          <p:nvSpPr>
            <p:cNvPr id="32" name="Rectangle 32"/>
            <p:cNvSpPr/>
            <p:nvPr/>
          </p:nvSpPr>
          <p:spPr>
            <a:xfrm>
              <a:off x="952500" y="3238500"/>
              <a:ext cx="10287000" cy="28575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217295" y="3489008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技能触发机制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223010" y="3870960"/>
              <a:ext cx="207225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SKILL.md 头部定义示例：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238250" y="4238625"/>
              <a:ext cx="4762500" cy="11430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367790" y="4411028"/>
              <a:ext cx="279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---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67790" y="4649152"/>
              <a:ext cx="13991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name: ppt-master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67790" y="4887278"/>
              <a:ext cx="10924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description: &gt;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558290" y="5125402"/>
              <a:ext cx="29480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Use when user asks to "create PPT"...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367790" y="5363528"/>
              <a:ext cx="279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---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6271260" y="4394835"/>
              <a:ext cx="2355532" cy="1324927"/>
              <a:chOff x="6271260" y="4394835"/>
              <a:chExt cx="2355532" cy="1324927"/>
            </a:xfrm>
          </p:grpSpPr>
          <p:sp>
            <p:nvSpPr>
              <p:cNvPr id="41" name="TextBox 41"/>
              <p:cNvSpPr txBox="1"/>
              <p:nvPr/>
            </p:nvSpPr>
            <p:spPr>
              <a:xfrm>
                <a:off x="6271260" y="4394835"/>
                <a:ext cx="15026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触发关键词匹配：</a:t>
                </a:r>
              </a:p>
            </p:txBody>
          </p:sp>
          <p:sp>
            <p:nvSpPr>
              <p:cNvPr id="42" name="Ellipse 42"/>
              <p:cNvSpPr/>
              <p:nvPr/>
            </p:nvSpPr>
            <p:spPr>
              <a:xfrm>
                <a:off x="6353175" y="4829175"/>
                <a:ext cx="152400" cy="152400"/>
              </a:xfrm>
              <a:prstGeom prst="ellipse">
                <a:avLst/>
              </a:prstGeom>
              <a:solidFill>
                <a:srgbClr val="3182CE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606540" y="4839652"/>
                <a:ext cx="186690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精确匹配：技能名称、别名</a:t>
                </a:r>
              </a:p>
            </p:txBody>
          </p:sp>
          <p:sp>
            <p:nvSpPr>
              <p:cNvPr id="44" name="Ellipse 44"/>
              <p:cNvSpPr/>
              <p:nvPr/>
            </p:nvSpPr>
            <p:spPr>
              <a:xfrm>
                <a:off x="6353175" y="5162550"/>
                <a:ext cx="152400" cy="152400"/>
              </a:xfrm>
              <a:prstGeom prst="ellipse">
                <a:avLst/>
              </a:prstGeom>
              <a:solidFill>
                <a:srgbClr val="38B2AC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6606540" y="5173028"/>
                <a:ext cx="202025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语义匹配：描述中的动词短语</a:t>
                </a:r>
              </a:p>
            </p:txBody>
          </p:sp>
          <p:sp>
            <p:nvSpPr>
              <p:cNvPr id="46" name="Ellipse 46"/>
              <p:cNvSpPr/>
              <p:nvPr/>
            </p:nvSpPr>
            <p:spPr>
              <a:xfrm>
                <a:off x="6353175" y="5495925"/>
                <a:ext cx="152400" cy="152400"/>
              </a:xfrm>
              <a:prstGeom prst="ellipse">
                <a:avLst/>
              </a:prstGeom>
              <a:solidFill>
                <a:srgbClr val="ED8936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6606540" y="5506402"/>
                <a:ext cx="186690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上下文匹配：当前任务类型</a:t>
                </a:r>
              </a:p>
            </p:txBody>
          </p:sp>
        </p:grpSp>
      </p:grpSp>
      <p:sp>
        <p:nvSpPr>
          <p:cNvPr id="50" name="TextBox 50"/>
          <p:cNvSpPr txBox="1"/>
          <p:nvPr/>
        </p:nvSpPr>
        <p:spPr>
          <a:xfrm>
            <a:off x="11360610" y="6554152"/>
            <a:ext cx="463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11 / 38</a:t>
            </a:r>
          </a:p>
        </p:txBody>
      </p:sp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5327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技能结构示例：PPT-Master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762000" y="1428750"/>
            <a:ext cx="10668000" cy="5488781"/>
            <a:chOff x="762000" y="1428750"/>
            <a:chExt cx="10668000" cy="5488781"/>
          </a:xfrm>
        </p:grpSpPr>
        <p:sp>
          <p:nvSpPr>
            <p:cNvPr id="6" name="Rectangle 6"/>
            <p:cNvSpPr/>
            <p:nvPr/>
          </p:nvSpPr>
          <p:spPr>
            <a:xfrm>
              <a:off x="762000" y="1428750"/>
              <a:ext cx="10668000" cy="45720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28700" y="1695450"/>
              <a:ext cx="218886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skills/ppt-master/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18260" y="215646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8B2AC"/>
                  </a:solidFill>
                  <a:latin typeface="Consolas"/>
                  <a:ea typeface="Microsoft YaHei"/>
                  <a:cs typeface="Consolas"/>
                </a:rPr>
                <a:t>├── SKILL.md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18260" y="2489835"/>
              <a:ext cx="10995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├── scripts/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0212" y="2831306"/>
              <a:ext cx="19673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├── project_manager.py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0212" y="3117056"/>
              <a:ext cx="16141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├── svg_to_pptx.py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0212" y="3402806"/>
              <a:ext cx="146625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├── pdf_to_md.py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00212" y="3688556"/>
              <a:ext cx="146625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├── doc_to_md.py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00212" y="3974306"/>
              <a:ext cx="15319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└── ... (12 个脚本)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18260" y="4347210"/>
              <a:ext cx="132740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├── templates/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0212" y="4688681"/>
              <a:ext cx="19180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├── layouts/ (布局模板)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00212" y="4974431"/>
              <a:ext cx="18688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├── charts/ (图表模板)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00212" y="5260181"/>
              <a:ext cx="15730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└── icons/ (图标库)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18260" y="5633085"/>
              <a:ext cx="13624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├── workflows/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00212" y="5974556"/>
              <a:ext cx="2000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└── create-template.md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18260" y="6347460"/>
              <a:ext cx="119595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D8936"/>
                  </a:solidFill>
                  <a:latin typeface="Consolas"/>
                  <a:ea typeface="Microsoft YaHei"/>
                  <a:cs typeface="Consolas"/>
                </a:rPr>
                <a:t>└── projects/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00212" y="6688931"/>
              <a:ext cx="15155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EEBC8"/>
                  </a:solidFill>
                  <a:latin typeface="Consolas"/>
                  <a:ea typeface="Microsoft YaHei"/>
                  <a:cs typeface="Consolas"/>
                </a:rPr>
                <a:t>└── &lt;项目输出目录&gt;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322272" y="65541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12 / 38</a:t>
            </a:r>
          </a:p>
        </p:txBody>
      </p:sp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284272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SubAgent 架构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571500" y="1333500"/>
            <a:ext cx="5334000" cy="4000500"/>
            <a:chOff x="571500" y="1333500"/>
            <a:chExt cx="5334000" cy="4000500"/>
          </a:xfrm>
        </p:grpSpPr>
        <p:sp>
          <p:nvSpPr>
            <p:cNvPr id="6" name="Rectangle 6"/>
            <p:cNvSpPr/>
            <p:nvPr/>
          </p:nvSpPr>
          <p:spPr>
            <a:xfrm>
              <a:off x="571500" y="1333500"/>
              <a:ext cx="5334000" cy="4000500"/>
            </a:xfrm>
            <a:prstGeom prst="rect">
              <a:avLst/>
            </a:prstGeom>
            <a:solidFill>
              <a:srgbClr val="EBF8FF"/>
            </a:solidFill>
            <a:ln w="19050">
              <a:solidFill>
                <a:srgbClr val="3182C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6295" y="1584008"/>
              <a:ext cx="115524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subagent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42010" y="1918335"/>
              <a:ext cx="12573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通用子任务执行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57250" y="2381250"/>
              <a:ext cx="4762500" cy="2476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33462" y="2593181"/>
              <a:ext cx="1779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runtime: "subagent"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34415" y="2934652"/>
              <a:ext cx="9237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通用子任务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4415" y="3220402"/>
              <a:ext cx="13301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run（单次执行）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4415" y="3506152"/>
              <a:ext cx="16292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session（持久会话）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4415" y="3887152"/>
              <a:ext cx="1061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Source Han Sans CN"/>
                  <a:ea typeface="Microsoft YaHei"/>
                  <a:cs typeface="Source Han Sans CN"/>
                </a:rPr>
                <a:t>常用 Agent ID: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34415" y="4172902"/>
              <a:ext cx="17748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182CE"/>
                  </a:solidFill>
                  <a:latin typeface="Source Han Sans CN"/>
                  <a:ea typeface="Microsoft YaHei"/>
                  <a:cs typeface="Source Han Sans CN"/>
                </a:rPr>
                <a:t>ai_intel, tech_analyst,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4415" y="4411028"/>
              <a:ext cx="17518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182CE"/>
                  </a:solidFill>
                  <a:latin typeface="Source Han Sans CN"/>
                  <a:ea typeface="Microsoft YaHei"/>
                  <a:cs typeface="Source Han Sans CN"/>
                </a:rPr>
                <a:t>content_creator, main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86500" y="1333500"/>
            <a:ext cx="5334000" cy="4000500"/>
            <a:chOff x="6286500" y="1333500"/>
            <a:chExt cx="5334000" cy="4000500"/>
          </a:xfrm>
        </p:grpSpPr>
        <p:sp>
          <p:nvSpPr>
            <p:cNvPr id="18" name="Rectangle 18"/>
            <p:cNvSpPr/>
            <p:nvPr/>
          </p:nvSpPr>
          <p:spPr>
            <a:xfrm>
              <a:off x="6286500" y="1333500"/>
              <a:ext cx="5334000" cy="4000500"/>
            </a:xfrm>
            <a:prstGeom prst="rect">
              <a:avLst/>
            </a:prstGeom>
            <a:solidFill>
              <a:srgbClr val="FAF5FF"/>
            </a:solidFill>
            <a:ln w="19050">
              <a:solidFill>
                <a:srgbClr val="805AD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51295" y="1584008"/>
              <a:ext cx="4594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acp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57010" y="1918335"/>
              <a:ext cx="14500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ACP harness 集成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572250" y="2381250"/>
              <a:ext cx="4762500" cy="2476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48462" y="2593181"/>
              <a:ext cx="1305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runtime: "acp"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49415" y="2934652"/>
              <a:ext cx="13991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ACP harness 集成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49415" y="3220402"/>
              <a:ext cx="15831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thread（线程绑定）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49415" y="3506152"/>
              <a:ext cx="16292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session（持久会话）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49415" y="3887152"/>
              <a:ext cx="7244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Source Han Sans CN"/>
                  <a:ea typeface="Microsoft YaHei"/>
                  <a:cs typeface="Source Han Sans CN"/>
                </a:rPr>
                <a:t>典型场景: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49415" y="4172902"/>
              <a:ext cx="21582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05AD5"/>
                  </a:solidFill>
                  <a:latin typeface="Source Han Sans CN"/>
                  <a:ea typeface="Microsoft YaHei"/>
                  <a:cs typeface="Source Han Sans CN"/>
                </a:rPr>
                <a:t>Codex / Claude Code / Cursor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49415" y="4411028"/>
              <a:ext cx="13224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05AD5"/>
                  </a:solidFill>
                  <a:latin typeface="Source Han Sans CN"/>
                  <a:ea typeface="Microsoft YaHei"/>
                  <a:cs typeface="Source Han Sans CN"/>
                </a:rPr>
                <a:t>等 AI 编程助手集成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5524500"/>
            <a:ext cx="11049000" cy="762000"/>
            <a:chOff x="571500" y="5524500"/>
            <a:chExt cx="11049000" cy="762000"/>
          </a:xfrm>
        </p:grpSpPr>
        <p:sp>
          <p:nvSpPr>
            <p:cNvPr id="30" name="Rectangle 30"/>
            <p:cNvSpPr/>
            <p:nvPr/>
          </p:nvSpPr>
          <p:spPr>
            <a:xfrm>
              <a:off x="571500" y="5524500"/>
              <a:ext cx="11049000" cy="7620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3915" y="5792152"/>
              <a:ext cx="85377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sessions_spawn(runtime="subagent", agent_id="tech_analyst", task="...", mode="run", timeoutSeconds=1800)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322272" y="65541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13 / 38</a:t>
            </a:r>
          </a:p>
        </p:txBody>
      </p:sp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367083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SubAgent 工作空间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952500" y="1428750"/>
            <a:ext cx="1905000" cy="807244"/>
            <a:chOff x="952500" y="1428750"/>
            <a:chExt cx="1905000" cy="807244"/>
          </a:xfrm>
        </p:grpSpPr>
        <p:sp>
          <p:nvSpPr>
            <p:cNvPr id="6" name="Rectangle 6"/>
            <p:cNvSpPr/>
            <p:nvPr/>
          </p:nvSpPr>
          <p:spPr>
            <a:xfrm>
              <a:off x="952500" y="1428750"/>
              <a:ext cx="1905000" cy="7620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65294" y="1632585"/>
              <a:ext cx="10794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workspace/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36621" y="1894999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A0AEC0"/>
                  </a:solidFill>
                  <a:latin typeface="Source Han Sans CN"/>
                  <a:ea typeface="Microsoft YaHei"/>
                  <a:cs typeface="Source Han Sans CN"/>
                </a:rPr>
                <a:t>主工作空间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40501" y="2037874"/>
              <a:ext cx="9289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A0AEC0"/>
                  </a:solidFill>
                  <a:latin typeface="Source Han Sans CN"/>
                  <a:ea typeface="Microsoft YaHei"/>
                  <a:cs typeface="Source Han Sans CN"/>
                </a:rPr>
                <a:t>主 Agent 使用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2500" y="2476500"/>
            <a:ext cx="1905000" cy="762000"/>
            <a:chOff x="952500" y="2476500"/>
            <a:chExt cx="1905000" cy="762000"/>
          </a:xfrm>
        </p:grpSpPr>
        <p:sp>
          <p:nvSpPr>
            <p:cNvPr id="11" name="Rectangle 11"/>
            <p:cNvSpPr/>
            <p:nvPr/>
          </p:nvSpPr>
          <p:spPr>
            <a:xfrm>
              <a:off x="952500" y="2476500"/>
              <a:ext cx="1905000" cy="762000"/>
            </a:xfrm>
            <a:prstGeom prst="rect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74488" y="2696528"/>
              <a:ext cx="16610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workspace-AI-INTEL/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02521" y="2950845"/>
              <a:ext cx="8049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EE3F8"/>
                  </a:solidFill>
                  <a:latin typeface="Source Han Sans CN"/>
                  <a:ea typeface="Microsoft YaHei"/>
                  <a:cs typeface="Source Han Sans CN"/>
                </a:rPr>
                <a:t>ai_intel 专属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952611" y="2476500"/>
            <a:ext cx="2095779" cy="762000"/>
            <a:chOff x="2952611" y="2476500"/>
            <a:chExt cx="2095779" cy="762000"/>
          </a:xfrm>
        </p:grpSpPr>
        <p:sp>
          <p:nvSpPr>
            <p:cNvPr id="15" name="Rectangle 15"/>
            <p:cNvSpPr/>
            <p:nvPr/>
          </p:nvSpPr>
          <p:spPr>
            <a:xfrm>
              <a:off x="3048000" y="2476500"/>
              <a:ext cx="1905000" cy="762000"/>
            </a:xfrm>
            <a:prstGeom prst="rect">
              <a:avLst/>
            </a:prstGeom>
            <a:solidFill>
              <a:srgbClr val="38B2A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952611" y="2696528"/>
              <a:ext cx="20957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workspace-TECH-ANALYST/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420570" y="2950845"/>
              <a:ext cx="11598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2F5EA"/>
                  </a:solidFill>
                  <a:latin typeface="Source Han Sans CN"/>
                  <a:ea typeface="Microsoft YaHei"/>
                  <a:cs typeface="Source Han Sans CN"/>
                </a:rPr>
                <a:t>tech_analyst 专属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883065" y="2476500"/>
            <a:ext cx="2425870" cy="762000"/>
            <a:chOff x="4883065" y="2476500"/>
            <a:chExt cx="2425870" cy="762000"/>
          </a:xfrm>
        </p:grpSpPr>
        <p:sp>
          <p:nvSpPr>
            <p:cNvPr id="19" name="Rectangle 19"/>
            <p:cNvSpPr/>
            <p:nvPr/>
          </p:nvSpPr>
          <p:spPr>
            <a:xfrm>
              <a:off x="5143500" y="2476500"/>
              <a:ext cx="1905000" cy="762000"/>
            </a:xfrm>
            <a:prstGeom prst="rect">
              <a:avLst/>
            </a:prstGeom>
            <a:solidFill>
              <a:srgbClr val="ED893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883065" y="2696528"/>
              <a:ext cx="24258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workspace-CONTENT-CREATOR/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91198" y="2950845"/>
              <a:ext cx="14096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EEBC8"/>
                  </a:solidFill>
                  <a:latin typeface="Source Han Sans CN"/>
                  <a:ea typeface="Microsoft YaHei"/>
                  <a:cs typeface="Source Han Sans CN"/>
                </a:rPr>
                <a:t>content_creator 专属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111407" y="2476500"/>
            <a:ext cx="2160187" cy="762000"/>
            <a:chOff x="7111407" y="2476500"/>
            <a:chExt cx="2160187" cy="762000"/>
          </a:xfrm>
        </p:grpSpPr>
        <p:sp>
          <p:nvSpPr>
            <p:cNvPr id="23" name="Rectangle 23"/>
            <p:cNvSpPr/>
            <p:nvPr/>
          </p:nvSpPr>
          <p:spPr>
            <a:xfrm>
              <a:off x="7239000" y="2476500"/>
              <a:ext cx="1905000" cy="762000"/>
            </a:xfrm>
            <a:prstGeom prst="rect">
              <a:avLst/>
            </a:prstGeom>
            <a:solidFill>
              <a:srgbClr val="805AD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111407" y="2696528"/>
              <a:ext cx="21601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workspace-WORK-PRESENT/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81995" y="2950845"/>
              <a:ext cx="1219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9D8FD"/>
                  </a:solidFill>
                  <a:latin typeface="Source Han Sans CN"/>
                  <a:ea typeface="Microsoft YaHei"/>
                  <a:cs typeface="Source Han Sans CN"/>
                </a:rPr>
                <a:t>work_present 专属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2500" y="3810000"/>
            <a:ext cx="10287000" cy="2381250"/>
            <a:chOff x="952500" y="3810000"/>
            <a:chExt cx="10287000" cy="2381250"/>
          </a:xfrm>
        </p:grpSpPr>
        <p:sp>
          <p:nvSpPr>
            <p:cNvPr id="27" name="Rectangle 27"/>
            <p:cNvSpPr/>
            <p:nvPr/>
          </p:nvSpPr>
          <p:spPr>
            <a:xfrm>
              <a:off x="952500" y="3810000"/>
              <a:ext cx="10287000" cy="238125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217295" y="4060508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关键原则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1285875" y="4619625"/>
              <a:ext cx="2688336" cy="257175"/>
              <a:chOff x="1285875" y="4619625"/>
              <a:chExt cx="2688336" cy="257175"/>
            </a:xfrm>
          </p:grpSpPr>
          <p:sp>
            <p:nvSpPr>
              <p:cNvPr id="29" name="Ellipse 29"/>
              <p:cNvSpPr/>
              <p:nvPr/>
            </p:nvSpPr>
            <p:spPr>
              <a:xfrm>
                <a:off x="1285875" y="4619625"/>
                <a:ext cx="190500" cy="190500"/>
              </a:xfrm>
              <a:prstGeom prst="ellipse">
                <a:avLst/>
              </a:prstGeom>
              <a:solidFill>
                <a:srgbClr val="3182CE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604010" y="4632960"/>
                <a:ext cx="237020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子 Agent 继承父工作空间目录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1285875" y="5000625"/>
              <a:ext cx="2688336" cy="257175"/>
              <a:chOff x="1285875" y="5000625"/>
              <a:chExt cx="2688336" cy="257175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1285875" y="5000625"/>
                <a:ext cx="190500" cy="190500"/>
              </a:xfrm>
              <a:prstGeom prst="ellipse">
                <a:avLst/>
              </a:prstGeom>
              <a:solidFill>
                <a:srgbClr val="38B2AC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604010" y="5013960"/>
                <a:ext cx="237020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每个 Agent 有独立的工作空间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1285875" y="5381625"/>
              <a:ext cx="2889885" cy="257175"/>
              <a:chOff x="1285875" y="5381625"/>
              <a:chExt cx="2889885" cy="257175"/>
            </a:xfrm>
          </p:grpSpPr>
          <p:sp>
            <p:nvSpPr>
              <p:cNvPr id="35" name="Ellipse 35"/>
              <p:cNvSpPr/>
              <p:nvPr/>
            </p:nvSpPr>
            <p:spPr>
              <a:xfrm>
                <a:off x="1285875" y="5381625"/>
                <a:ext cx="190500" cy="190500"/>
              </a:xfrm>
              <a:prstGeom prst="ellipse">
                <a:avLst/>
              </a:prstGeom>
              <a:solidFill>
                <a:srgbClr val="ED8936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604010" y="5394960"/>
                <a:ext cx="257175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通过 task_status.md 跟踪状态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1285875" y="5762625"/>
              <a:ext cx="2688336" cy="257175"/>
              <a:chOff x="1285875" y="5762625"/>
              <a:chExt cx="2688336" cy="257175"/>
            </a:xfrm>
          </p:grpSpPr>
          <p:sp>
            <p:nvSpPr>
              <p:cNvPr id="38" name="Ellipse 38"/>
              <p:cNvSpPr/>
              <p:nvPr/>
            </p:nvSpPr>
            <p:spPr>
              <a:xfrm>
                <a:off x="1285875" y="5762625"/>
                <a:ext cx="190500" cy="190500"/>
              </a:xfrm>
              <a:prstGeom prst="ellipse">
                <a:avLst/>
              </a:prstGeom>
              <a:solidFill>
                <a:srgbClr val="805AD5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1604010" y="5775960"/>
                <a:ext cx="237020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主 Agent 负责协调和结果汇总</a:t>
                </a:r>
              </a:p>
            </p:txBody>
          </p:sp>
        </p:grpSp>
      </p:grpSp>
      <p:sp>
        <p:nvSpPr>
          <p:cNvPr id="42" name="TextBox 42"/>
          <p:cNvSpPr txBox="1"/>
          <p:nvPr/>
        </p:nvSpPr>
        <p:spPr>
          <a:xfrm>
            <a:off x="11322272" y="65541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14 / 38</a:t>
            </a:r>
          </a:p>
        </p:txBody>
      </p:sp>
    </p:spTree>
  </p:cSld>
  <p:clrMapOvr>
    <a:masterClrMapping/>
  </p:clrMapOvr>
  <p:transition 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275991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Cron 调度机制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3238500" y="1238250"/>
            <a:ext cx="5715000" cy="36195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164131" y="1393508"/>
            <a:ext cx="186373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Cron Scheduler</a:t>
            </a:r>
          </a:p>
        </p:txBody>
      </p:sp>
      <p:sp>
        <p:nvSpPr>
          <p:cNvPr id="8" name="Rectangle 8"/>
          <p:cNvSpPr/>
          <p:nvPr/>
        </p:nvSpPr>
        <p:spPr>
          <a:xfrm>
            <a:off x="3429000" y="1809750"/>
            <a:ext cx="5334000" cy="2667000"/>
          </a:xfrm>
          <a:prstGeom prst="rect">
            <a:avLst/>
          </a:prstGeom>
          <a:solidFill>
            <a:srgbClr val="0F2942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04260" y="2013585"/>
            <a:ext cx="1953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D8936"/>
                </a:solidFill>
                <a:latin typeface="Source Han Sans CN"/>
                <a:ea typeface="Microsoft YaHei"/>
                <a:cs typeface="Source Han Sans CN"/>
              </a:rPr>
              <a:t>Job Queue (13 个任务)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3619500" y="2381250"/>
            <a:ext cx="4953000" cy="333375"/>
            <a:chOff x="3619500" y="2381250"/>
            <a:chExt cx="4953000" cy="333375"/>
          </a:xfrm>
        </p:grpSpPr>
        <p:sp>
          <p:nvSpPr>
            <p:cNvPr id="10" name="Rectangle 10"/>
            <p:cNvSpPr/>
            <p:nvPr/>
          </p:nvSpPr>
          <p:spPr>
            <a:xfrm>
              <a:off x="3619500" y="2381250"/>
              <a:ext cx="4953000" cy="333375"/>
            </a:xfrm>
            <a:prstGeom prst="rect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749992" y="2495074"/>
              <a:ext cx="18617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国际形势日报 (工作日 8:00)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619500" y="2809875"/>
            <a:ext cx="4953000" cy="333375"/>
            <a:chOff x="3619500" y="2809875"/>
            <a:chExt cx="4953000" cy="333375"/>
          </a:xfrm>
        </p:grpSpPr>
        <p:sp>
          <p:nvSpPr>
            <p:cNvPr id="13" name="Rectangle 13"/>
            <p:cNvSpPr/>
            <p:nvPr/>
          </p:nvSpPr>
          <p:spPr>
            <a:xfrm>
              <a:off x="3619500" y="2809875"/>
              <a:ext cx="4953000" cy="333375"/>
            </a:xfrm>
            <a:prstGeom prst="rect">
              <a:avLst/>
            </a:prstGeom>
            <a:solidFill>
              <a:srgbClr val="38B2A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749992" y="2923699"/>
              <a:ext cx="20325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国际形势日报 PPT+视频 (8:30)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619500" y="3238500"/>
            <a:ext cx="4953000" cy="333375"/>
            <a:chOff x="3619500" y="3238500"/>
            <a:chExt cx="4953000" cy="333375"/>
          </a:xfrm>
        </p:grpSpPr>
        <p:sp>
          <p:nvSpPr>
            <p:cNvPr id="16" name="Rectangle 16"/>
            <p:cNvSpPr/>
            <p:nvPr/>
          </p:nvSpPr>
          <p:spPr>
            <a:xfrm>
              <a:off x="3619500" y="3238500"/>
              <a:ext cx="4953000" cy="333375"/>
            </a:xfrm>
            <a:prstGeom prst="rect">
              <a:avLst/>
            </a:prstGeom>
            <a:solidFill>
              <a:srgbClr val="ED893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749992" y="3352324"/>
              <a:ext cx="17620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国际形势周报 (周六 10:00)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619500" y="3667125"/>
            <a:ext cx="4953000" cy="333375"/>
            <a:chOff x="3619500" y="3667125"/>
            <a:chExt cx="4953000" cy="333375"/>
          </a:xfrm>
        </p:grpSpPr>
        <p:sp>
          <p:nvSpPr>
            <p:cNvPr id="19" name="Rectangle 19"/>
            <p:cNvSpPr/>
            <p:nvPr/>
          </p:nvSpPr>
          <p:spPr>
            <a:xfrm>
              <a:off x="3619500" y="3667125"/>
              <a:ext cx="4953000" cy="333375"/>
            </a:xfrm>
            <a:prstGeom prst="rect">
              <a:avLst/>
            </a:prstGeom>
            <a:solidFill>
              <a:srgbClr val="805AD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749992" y="3780949"/>
              <a:ext cx="15982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AI 情报日报 (每天 6:40)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619500" y="4095750"/>
            <a:ext cx="4953000" cy="333375"/>
            <a:chOff x="3619500" y="4095750"/>
            <a:chExt cx="4953000" cy="333375"/>
          </a:xfrm>
        </p:grpSpPr>
        <p:sp>
          <p:nvSpPr>
            <p:cNvPr id="22" name="Rectangle 22"/>
            <p:cNvSpPr/>
            <p:nvPr/>
          </p:nvSpPr>
          <p:spPr>
            <a:xfrm>
              <a:off x="3619500" y="4095750"/>
              <a:ext cx="4953000" cy="333375"/>
            </a:xfrm>
            <a:prstGeom prst="rect">
              <a:avLst/>
            </a:prstGeom>
            <a:solidFill>
              <a:srgbClr val="E53E3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749992" y="4209574"/>
              <a:ext cx="17620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质量监控日报 (每天 21:00)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5626441" y="4649152"/>
            <a:ext cx="9391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... 更多任务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524000" y="3333750"/>
            <a:ext cx="1524000" cy="571500"/>
            <a:chOff x="1524000" y="3333750"/>
            <a:chExt cx="1524000" cy="571500"/>
          </a:xfrm>
        </p:grpSpPr>
        <p:sp>
          <p:nvSpPr>
            <p:cNvPr id="26" name="Rectangle 26"/>
            <p:cNvSpPr/>
            <p:nvPr/>
          </p:nvSpPr>
          <p:spPr>
            <a:xfrm>
              <a:off x="1524000" y="3333750"/>
              <a:ext cx="1524000" cy="571500"/>
            </a:xfrm>
            <a:prstGeom prst="rect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902714" y="35375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定时触发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2762250" y="36195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8575">
              <a:solidFill>
                <a:srgbClr val="ED8936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9144000" y="3333750"/>
            <a:ext cx="1809750" cy="571500"/>
            <a:chOff x="9144000" y="3333750"/>
            <a:chExt cx="1809750" cy="571500"/>
          </a:xfrm>
        </p:grpSpPr>
        <p:sp>
          <p:nvSpPr>
            <p:cNvPr id="30" name="Freeform 30"/>
            <p:cNvSpPr/>
            <p:nvPr/>
          </p:nvSpPr>
          <p:spPr>
            <a:xfrm>
              <a:off x="9144000" y="36195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8575">
              <a:solidFill>
                <a:srgbClr val="38B2AC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9429750" y="3333750"/>
              <a:ext cx="1524000" cy="571500"/>
            </a:xfrm>
            <a:prstGeom prst="rect">
              <a:avLst/>
            </a:prstGeom>
            <a:solidFill>
              <a:srgbClr val="38B2A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598743" y="3553778"/>
              <a:ext cx="11860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Session Target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322272" y="65541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15 / 38</a:t>
            </a:r>
          </a:p>
        </p:txBody>
      </p:sp>
    </p:spTree>
  </p:cSld>
  <p:clrMapOvr>
    <a:masterClrMapping/>
  </p:clrMapOvr>
  <p:transition 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307045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HeartBeat 机制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15" name="Group 15"/>
          <p:cNvGrpSpPr/>
          <p:nvPr/>
        </p:nvGrpSpPr>
        <p:grpSpPr>
          <a:xfrm>
            <a:off x="952500" y="1428750"/>
            <a:ext cx="5143500" cy="1905000"/>
            <a:chOff x="952500" y="1428750"/>
            <a:chExt cx="5143500" cy="1905000"/>
          </a:xfrm>
        </p:grpSpPr>
        <p:sp>
          <p:nvSpPr>
            <p:cNvPr id="6" name="Rectangle 6"/>
            <p:cNvSpPr/>
            <p:nvPr/>
          </p:nvSpPr>
          <p:spPr>
            <a:xfrm>
              <a:off x="952500" y="1428750"/>
              <a:ext cx="5143500" cy="1905000"/>
            </a:xfrm>
            <a:prstGeom prst="rect">
              <a:avLst/>
            </a:prstGeom>
            <a:solidFill>
              <a:srgbClr val="EBF8FF"/>
            </a:solidFill>
            <a:ln w="19050">
              <a:solidFill>
                <a:srgbClr val="3182C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19200" y="1695450"/>
              <a:ext cx="216586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什么是 HeartBeat？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23010" y="2108835"/>
              <a:ext cx="254546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定期唤醒主 Agent 检查系统状态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1276350" y="2602706"/>
              <a:ext cx="2586870" cy="228600"/>
              <a:chOff x="1276350" y="2602706"/>
              <a:chExt cx="2586870" cy="228600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1276350" y="2609850"/>
                <a:ext cx="114300" cy="114300"/>
              </a:xfrm>
              <a:prstGeom prst="ellipse">
                <a:avLst/>
              </a:prstGeom>
              <a:solidFill>
                <a:srgbClr val="ED8936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509712" y="2602706"/>
                <a:ext cx="235350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频率：默认每 5 分钟（可配置）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1276350" y="2936081"/>
              <a:ext cx="3055143" cy="228600"/>
              <a:chOff x="1276350" y="2936081"/>
              <a:chExt cx="3055143" cy="228600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1276350" y="2943225"/>
                <a:ext cx="114300" cy="114300"/>
              </a:xfrm>
              <a:prstGeom prst="ellipse">
                <a:avLst/>
              </a:prstGeom>
              <a:solidFill>
                <a:srgbClr val="38B2AC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509712" y="2936081"/>
                <a:ext cx="2821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用途：系统巡检、批量检查、后台任务</a:t>
                </a:r>
              </a:p>
            </p:txBody>
          </p:sp>
        </p:grpSp>
      </p:grpSp>
      <p:grpSp>
        <p:nvGrpSpPr>
          <p:cNvPr id="38" name="Group 38"/>
          <p:cNvGrpSpPr/>
          <p:nvPr/>
        </p:nvGrpSpPr>
        <p:grpSpPr>
          <a:xfrm>
            <a:off x="6286500" y="1428750"/>
            <a:ext cx="5143500" cy="4000500"/>
            <a:chOff x="6286500" y="1428750"/>
            <a:chExt cx="5143500" cy="4000500"/>
          </a:xfrm>
        </p:grpSpPr>
        <p:sp>
          <p:nvSpPr>
            <p:cNvPr id="16" name="Rectangle 16"/>
            <p:cNvSpPr/>
            <p:nvPr/>
          </p:nvSpPr>
          <p:spPr>
            <a:xfrm>
              <a:off x="6286500" y="1428750"/>
              <a:ext cx="5143500" cy="38100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53200" y="169545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主要用途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6572250" y="2190750"/>
              <a:ext cx="4572000" cy="571500"/>
              <a:chOff x="6572250" y="2190750"/>
              <a:chExt cx="4572000" cy="5715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6572250" y="2190750"/>
                <a:ext cx="4572000" cy="5715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748462" y="2336006"/>
                <a:ext cx="86530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📧 检查邮件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750368" y="2561749"/>
                <a:ext cx="130635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是否有紧急未读邮件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572250" y="2857500"/>
              <a:ext cx="4572000" cy="571500"/>
              <a:chOff x="6572250" y="2857500"/>
              <a:chExt cx="4572000" cy="5715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572250" y="2857500"/>
                <a:ext cx="4572000" cy="5715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748462" y="3002756"/>
                <a:ext cx="86530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📅 检查日历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750368" y="3228499"/>
                <a:ext cx="181186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即将到来的日程（2小时内）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572250" y="3524250"/>
              <a:ext cx="4572000" cy="571500"/>
              <a:chOff x="6572250" y="3524250"/>
              <a:chExt cx="4572000" cy="5715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6572250" y="3524250"/>
                <a:ext cx="4572000" cy="5715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748462" y="3669506"/>
                <a:ext cx="86530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🔔 检查通知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750368" y="3895249"/>
                <a:ext cx="156979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社交媒体 @、提及、评论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6572250" y="4191000"/>
              <a:ext cx="4572000" cy="571500"/>
              <a:chOff x="6572250" y="4191000"/>
              <a:chExt cx="4572000" cy="5715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6572250" y="4191000"/>
                <a:ext cx="4572000" cy="5715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748462" y="4336256"/>
                <a:ext cx="86530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🔄 系统巡检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750368" y="4561999"/>
                <a:ext cx="130635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周期性后台任务执行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572250" y="4857750"/>
              <a:ext cx="4572000" cy="571500"/>
              <a:chOff x="6572250" y="4857750"/>
              <a:chExt cx="4572000" cy="5715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6572250" y="4857750"/>
                <a:ext cx="4572000" cy="5715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748462" y="5003006"/>
                <a:ext cx="86530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📝 记忆维护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750368" y="5228749"/>
                <a:ext cx="145587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定期整理 MEMORY.md</a:t>
                </a:r>
              </a:p>
            </p:txBody>
          </p:sp>
        </p:grpSp>
      </p:grpSp>
      <p:sp>
        <p:nvSpPr>
          <p:cNvPr id="39" name="TextBox 39"/>
          <p:cNvSpPr txBox="1"/>
          <p:nvPr/>
        </p:nvSpPr>
        <p:spPr>
          <a:xfrm>
            <a:off x="11322272" y="65541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16 / 38</a:t>
            </a:r>
          </a:p>
        </p:txBody>
      </p:sp>
    </p:spTree>
  </p:cSld>
  <p:clrMapOvr>
    <a:masterClrMapping/>
  </p:clrMapOvr>
  <p:transition 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468525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HeartBeat vs Cron 对比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33" name="Group 33"/>
          <p:cNvGrpSpPr/>
          <p:nvPr/>
        </p:nvGrpSpPr>
        <p:grpSpPr>
          <a:xfrm>
            <a:off x="952500" y="1333500"/>
            <a:ext cx="10287000" cy="4572000"/>
            <a:chOff x="952500" y="1333500"/>
            <a:chExt cx="10287000" cy="4572000"/>
          </a:xfrm>
        </p:grpSpPr>
        <p:sp>
          <p:nvSpPr>
            <p:cNvPr id="6" name="Rectangle 6"/>
            <p:cNvSpPr/>
            <p:nvPr/>
          </p:nvSpPr>
          <p:spPr>
            <a:xfrm>
              <a:off x="952500" y="1333500"/>
              <a:ext cx="10287000" cy="45720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952500" y="1333500"/>
              <a:ext cx="10287000" cy="5715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633329" y="1549718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特性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518966" y="1549718"/>
              <a:ext cx="10590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HeartBeat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280127" y="1549718"/>
              <a:ext cx="4897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Cron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52500" y="1905000"/>
              <a:ext cx="10287000" cy="762000"/>
            </a:xfrm>
            <a:prstGeom prst="rect">
              <a:avLst/>
            </a:prstGeom>
            <a:solidFill>
              <a:srgbClr val="EBF8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491740" y="2204085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触发方式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00358" y="2212181"/>
              <a:ext cx="16962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固定间隔（如 5 分钟）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65952" y="2212181"/>
              <a:ext cx="19180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Cron 表达式（精确时间）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52500" y="2667000"/>
              <a:ext cx="10287000" cy="7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491740" y="2966085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执行会话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87753" y="2974181"/>
              <a:ext cx="5214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主会话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26150" y="2974181"/>
              <a:ext cx="1597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可选主会话/隔离会话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52500" y="3429000"/>
              <a:ext cx="10287000" cy="762000"/>
            </a:xfrm>
            <a:prstGeom prst="rect">
              <a:avLst/>
            </a:prstGeom>
            <a:solidFill>
              <a:srgbClr val="FEF3E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491740" y="3728085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主要用途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94834" y="3736181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系统巡检、批量检查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71334" y="3736181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定时任务、日报周报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52500" y="4191000"/>
              <a:ext cx="10287000" cy="7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404110" y="4490085"/>
              <a:ext cx="906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配置复杂度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47952" y="4498181"/>
              <a:ext cx="2010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38B2AC"/>
                  </a:solidFill>
                  <a:latin typeface="Source Han Sans CN"/>
                  <a:ea typeface="Microsoft YaHei"/>
                  <a:cs typeface="Source Han Sans CN"/>
                </a:rPr>
                <a:t>低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24452" y="4498181"/>
              <a:ext cx="2010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ED8936"/>
                  </a:solidFill>
                  <a:latin typeface="Source Han Sans CN"/>
                  <a:ea typeface="Microsoft YaHei"/>
                  <a:cs typeface="Source Han Sans CN"/>
                </a:rPr>
                <a:t>中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52500" y="4953000"/>
              <a:ext cx="10287000" cy="762000"/>
            </a:xfrm>
            <a:prstGeom prst="rect">
              <a:avLst/>
            </a:prstGeom>
            <a:solidFill>
              <a:srgbClr val="E6FFF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491740" y="5252085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适用场景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7761" y="5125402"/>
              <a:ext cx="11614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邮件/日历检查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63285" y="5363528"/>
              <a:ext cx="7704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通知监控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86433" y="5125402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每日简报生成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86433" y="5363528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定时数据同步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322272" y="65541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17 / 38</a:t>
            </a:r>
          </a:p>
        </p:txBody>
      </p:sp>
    </p:spTree>
  </p:cSld>
  <p:clrMapOvr>
    <a:masterClrMapping/>
  </p:clrMapOvr>
  <p:transition 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41262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创建 Cron 任务五步骤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952500" y="1524000"/>
            <a:ext cx="2095500" cy="1524000"/>
            <a:chOff x="952500" y="1524000"/>
            <a:chExt cx="2095500" cy="1524000"/>
          </a:xfrm>
        </p:grpSpPr>
        <p:sp>
          <p:nvSpPr>
            <p:cNvPr id="6" name="Rectangle 6"/>
            <p:cNvSpPr/>
            <p:nvPr/>
          </p:nvSpPr>
          <p:spPr>
            <a:xfrm>
              <a:off x="952500" y="1524000"/>
              <a:ext cx="2095500" cy="1524000"/>
            </a:xfrm>
            <a:prstGeom prst="rect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719901" y="1611630"/>
              <a:ext cx="56069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91114" y="221932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明确任务目标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20152" y="264890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EE3F8"/>
                  </a:solidFill>
                  <a:latin typeface="Source Han Sans CN"/>
                  <a:ea typeface="Microsoft YaHei"/>
                  <a:cs typeface="Source Han Sans CN"/>
                </a:rPr>
                <a:t>要做什么？输出什么？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238500" y="1524000"/>
            <a:ext cx="2095500" cy="1524000"/>
            <a:chOff x="3238500" y="1524000"/>
            <a:chExt cx="2095500" cy="1524000"/>
          </a:xfrm>
        </p:grpSpPr>
        <p:sp>
          <p:nvSpPr>
            <p:cNvPr id="11" name="Rectangle 11"/>
            <p:cNvSpPr/>
            <p:nvPr/>
          </p:nvSpPr>
          <p:spPr>
            <a:xfrm>
              <a:off x="3238500" y="1524000"/>
              <a:ext cx="2095500" cy="1524000"/>
            </a:xfrm>
            <a:prstGeom prst="rect">
              <a:avLst/>
            </a:prstGeom>
            <a:solidFill>
              <a:srgbClr val="38B2A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936892" y="1611630"/>
              <a:ext cx="69871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577114" y="221932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设计执行流程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425642" y="2648902"/>
              <a:ext cx="17212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2F5EA"/>
                  </a:solidFill>
                  <a:latin typeface="Source Han Sans CN"/>
                  <a:ea typeface="Microsoft YaHei"/>
                  <a:cs typeface="Source Han Sans CN"/>
                </a:rPr>
                <a:t>Agent 需要执行哪些步骤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524500" y="1524000"/>
            <a:ext cx="2095500" cy="1524000"/>
            <a:chOff x="5524500" y="1524000"/>
            <a:chExt cx="2095500" cy="1524000"/>
          </a:xfrm>
        </p:grpSpPr>
        <p:sp>
          <p:nvSpPr>
            <p:cNvPr id="16" name="Rectangle 16"/>
            <p:cNvSpPr/>
            <p:nvPr/>
          </p:nvSpPr>
          <p:spPr>
            <a:xfrm>
              <a:off x="5524500" y="1524000"/>
              <a:ext cx="2095500" cy="1524000"/>
            </a:xfrm>
            <a:prstGeom prst="rect">
              <a:avLst/>
            </a:prstGeom>
            <a:solidFill>
              <a:srgbClr val="ED893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22892" y="1611630"/>
              <a:ext cx="69871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811357" y="2219325"/>
              <a:ext cx="152178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配置 Cron Job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50622" y="2648902"/>
              <a:ext cx="20432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EEBC8"/>
                  </a:solidFill>
                  <a:latin typeface="Source Han Sans CN"/>
                  <a:ea typeface="Microsoft YaHei"/>
                  <a:cs typeface="Source Han Sans CN"/>
                </a:rPr>
                <a:t>时间/会话/payload/delivery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810500" y="1524000"/>
            <a:ext cx="2095500" cy="1524000"/>
            <a:chOff x="7810500" y="1524000"/>
            <a:chExt cx="2095500" cy="1524000"/>
          </a:xfrm>
        </p:grpSpPr>
        <p:sp>
          <p:nvSpPr>
            <p:cNvPr id="21" name="Rectangle 21"/>
            <p:cNvSpPr/>
            <p:nvPr/>
          </p:nvSpPr>
          <p:spPr>
            <a:xfrm>
              <a:off x="7810500" y="1524000"/>
              <a:ext cx="2095500" cy="1524000"/>
            </a:xfrm>
            <a:prstGeom prst="rect">
              <a:avLst/>
            </a:prstGeom>
            <a:solidFill>
              <a:srgbClr val="805AD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508892" y="1611630"/>
              <a:ext cx="69871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04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9142" y="221932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测试验证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84858" y="264890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9D8FD"/>
                  </a:solidFill>
                  <a:latin typeface="Source Han Sans CN"/>
                  <a:ea typeface="Microsoft YaHei"/>
                  <a:cs typeface="Source Han Sans CN"/>
                </a:rPr>
                <a:t>手动触发测试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096500" y="1524000"/>
            <a:ext cx="2095500" cy="1524000"/>
            <a:chOff x="10096500" y="1524000"/>
            <a:chExt cx="2095500" cy="1524000"/>
          </a:xfrm>
        </p:grpSpPr>
        <p:sp>
          <p:nvSpPr>
            <p:cNvPr id="26" name="Rectangle 26"/>
            <p:cNvSpPr/>
            <p:nvPr/>
          </p:nvSpPr>
          <p:spPr>
            <a:xfrm>
              <a:off x="10096500" y="1524000"/>
              <a:ext cx="2095500" cy="1524000"/>
            </a:xfrm>
            <a:prstGeom prst="rect">
              <a:avLst/>
            </a:prstGeom>
            <a:solidFill>
              <a:srgbClr val="E53E3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794892" y="1611630"/>
              <a:ext cx="69871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05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65142" y="221932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监控优化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287476" y="264890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ED7D7"/>
                  </a:solidFill>
                  <a:latin typeface="Source Han Sans CN"/>
                  <a:ea typeface="Microsoft YaHei"/>
                  <a:cs typeface="Source Han Sans CN"/>
                </a:rPr>
                <a:t>观察执行情况，调整参数</a:t>
              </a:r>
            </a:p>
          </p:txBody>
        </p:sp>
      </p:grpSp>
      <p:sp>
        <p:nvSpPr>
          <p:cNvPr id="31" name="Freeform 31"/>
          <p:cNvSpPr/>
          <p:nvPr/>
        </p:nvSpPr>
        <p:spPr>
          <a:xfrm>
            <a:off x="3048000" y="228600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sp>
        <p:nvSpPr>
          <p:cNvPr id="32" name="Freeform 32"/>
          <p:cNvSpPr/>
          <p:nvPr/>
        </p:nvSpPr>
        <p:spPr>
          <a:xfrm>
            <a:off x="5334000" y="228600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sp>
        <p:nvSpPr>
          <p:cNvPr id="33" name="Freeform 33"/>
          <p:cNvSpPr/>
          <p:nvPr/>
        </p:nvSpPr>
        <p:spPr>
          <a:xfrm>
            <a:off x="7620000" y="228600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sp>
        <p:nvSpPr>
          <p:cNvPr id="34" name="Freeform 34"/>
          <p:cNvSpPr/>
          <p:nvPr/>
        </p:nvSpPr>
        <p:spPr>
          <a:xfrm>
            <a:off x="9906000" y="228600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grpSp>
        <p:nvGrpSpPr>
          <p:cNvPr id="55" name="Group 55"/>
          <p:cNvGrpSpPr/>
          <p:nvPr/>
        </p:nvGrpSpPr>
        <p:grpSpPr>
          <a:xfrm>
            <a:off x="952500" y="3619500"/>
            <a:ext cx="10287000" cy="2719388"/>
            <a:chOff x="952500" y="3619500"/>
            <a:chExt cx="10287000" cy="2719388"/>
          </a:xfrm>
        </p:grpSpPr>
        <p:sp>
          <p:nvSpPr>
            <p:cNvPr id="35" name="Rectangle 35"/>
            <p:cNvSpPr/>
            <p:nvPr/>
          </p:nvSpPr>
          <p:spPr>
            <a:xfrm>
              <a:off x="952500" y="3619500"/>
              <a:ext cx="10287000" cy="26670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217295" y="3870008"/>
              <a:ext cx="13070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关键配置项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1304925" y="4448175"/>
              <a:ext cx="2758297" cy="223837"/>
              <a:chOff x="1304925" y="4448175"/>
              <a:chExt cx="2758297" cy="223837"/>
            </a:xfrm>
          </p:grpSpPr>
          <p:sp>
            <p:nvSpPr>
              <p:cNvPr id="37" name="Ellipse 37"/>
              <p:cNvSpPr/>
              <p:nvPr/>
            </p:nvSpPr>
            <p:spPr>
              <a:xfrm>
                <a:off x="1304925" y="4448175"/>
                <a:ext cx="152400" cy="152400"/>
              </a:xfrm>
              <a:prstGeom prst="ellipse">
                <a:avLst/>
              </a:prstGeom>
              <a:solidFill>
                <a:srgbClr val="3182CE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1605915" y="4458652"/>
                <a:ext cx="24573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Consolas"/>
                    <a:ea typeface="Microsoft YaHei"/>
                    <a:cs typeface="Consolas"/>
                  </a:rPr>
                  <a:t>schedule.kind: cron / every / at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1304925" y="4781550"/>
              <a:ext cx="2420922" cy="223838"/>
              <a:chOff x="1304925" y="4781550"/>
              <a:chExt cx="2420922" cy="223838"/>
            </a:xfrm>
          </p:grpSpPr>
          <p:sp>
            <p:nvSpPr>
              <p:cNvPr id="40" name="Ellipse 40"/>
              <p:cNvSpPr/>
              <p:nvPr/>
            </p:nvSpPr>
            <p:spPr>
              <a:xfrm>
                <a:off x="1304925" y="4781550"/>
                <a:ext cx="152400" cy="152400"/>
              </a:xfrm>
              <a:prstGeom prst="ellipse">
                <a:avLst/>
              </a:prstGeom>
              <a:solidFill>
                <a:srgbClr val="38B2AC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1605915" y="4792028"/>
                <a:ext cx="21199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Consolas"/>
                    <a:ea typeface="Microsoft YaHei"/>
                    <a:cs typeface="Consolas"/>
                  </a:rPr>
                  <a:t>schedule.expr: "0 8 * * 1-5"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1304925" y="5114925"/>
              <a:ext cx="3686080" cy="223837"/>
              <a:chOff x="1304925" y="5114925"/>
              <a:chExt cx="3686080" cy="223837"/>
            </a:xfrm>
          </p:grpSpPr>
          <p:sp>
            <p:nvSpPr>
              <p:cNvPr id="43" name="Ellipse 43"/>
              <p:cNvSpPr/>
              <p:nvPr/>
            </p:nvSpPr>
            <p:spPr>
              <a:xfrm>
                <a:off x="1304925" y="5114925"/>
                <a:ext cx="152400" cy="152400"/>
              </a:xfrm>
              <a:prstGeom prst="ellipse">
                <a:avLst/>
              </a:prstGeom>
              <a:solidFill>
                <a:srgbClr val="ED8936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1605915" y="5125402"/>
                <a:ext cx="338509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Consolas"/>
                    <a:ea typeface="Microsoft YaHei"/>
                    <a:cs typeface="Consolas"/>
                  </a:rPr>
                  <a:t>sessionTarget: isolated / main / session:xxx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1304925" y="5448300"/>
              <a:ext cx="3287363" cy="223838"/>
              <a:chOff x="1304925" y="5448300"/>
              <a:chExt cx="3287363" cy="223838"/>
            </a:xfrm>
          </p:grpSpPr>
          <p:sp>
            <p:nvSpPr>
              <p:cNvPr id="46" name="Ellipse 46"/>
              <p:cNvSpPr/>
              <p:nvPr/>
            </p:nvSpPr>
            <p:spPr>
              <a:xfrm>
                <a:off x="1304925" y="5448300"/>
                <a:ext cx="152400" cy="152400"/>
              </a:xfrm>
              <a:prstGeom prst="ellipse">
                <a:avLst/>
              </a:prstGeom>
              <a:solidFill>
                <a:srgbClr val="805AD5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1605915" y="5458778"/>
                <a:ext cx="298637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Consolas"/>
                    <a:ea typeface="Microsoft YaHei"/>
                    <a:cs typeface="Consolas"/>
                  </a:rPr>
                  <a:t>payload.kind: agentTurn / systemEvent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1304925" y="5781675"/>
              <a:ext cx="3494389" cy="223837"/>
              <a:chOff x="1304925" y="5781675"/>
              <a:chExt cx="3494389" cy="223837"/>
            </a:xfrm>
          </p:grpSpPr>
          <p:sp>
            <p:nvSpPr>
              <p:cNvPr id="49" name="Ellipse 49"/>
              <p:cNvSpPr/>
              <p:nvPr/>
            </p:nvSpPr>
            <p:spPr>
              <a:xfrm>
                <a:off x="1304925" y="5781675"/>
                <a:ext cx="152400" cy="152400"/>
              </a:xfrm>
              <a:prstGeom prst="ellipse">
                <a:avLst/>
              </a:prstGeom>
              <a:solidFill>
                <a:srgbClr val="E53E3E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605915" y="5792152"/>
                <a:ext cx="319339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Consolas"/>
                    <a:ea typeface="Microsoft YaHei"/>
                    <a:cs typeface="Consolas"/>
                  </a:rPr>
                  <a:t>delivery.mode: announce / webhook / none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1304925" y="6115050"/>
              <a:ext cx="2620280" cy="223838"/>
              <a:chOff x="1304925" y="6115050"/>
              <a:chExt cx="2620280" cy="223838"/>
            </a:xfrm>
          </p:grpSpPr>
          <p:sp>
            <p:nvSpPr>
              <p:cNvPr id="52" name="Ellipse 52"/>
              <p:cNvSpPr/>
              <p:nvPr/>
            </p:nvSpPr>
            <p:spPr>
              <a:xfrm>
                <a:off x="1304925" y="6115050"/>
                <a:ext cx="152400" cy="152400"/>
              </a:xfrm>
              <a:prstGeom prst="ellipse">
                <a:avLst/>
              </a:prstGeom>
              <a:solidFill>
                <a:srgbClr val="DD6B20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1605915" y="6125528"/>
                <a:ext cx="231929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Consolas"/>
                    <a:ea typeface="Microsoft YaHei"/>
                    <a:cs typeface="Consolas"/>
                  </a:rPr>
                  <a:t>timeoutSeconds: 1800 (30分钟)</a:t>
                </a:r>
              </a:p>
            </p:txBody>
          </p:sp>
        </p:grpSp>
      </p:grpSp>
      <p:sp>
        <p:nvSpPr>
          <p:cNvPr id="56" name="TextBox 56"/>
          <p:cNvSpPr txBox="1"/>
          <p:nvPr/>
        </p:nvSpPr>
        <p:spPr>
          <a:xfrm>
            <a:off x="11322272" y="65541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18 / 38</a:t>
            </a:r>
          </a:p>
        </p:txBody>
      </p:sp>
    </p:spTree>
  </p:cSld>
  <p:clrMapOvr>
    <a:masterClrMapping/>
  </p:clrMapOvr>
  <p:transition 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213883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关键配置项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41" name="Group 41"/>
          <p:cNvGrpSpPr/>
          <p:nvPr/>
        </p:nvGrpSpPr>
        <p:grpSpPr>
          <a:xfrm>
            <a:off x="183068" y="1333500"/>
            <a:ext cx="11437432" cy="4762500"/>
            <a:chOff x="183068" y="1333500"/>
            <a:chExt cx="11437432" cy="4762500"/>
          </a:xfrm>
        </p:grpSpPr>
        <p:sp>
          <p:nvSpPr>
            <p:cNvPr id="6" name="Rectangle 6"/>
            <p:cNvSpPr/>
            <p:nvPr/>
          </p:nvSpPr>
          <p:spPr>
            <a:xfrm>
              <a:off x="571500" y="1333500"/>
              <a:ext cx="11049000" cy="47625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333500"/>
              <a:ext cx="11049000" cy="47625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65976" y="150876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配置项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182237" y="150876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说明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92237" y="150876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示例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269328" y="2000250"/>
              <a:ext cx="11351172" cy="619125"/>
              <a:chOff x="269328" y="2000250"/>
              <a:chExt cx="11351172" cy="619125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71500" y="2000250"/>
                <a:ext cx="11049000" cy="619125"/>
              </a:xfrm>
              <a:prstGeom prst="rect">
                <a:avLst/>
              </a:prstGeom>
              <a:solidFill>
                <a:srgbClr val="EBF8FF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269328" y="2240756"/>
                <a:ext cx="117584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schedule.kind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061460" y="2248852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调度类型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584603" y="2256949"/>
                <a:ext cx="12137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3182CE"/>
                    </a:solidFill>
                    <a:latin typeface="Consolas"/>
                    <a:ea typeface="Microsoft YaHei"/>
                    <a:cs typeface="Consolas"/>
                  </a:rPr>
                  <a:t>cron / every / at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247763" y="2667000"/>
              <a:ext cx="11372737" cy="619125"/>
              <a:chOff x="247763" y="2667000"/>
              <a:chExt cx="11372737" cy="619125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571500" y="2667000"/>
                <a:ext cx="11049000" cy="61912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47763" y="2907506"/>
                <a:ext cx="121897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schedule.expr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946446" y="2915602"/>
                <a:ext cx="87010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Cron 表达式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759041" y="2923699"/>
                <a:ext cx="86491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38B2AC"/>
                    </a:solidFill>
                    <a:latin typeface="Consolas"/>
                    <a:ea typeface="Microsoft YaHei"/>
                    <a:cs typeface="Consolas"/>
                  </a:rPr>
                  <a:t>"0 8 * * 1-5"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247763" y="3333750"/>
              <a:ext cx="11372737" cy="619125"/>
              <a:chOff x="247763" y="3333750"/>
              <a:chExt cx="11372737" cy="619125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571500" y="3333750"/>
                <a:ext cx="11049000" cy="619125"/>
              </a:xfrm>
              <a:prstGeom prst="rect">
                <a:avLst/>
              </a:prstGeom>
              <a:solidFill>
                <a:srgbClr val="FEF3E2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247763" y="3574256"/>
                <a:ext cx="121897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sessionTarget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061460" y="3582352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执行会话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666482" y="3590449"/>
                <a:ext cx="105003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ED8936"/>
                    </a:solidFill>
                    <a:latin typeface="Consolas"/>
                    <a:ea typeface="Microsoft YaHei"/>
                    <a:cs typeface="Consolas"/>
                  </a:rPr>
                  <a:t>isolated / main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316772" y="4000500"/>
              <a:ext cx="11303728" cy="619125"/>
              <a:chOff x="316772" y="4000500"/>
              <a:chExt cx="11303728" cy="619125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571500" y="4000500"/>
                <a:ext cx="11049000" cy="61912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316772" y="4241006"/>
                <a:ext cx="108095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payload.kind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061460" y="4249102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负载类型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299805" y="4257199"/>
                <a:ext cx="178339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805AD5"/>
                    </a:solidFill>
                    <a:latin typeface="Consolas"/>
                    <a:ea typeface="Microsoft YaHei"/>
                    <a:cs typeface="Consolas"/>
                  </a:rPr>
                  <a:t>agentTurn / systemEvent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252076" y="4667250"/>
              <a:ext cx="11368424" cy="619125"/>
              <a:chOff x="252076" y="4667250"/>
              <a:chExt cx="11368424" cy="619125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571500" y="4667250"/>
                <a:ext cx="11049000" cy="619125"/>
              </a:xfrm>
              <a:prstGeom prst="rect">
                <a:avLst/>
              </a:prstGeom>
              <a:solidFill>
                <a:srgbClr val="E6FFFA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252076" y="4907756"/>
                <a:ext cx="121034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delivery.mode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061460" y="4915852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交付方式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495604" y="4923949"/>
                <a:ext cx="139179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E53E3E"/>
                    </a:solidFill>
                    <a:latin typeface="Consolas"/>
                    <a:ea typeface="Microsoft YaHei"/>
                    <a:cs typeface="Consolas"/>
                  </a:rPr>
                  <a:t>announce / webhook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183068" y="5334000"/>
              <a:ext cx="11437432" cy="619125"/>
              <a:chOff x="183068" y="5334000"/>
              <a:chExt cx="11437432" cy="619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571500" y="5334000"/>
                <a:ext cx="11049000" cy="619125"/>
              </a:xfrm>
              <a:prstGeom prst="rect">
                <a:avLst/>
              </a:prstGeom>
              <a:solidFill>
                <a:srgbClr val="FFF5F5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83068" y="5574506"/>
                <a:ext cx="134836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timeoutSeconds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061460" y="5582602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超时时间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719882" y="5590699"/>
                <a:ext cx="94323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DD6B20"/>
                    </a:solidFill>
                    <a:latin typeface="Consolas"/>
                    <a:ea typeface="Microsoft YaHei"/>
                    <a:cs typeface="Consolas"/>
                  </a:rPr>
                  <a:t>1800 (30分钟)</a:t>
                </a:r>
              </a:p>
            </p:txBody>
          </p:sp>
        </p:grpSp>
      </p:grpSp>
      <p:sp>
        <p:nvSpPr>
          <p:cNvPr id="42" name="TextBox 42"/>
          <p:cNvSpPr txBox="1"/>
          <p:nvPr/>
        </p:nvSpPr>
        <p:spPr>
          <a:xfrm>
            <a:off x="11322272" y="65541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19 / 38</a:t>
            </a:r>
          </a:p>
        </p:txBody>
      </p:sp>
    </p:spTree>
  </p:cSld>
  <p:clrMapOvr>
    <a:masterClrMapping/>
  </p:clrMapOvr>
  <p:transition 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462314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实战案例：国际形势日报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11430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30" name="Group 30"/>
          <p:cNvGrpSpPr/>
          <p:nvPr/>
        </p:nvGrpSpPr>
        <p:grpSpPr>
          <a:xfrm>
            <a:off x="571500" y="1238250"/>
            <a:ext cx="5524500" cy="3810000"/>
            <a:chOff x="571500" y="1238250"/>
            <a:chExt cx="5524500" cy="3810000"/>
          </a:xfrm>
        </p:grpSpPr>
        <p:sp>
          <p:nvSpPr>
            <p:cNvPr id="6" name="Rectangle 6"/>
            <p:cNvSpPr/>
            <p:nvPr/>
          </p:nvSpPr>
          <p:spPr>
            <a:xfrm>
              <a:off x="571500" y="1238250"/>
              <a:ext cx="5524500" cy="3810000"/>
            </a:xfrm>
            <a:prstGeom prst="rect">
              <a:avLst/>
            </a:prstGeom>
            <a:gradFill>
              <a:gsLst>
                <a:gs pos="0">
                  <a:srgbClr val="3182CE"/>
                </a:gs>
                <a:gs pos="100000">
                  <a:srgbClr val="2C528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6295" y="1488758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任务背景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895350" y="2031206"/>
              <a:ext cx="3597354" cy="228600"/>
              <a:chOff x="895350" y="2031206"/>
              <a:chExt cx="3597354" cy="228600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895350" y="2038350"/>
                <a:ext cx="114300" cy="114300"/>
              </a:xfrm>
              <a:prstGeom prst="ellipse">
                <a:avLst/>
              </a:prstGeom>
              <a:solidFill>
                <a:srgbClr val="A0AEC0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128712" y="2031206"/>
                <a:ext cx="336399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2E8F0"/>
                    </a:solidFill>
                    <a:latin typeface="Source Han Sans CN"/>
                    <a:ea typeface="Microsoft YaHei"/>
                    <a:cs typeface="Source Han Sans CN"/>
                  </a:rPr>
                  <a:t>需求：每天早上 8 点获取国际形势 5 分钟快读</a:t>
                </a: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895350" y="2364581"/>
              <a:ext cx="3876674" cy="228600"/>
              <a:chOff x="895350" y="2364581"/>
              <a:chExt cx="3876674" cy="228600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895350" y="2371725"/>
                <a:ext cx="114300" cy="114300"/>
              </a:xfrm>
              <a:prstGeom prst="ellipse">
                <a:avLst/>
              </a:prstGeom>
              <a:solidFill>
                <a:srgbClr val="A0AEC0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128712" y="2364581"/>
                <a:ext cx="36433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2E8F0"/>
                    </a:solidFill>
                    <a:latin typeface="Source Han Sans CN"/>
                    <a:ea typeface="Microsoft YaHei"/>
                    <a:cs typeface="Source Han Sans CN"/>
                  </a:rPr>
                  <a:t>内容：中东局势、俄乌冲突、中美关系、全球市场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95350" y="2697956"/>
              <a:ext cx="2767607" cy="228600"/>
              <a:chOff x="895350" y="2697956"/>
              <a:chExt cx="2767607" cy="228600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895350" y="2705100"/>
                <a:ext cx="114300" cy="114300"/>
              </a:xfrm>
              <a:prstGeom prst="ellipse">
                <a:avLst/>
              </a:prstGeom>
              <a:solidFill>
                <a:srgbClr val="A0AEC0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128712" y="2697956"/>
                <a:ext cx="253424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2E8F0"/>
                    </a:solidFill>
                    <a:latin typeface="Source Han Sans CN"/>
                    <a:ea typeface="Microsoft YaHei"/>
                    <a:cs typeface="Source Han Sans CN"/>
                  </a:rPr>
                  <a:t>输出：飞书推送 + Markdown 文档</a:t>
                </a:r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840105" y="31880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执行数据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895350" y="3698081"/>
              <a:ext cx="1716047" cy="228600"/>
              <a:chOff x="895350" y="3698081"/>
              <a:chExt cx="1716047" cy="228600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895350" y="3705225"/>
                <a:ext cx="114300" cy="114300"/>
              </a:xfrm>
              <a:prstGeom prst="ellipse">
                <a:avLst/>
              </a:prstGeom>
              <a:solidFill>
                <a:srgbClr val="38B2AC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128712" y="3698081"/>
                <a:ext cx="148268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2E8F0"/>
                    </a:solidFill>
                    <a:latin typeface="Source Han Sans CN"/>
                    <a:ea typeface="Microsoft YaHei"/>
                    <a:cs typeface="Source Han Sans CN"/>
                  </a:rPr>
                  <a:t>启动 → 完成：124 秒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895350" y="4031456"/>
              <a:ext cx="1502449" cy="228600"/>
              <a:chOff x="895350" y="4031456"/>
              <a:chExt cx="1502449" cy="228600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895350" y="4038600"/>
                <a:ext cx="114300" cy="114300"/>
              </a:xfrm>
              <a:prstGeom prst="ellipse">
                <a:avLst/>
              </a:prstGeom>
              <a:solidFill>
                <a:srgbClr val="ED8936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128712" y="4031456"/>
                <a:ext cx="126908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2E8F0"/>
                    </a:solidFill>
                    <a:latin typeface="Source Han Sans CN"/>
                    <a:ea typeface="Microsoft YaHei"/>
                    <a:cs typeface="Source Han Sans CN"/>
                  </a:rPr>
                  <a:t>输出：约 1800 字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895350" y="4364831"/>
              <a:ext cx="1387435" cy="228600"/>
              <a:chOff x="895350" y="4364831"/>
              <a:chExt cx="1387435" cy="228600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895350" y="4371975"/>
                <a:ext cx="114300" cy="114300"/>
              </a:xfrm>
              <a:prstGeom prst="ellipse">
                <a:avLst/>
              </a:prstGeom>
              <a:solidFill>
                <a:srgbClr val="805AD5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128712" y="4364831"/>
                <a:ext cx="11540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2E8F0"/>
                    </a:solidFill>
                    <a:latin typeface="Source Han Sans CN"/>
                    <a:ea typeface="Microsoft YaHei"/>
                    <a:cs typeface="Source Han Sans CN"/>
                  </a:rPr>
                  <a:t>搜索主题：7 个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95350" y="4698206"/>
              <a:ext cx="1551741" cy="228600"/>
              <a:chOff x="895350" y="4698206"/>
              <a:chExt cx="1551741" cy="228600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895350" y="4705350"/>
                <a:ext cx="114300" cy="114300"/>
              </a:xfrm>
              <a:prstGeom prst="ellipse">
                <a:avLst/>
              </a:prstGeom>
              <a:solidFill>
                <a:srgbClr val="E53E3E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128712" y="4698206"/>
                <a:ext cx="131837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2E8F0"/>
                    </a:solidFill>
                    <a:latin typeface="Source Han Sans CN"/>
                    <a:ea typeface="Microsoft YaHei"/>
                    <a:cs typeface="Source Han Sans CN"/>
                  </a:rPr>
                  <a:t>飞书推送：✅ 成功</a:t>
                </a:r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>
            <a:off x="6286500" y="1238250"/>
            <a:ext cx="5524500" cy="3810000"/>
            <a:chOff x="6286500" y="1238250"/>
            <a:chExt cx="5524500" cy="3810000"/>
          </a:xfrm>
        </p:grpSpPr>
        <p:sp>
          <p:nvSpPr>
            <p:cNvPr id="31" name="Rectangle 31"/>
            <p:cNvSpPr/>
            <p:nvPr/>
          </p:nvSpPr>
          <p:spPr>
            <a:xfrm>
              <a:off x="6286500" y="1238250"/>
              <a:ext cx="5524500" cy="38100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51295" y="1488758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输出示例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572250" y="1905000"/>
              <a:ext cx="4953000" cy="28575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02742" y="2085499"/>
              <a:ext cx="20325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# 🌍 国际形势日报 | 2026-04-08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02742" y="2371249"/>
              <a:ext cx="2597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---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02742" y="2656999"/>
              <a:ext cx="17264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D8936"/>
                  </a:solidFill>
                  <a:latin typeface="Consolas"/>
                  <a:ea typeface="Microsoft YaHei"/>
                  <a:cs typeface="Consolas"/>
                </a:rPr>
                <a:t>## 一、【头条・深度解析】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02742" y="2942749"/>
              <a:ext cx="18901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8B2AC"/>
                  </a:solidFill>
                  <a:latin typeface="Consolas"/>
                  <a:ea typeface="Microsoft YaHei"/>
                  <a:cs typeface="Consolas"/>
                </a:rPr>
                <a:t>### 1. 美伊停火谈判陷入僵局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46570" y="3236595"/>
              <a:ext cx="16133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事件：双方立场"差距过大"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46570" y="3474720"/>
              <a:ext cx="17316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影响：霍尔木兹海峡持续关闭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46570" y="3712845"/>
              <a:ext cx="10547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风险信号：🔴 高危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02742" y="4085749"/>
              <a:ext cx="13633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05AD5"/>
                  </a:solidFill>
                  <a:latin typeface="Consolas"/>
                  <a:ea typeface="Microsoft YaHei"/>
                  <a:cs typeface="Consolas"/>
                </a:rPr>
                <a:t>## 二、【区域要闻】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02742" y="4371499"/>
              <a:ext cx="11354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- 亚太（3-4 条）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20 / 38</a:t>
            </a:r>
          </a:p>
        </p:txBody>
      </p:sp>
    </p:spTree>
  </p:cSld>
  <p:clrMapOvr>
    <a:masterClrMapping/>
  </p:clrMapOvr>
  <p:transition 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29669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执行流程时间线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1571625" y="1571625"/>
            <a:ext cx="3648587" cy="4386263"/>
            <a:chOff x="1571625" y="1571625"/>
            <a:chExt cx="3648587" cy="4386263"/>
          </a:xfrm>
        </p:grpSpPr>
        <p:sp>
          <p:nvSpPr>
            <p:cNvPr id="6" name="Line 6"/>
            <p:cNvSpPr/>
            <p:nvPr/>
          </p:nvSpPr>
          <p:spPr>
            <a:xfrm>
              <a:off x="1714500" y="1714500"/>
              <a:ext cx="9525" cy="3524250"/>
            </a:xfrm>
            <a:custGeom>
              <a:avLst/>
              <a:gdLst/>
              <a:ahLst/>
              <a:cxnLst/>
              <a:rect l="l" t="t" r="r" b="b"/>
              <a:pathLst>
                <a:path w="9525" h="3524250">
                  <a:moveTo>
                    <a:pt x="0" y="0"/>
                  </a:moveTo>
                  <a:lnTo>
                    <a:pt x="0" y="3524250"/>
                  </a:lnTo>
                </a:path>
              </a:pathLst>
            </a:custGeom>
            <a:noFill/>
            <a:ln w="38100">
              <a:solidFill>
                <a:srgbClr val="3182CE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571625" y="1571625"/>
              <a:ext cx="285750" cy="285750"/>
            </a:xfrm>
            <a:prstGeom prst="ellipse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649855" y="1644968"/>
              <a:ext cx="177330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08:00 - Cron 触发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53665" y="1934528"/>
              <a:ext cx="1575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isolated session 启动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1571625" y="2524125"/>
              <a:ext cx="285750" cy="285750"/>
            </a:xfrm>
            <a:prstGeom prst="ellipse">
              <a:avLst/>
            </a:prstGeom>
            <a:solidFill>
              <a:srgbClr val="38B2A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649855" y="2597468"/>
              <a:ext cx="25703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08:00-08:02 - Agent 执行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53665" y="2887028"/>
              <a:ext cx="16215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1. Tavily 搜索 7 个主题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53665" y="3125152"/>
              <a:ext cx="8547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2. 整理新闻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53665" y="3363278"/>
              <a:ext cx="25109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3. 生成 Markdown（1500-2000字）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53665" y="3601402"/>
              <a:ext cx="1314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4. 保存到指定路径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653665" y="3839528"/>
              <a:ext cx="11614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5. 发送飞书通知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1571625" y="4429125"/>
              <a:ext cx="285750" cy="285750"/>
            </a:xfrm>
            <a:prstGeom prst="ellipse">
              <a:avLst/>
            </a:prstGeom>
            <a:solidFill>
              <a:srgbClr val="ED893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649855" y="4502468"/>
              <a:ext cx="166979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08:02 - 任务完成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653665" y="4792028"/>
              <a:ext cx="9697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耗时约 2 分钟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1571625" y="5381625"/>
              <a:ext cx="285750" cy="285750"/>
            </a:xfrm>
            <a:prstGeom prst="ellipse">
              <a:avLst/>
            </a:prstGeom>
            <a:solidFill>
              <a:srgbClr val="E53E3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649855" y="5454968"/>
              <a:ext cx="166979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08:02 - 飞书推送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53665" y="5744528"/>
              <a:ext cx="20585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🌍 国际形势日报 | 2026-04-09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322272" y="65541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21 / 38</a:t>
            </a:r>
          </a:p>
        </p:txBody>
      </p:sp>
    </p:spTree>
  </p:cSld>
  <p:clrMapOvr>
    <a:masterClrMapping/>
  </p:clrMapOvr>
  <p:transition 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输出示例展示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238250"/>
            <a:ext cx="11049000" cy="47625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42010" y="1489710"/>
            <a:ext cx="3784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# 🌍 国际形势日报 | 2026 年 4 月 8 日（周三）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3915" y="1791652"/>
            <a:ext cx="33544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Consolas"/>
                <a:ea typeface="Microsoft YaHei"/>
                <a:cs typeface="Consolas"/>
              </a:rPr>
              <a:t>**阅读耗时**: 约 5 分钟 | **字数**: 约 1800 字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3915" y="2172652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Consolas"/>
                <a:ea typeface="Microsoft YaHei"/>
                <a:cs typeface="Consolas"/>
              </a:rPr>
              <a:t>---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2010" y="2489835"/>
            <a:ext cx="222955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D8936"/>
                </a:solidFill>
                <a:latin typeface="Consolas"/>
                <a:ea typeface="Microsoft YaHei"/>
                <a:cs typeface="Consolas"/>
              </a:rPr>
              <a:t>## 一、【头条・深度解析】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2962" y="2831306"/>
            <a:ext cx="43329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38B2AC"/>
                </a:solidFill>
                <a:latin typeface="Consolas"/>
                <a:ea typeface="Microsoft YaHei"/>
                <a:cs typeface="Consolas"/>
              </a:rPr>
              <a:t>### 1. 美伊停火谈判陷入僵局，霍尔木兹海峡持续关闭 🔴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9665" y="3172778"/>
            <a:ext cx="52023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Consolas"/>
                <a:ea typeface="Microsoft YaHei"/>
                <a:cs typeface="Consolas"/>
              </a:rPr>
              <a:t>**事件**: 美国和伊朗在巴基斯坦、埃及、土耳其斡旋下讨论 45 天停火协议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9665" y="3458528"/>
            <a:ext cx="55856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Consolas"/>
                <a:ea typeface="Microsoft YaHei"/>
                <a:cs typeface="Consolas"/>
              </a:rPr>
              <a:t>**影响**: 霍尔木兹海峡自 2 月底关闭，全球每日减少约 1200-1500 万桶石油供应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9665" y="3744278"/>
            <a:ext cx="16207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53E3E"/>
                </a:solidFill>
                <a:latin typeface="Consolas"/>
                <a:ea typeface="Microsoft YaHei"/>
                <a:cs typeface="Consolas"/>
              </a:rPr>
              <a:t>**风险信号**: 🔴 高危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2010" y="4156710"/>
            <a:ext cx="17602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805AD5"/>
                </a:solidFill>
                <a:latin typeface="Consolas"/>
                <a:ea typeface="Microsoft YaHei"/>
                <a:cs typeface="Consolas"/>
              </a:rPr>
              <a:t>## 二、【区域要闻】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3915" y="4506278"/>
            <a:ext cx="13915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Consolas"/>
                <a:ea typeface="Microsoft YaHei"/>
                <a:cs typeface="Consolas"/>
              </a:rPr>
              <a:t>### 亚太（3-4 条）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3915" y="4792028"/>
            <a:ext cx="13915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Consolas"/>
                <a:ea typeface="Microsoft YaHei"/>
                <a:cs typeface="Consolas"/>
              </a:rPr>
              <a:t>### 欧洲（2-3 条）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3915" y="5077778"/>
            <a:ext cx="178255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Consolas"/>
                <a:ea typeface="Microsoft YaHei"/>
                <a:cs typeface="Consolas"/>
              </a:rPr>
              <a:t>### 中东/美洲（2-3 条）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2010" y="5394960"/>
            <a:ext cx="286443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8B2AC"/>
                </a:solidFill>
                <a:latin typeface="Consolas"/>
                <a:ea typeface="Microsoft YaHei"/>
                <a:cs typeface="Consolas"/>
              </a:rPr>
              <a:t>## 三、【全球市场】（表格格式）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22 / 38</a:t>
            </a:r>
          </a:p>
        </p:txBody>
      </p:sp>
    </p:spTree>
  </p:cSld>
  <p:clrMapOvr>
    <a:masterClrMapping/>
  </p:clrMapOvr>
  <p:transition 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29669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复盘与避坑指南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571500" y="1333500"/>
            <a:ext cx="5781437" cy="4000500"/>
            <a:chOff x="571500" y="1333500"/>
            <a:chExt cx="5781437" cy="4000500"/>
          </a:xfrm>
        </p:grpSpPr>
        <p:sp>
          <p:nvSpPr>
            <p:cNvPr id="6" name="Rectangle 6"/>
            <p:cNvSpPr/>
            <p:nvPr/>
          </p:nvSpPr>
          <p:spPr>
            <a:xfrm>
              <a:off x="571500" y="1333500"/>
              <a:ext cx="3619500" cy="4000500"/>
            </a:xfrm>
            <a:prstGeom prst="rect">
              <a:avLst/>
            </a:prstGeom>
            <a:solidFill>
              <a:srgbClr val="FFF5F5"/>
            </a:solidFill>
            <a:ln w="19050">
              <a:solidFill>
                <a:srgbClr val="E53E3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8200" y="1600200"/>
              <a:ext cx="224637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53E3E"/>
                  </a:solidFill>
                  <a:latin typeface="Source Han Sans CN"/>
                  <a:ea typeface="Microsoft YaHei"/>
                  <a:cs typeface="Source Han Sans CN"/>
                </a:rPr>
                <a:t>坑 1：输出目录不一致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43915" y="1982152"/>
              <a:ext cx="55090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问题：最初配置输出到 WORK/wechat_articles/，后来改为 wechat_articles/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3915" y="2363152"/>
              <a:ext cx="33237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影响：Cron 任务读取路径错误，找不到输入文件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2010" y="282321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解决：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3915" y="3125152"/>
              <a:ext cx="27563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统一修改所有 Cron 任务的输出路径配置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2010" y="358521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D6B20"/>
                  </a:solidFill>
                  <a:latin typeface="Source Han Sans CN"/>
                  <a:ea typeface="Microsoft YaHei"/>
                  <a:cs typeface="Source Han Sans CN"/>
                </a:rPr>
                <a:t>教训：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3915" y="3887152"/>
              <a:ext cx="2326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路径配置要集中管理，避免硬编码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381500" y="1333500"/>
            <a:ext cx="3619500" cy="4000500"/>
            <a:chOff x="4381500" y="1333500"/>
            <a:chExt cx="36195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381500" y="1333500"/>
              <a:ext cx="3619500" cy="4000500"/>
            </a:xfrm>
            <a:prstGeom prst="rect">
              <a:avLst/>
            </a:prstGeom>
            <a:solidFill>
              <a:srgbClr val="FEF3E2"/>
            </a:solidFill>
            <a:ln w="19050">
              <a:solidFill>
                <a:srgbClr val="ED893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48200" y="1600200"/>
              <a:ext cx="161379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D8936"/>
                  </a:solidFill>
                  <a:latin typeface="Source Han Sans CN"/>
                  <a:ea typeface="Microsoft YaHei"/>
                  <a:cs typeface="Source Han Sans CN"/>
                </a:rPr>
                <a:t>坑 2：搜索超时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53915" y="1982152"/>
              <a:ext cx="26720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问题：Tavily 搜索 7 个主题，偶尔超时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53915" y="236315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影响：任务失败，无输出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52010" y="282321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解决：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53915" y="3125152"/>
              <a:ext cx="1705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增加 timeout 到 1800 秒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53915" y="3410902"/>
              <a:ext cx="26566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搜索并行化（同时发起 7 个搜索请求）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52010" y="387096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D6B20"/>
                  </a:solidFill>
                  <a:latin typeface="Source Han Sans CN"/>
                  <a:ea typeface="Microsoft YaHei"/>
                  <a:cs typeface="Source Han Sans CN"/>
                </a:rPr>
                <a:t>教训：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53915" y="4172902"/>
              <a:ext cx="26336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外部 API 调用要设置合理的超时和重试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191500" y="1333500"/>
            <a:ext cx="3619500" cy="4000500"/>
            <a:chOff x="8191500" y="1333500"/>
            <a:chExt cx="3619500" cy="4000500"/>
          </a:xfrm>
        </p:grpSpPr>
        <p:sp>
          <p:nvSpPr>
            <p:cNvPr id="25" name="Rectangle 25"/>
            <p:cNvSpPr/>
            <p:nvPr/>
          </p:nvSpPr>
          <p:spPr>
            <a:xfrm>
              <a:off x="8191500" y="1333500"/>
              <a:ext cx="3619500" cy="4000500"/>
            </a:xfrm>
            <a:prstGeom prst="rect">
              <a:avLst/>
            </a:prstGeom>
            <a:solidFill>
              <a:srgbClr val="FAF5FF"/>
            </a:solidFill>
            <a:ln w="19050">
              <a:solidFill>
                <a:srgbClr val="805AD5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58200" y="1600200"/>
              <a:ext cx="207385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05AD5"/>
                  </a:solidFill>
                  <a:latin typeface="Source Han Sans CN"/>
                  <a:ea typeface="Microsoft YaHei"/>
                  <a:cs typeface="Source Han Sans CN"/>
                </a:rPr>
                <a:t>坑 3：飞书推送失败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63915" y="1982152"/>
              <a:ext cx="26336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问题：某些时段飞书 API 返回 401 错误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63915" y="2363152"/>
              <a:ext cx="2326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影响：任务成功但用户未收到通知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62010" y="282321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解决：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63915" y="3125152"/>
              <a:ext cx="16138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检查飞书 token 有效期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63915" y="341090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添加失败重试逻辑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62010" y="387096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D6B20"/>
                  </a:solidFill>
                  <a:latin typeface="Source Han Sans CN"/>
                  <a:ea typeface="Microsoft YaHei"/>
                  <a:cs typeface="Source Han Sans CN"/>
                </a:rPr>
                <a:t>教训：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63915" y="4172902"/>
              <a:ext cx="26336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推送失败要有降级方案（如邮件备用）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23 / 38</a:t>
            </a:r>
          </a:p>
        </p:txBody>
      </p:sp>
    </p:spTree>
  </p:cSld>
  <p:clrMapOvr>
    <a:masterClrMapping/>
  </p:clrMapOvr>
  <p:transition 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技能开发流程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952500" y="1428750"/>
            <a:ext cx="1714500" cy="1143000"/>
            <a:chOff x="952500" y="1428750"/>
            <a:chExt cx="1714500" cy="1143000"/>
          </a:xfrm>
        </p:grpSpPr>
        <p:sp>
          <p:nvSpPr>
            <p:cNvPr id="6" name="Rectangle 6"/>
            <p:cNvSpPr/>
            <p:nvPr/>
          </p:nvSpPr>
          <p:spPr>
            <a:xfrm>
              <a:off x="952500" y="1428750"/>
              <a:ext cx="1714500" cy="1143000"/>
            </a:xfrm>
            <a:prstGeom prst="rect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713352" y="1613535"/>
              <a:ext cx="19279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26464" y="210883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需求分析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857500" y="1428750"/>
            <a:ext cx="1714500" cy="1143000"/>
            <a:chOff x="2857500" y="1428750"/>
            <a:chExt cx="1714500" cy="1143000"/>
          </a:xfrm>
        </p:grpSpPr>
        <p:sp>
          <p:nvSpPr>
            <p:cNvPr id="10" name="Rectangle 10"/>
            <p:cNvSpPr/>
            <p:nvPr/>
          </p:nvSpPr>
          <p:spPr>
            <a:xfrm>
              <a:off x="2857500" y="1428750"/>
              <a:ext cx="1714500" cy="1143000"/>
            </a:xfrm>
            <a:prstGeom prst="rect">
              <a:avLst/>
            </a:prstGeom>
            <a:solidFill>
              <a:srgbClr val="38B2A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566596" y="1613535"/>
              <a:ext cx="29630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31464" y="210883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设计结构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762500" y="1428750"/>
            <a:ext cx="1714500" cy="1143000"/>
            <a:chOff x="4762500" y="1428750"/>
            <a:chExt cx="1714500" cy="1143000"/>
          </a:xfrm>
        </p:grpSpPr>
        <p:sp>
          <p:nvSpPr>
            <p:cNvPr id="14" name="Rectangle 14"/>
            <p:cNvSpPr/>
            <p:nvPr/>
          </p:nvSpPr>
          <p:spPr>
            <a:xfrm>
              <a:off x="4762500" y="1428750"/>
              <a:ext cx="1714500" cy="1143000"/>
            </a:xfrm>
            <a:prstGeom prst="rect">
              <a:avLst/>
            </a:prstGeom>
            <a:solidFill>
              <a:srgbClr val="ED893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471596" y="1613535"/>
              <a:ext cx="29630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36464" y="210883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编写代码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667500" y="1428750"/>
            <a:ext cx="1714500" cy="1143000"/>
            <a:chOff x="6667500" y="1428750"/>
            <a:chExt cx="1714500" cy="1143000"/>
          </a:xfrm>
        </p:grpSpPr>
        <p:sp>
          <p:nvSpPr>
            <p:cNvPr id="18" name="Rectangle 18"/>
            <p:cNvSpPr/>
            <p:nvPr/>
          </p:nvSpPr>
          <p:spPr>
            <a:xfrm>
              <a:off x="6667500" y="1428750"/>
              <a:ext cx="1714500" cy="1143000"/>
            </a:xfrm>
            <a:prstGeom prst="rect">
              <a:avLst/>
            </a:prstGeom>
            <a:solidFill>
              <a:srgbClr val="805AD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76596" y="1613535"/>
              <a:ext cx="29630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41464" y="210883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测试验证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572500" y="1428750"/>
            <a:ext cx="1714500" cy="1143000"/>
            <a:chOff x="8572500" y="1428750"/>
            <a:chExt cx="1714500" cy="1143000"/>
          </a:xfrm>
        </p:grpSpPr>
        <p:sp>
          <p:nvSpPr>
            <p:cNvPr id="22" name="Rectangle 22"/>
            <p:cNvSpPr/>
            <p:nvPr/>
          </p:nvSpPr>
          <p:spPr>
            <a:xfrm>
              <a:off x="8572500" y="1428750"/>
              <a:ext cx="1714500" cy="1143000"/>
            </a:xfrm>
            <a:prstGeom prst="rect">
              <a:avLst/>
            </a:prstGeom>
            <a:solidFill>
              <a:srgbClr val="E53E3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281596" y="1613535"/>
              <a:ext cx="29630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46464" y="210883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文档编写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477500" y="1428750"/>
            <a:ext cx="1714500" cy="1143000"/>
            <a:chOff x="10477500" y="1428750"/>
            <a:chExt cx="1714500" cy="1143000"/>
          </a:xfrm>
        </p:grpSpPr>
        <p:sp>
          <p:nvSpPr>
            <p:cNvPr id="26" name="Rectangle 26"/>
            <p:cNvSpPr/>
            <p:nvPr/>
          </p:nvSpPr>
          <p:spPr>
            <a:xfrm>
              <a:off x="10477500" y="1428750"/>
              <a:ext cx="1714500" cy="1143000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186596" y="1613535"/>
              <a:ext cx="29630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951464" y="210883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发布部署</a:t>
              </a:r>
            </a:p>
          </p:txBody>
        </p:sp>
      </p:grpSp>
      <p:sp>
        <p:nvSpPr>
          <p:cNvPr id="30" name="Freeform 30"/>
          <p:cNvSpPr/>
          <p:nvPr/>
        </p:nvSpPr>
        <p:spPr>
          <a:xfrm>
            <a:off x="2667000" y="200025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sp>
        <p:nvSpPr>
          <p:cNvPr id="31" name="Freeform 31"/>
          <p:cNvSpPr/>
          <p:nvPr/>
        </p:nvSpPr>
        <p:spPr>
          <a:xfrm>
            <a:off x="4572000" y="200025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sp>
        <p:nvSpPr>
          <p:cNvPr id="32" name="Freeform 32"/>
          <p:cNvSpPr/>
          <p:nvPr/>
        </p:nvSpPr>
        <p:spPr>
          <a:xfrm>
            <a:off x="6477000" y="200025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sp>
        <p:nvSpPr>
          <p:cNvPr id="33" name="Freeform 33"/>
          <p:cNvSpPr/>
          <p:nvPr/>
        </p:nvSpPr>
        <p:spPr>
          <a:xfrm>
            <a:off x="8382000" y="200025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sp>
        <p:nvSpPr>
          <p:cNvPr id="34" name="Freeform 34"/>
          <p:cNvSpPr/>
          <p:nvPr/>
        </p:nvSpPr>
        <p:spPr>
          <a:xfrm>
            <a:off x="10287000" y="200025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grpSp>
        <p:nvGrpSpPr>
          <p:cNvPr id="51" name="Group 51"/>
          <p:cNvGrpSpPr/>
          <p:nvPr/>
        </p:nvGrpSpPr>
        <p:grpSpPr>
          <a:xfrm>
            <a:off x="952500" y="3048000"/>
            <a:ext cx="10287000" cy="3238500"/>
            <a:chOff x="952500" y="3048000"/>
            <a:chExt cx="10287000" cy="3238500"/>
          </a:xfrm>
        </p:grpSpPr>
        <p:sp>
          <p:nvSpPr>
            <p:cNvPr id="35" name="Rectangle 35"/>
            <p:cNvSpPr/>
            <p:nvPr/>
          </p:nvSpPr>
          <p:spPr>
            <a:xfrm>
              <a:off x="952500" y="3048000"/>
              <a:ext cx="10287000" cy="32385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217295" y="3298508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技能文件结构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238250" y="3714750"/>
              <a:ext cx="2857500" cy="22860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414462" y="3926681"/>
              <a:ext cx="16223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8B2AC"/>
                  </a:solidFill>
                  <a:latin typeface="Consolas"/>
                  <a:ea typeface="Microsoft YaHei"/>
                  <a:cs typeface="Consolas"/>
                </a:rPr>
                <a:t>skills/&lt;skill-name&gt;/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605915" y="4268152"/>
              <a:ext cx="15141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├── SKILL.md (必须)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605915" y="4553902"/>
              <a:ext cx="14835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├── scripts/ (必须)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605915" y="4839652"/>
              <a:ext cx="17748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├── references/ (可选)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605915" y="5125402"/>
              <a:ext cx="16828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├── templates/ (可选)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605915" y="5411152"/>
              <a:ext cx="14375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└── output/ (可选)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286250" y="3714750"/>
              <a:ext cx="6858000" cy="2286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461510" y="3918585"/>
              <a:ext cx="16222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SKILL.md 核心结构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463415" y="426815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触发规则 - 关键词匹配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463415" y="455390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执行流程 - 步骤说明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463415" y="4839652"/>
              <a:ext cx="24879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工具调用 - exec/message/write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463415" y="512540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错误处理 - 降级策略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463415" y="541115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• 输出规范 - 交付格式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24 / 38</a:t>
            </a:r>
          </a:p>
        </p:txBody>
      </p:sp>
    </p:spTree>
  </p:cSld>
  <p:clrMapOvr>
    <a:masterClrMapping/>
  </p:clrMapOvr>
  <p:transition 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技能文件结构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42" name="Group 42"/>
          <p:cNvGrpSpPr/>
          <p:nvPr/>
        </p:nvGrpSpPr>
        <p:grpSpPr>
          <a:xfrm>
            <a:off x="571500" y="1333500"/>
            <a:ext cx="11049000" cy="4767262"/>
            <a:chOff x="571500" y="1333500"/>
            <a:chExt cx="11049000" cy="4767262"/>
          </a:xfrm>
        </p:grpSpPr>
        <p:sp>
          <p:nvSpPr>
            <p:cNvPr id="6" name="Rectangle 6"/>
            <p:cNvSpPr/>
            <p:nvPr/>
          </p:nvSpPr>
          <p:spPr>
            <a:xfrm>
              <a:off x="571500" y="1333500"/>
              <a:ext cx="11049000" cy="47625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8200" y="160020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文件清单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857250" y="2095500"/>
              <a:ext cx="5143500" cy="666750"/>
              <a:chOff x="857250" y="2095500"/>
              <a:chExt cx="5143500" cy="6667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857250" y="2095500"/>
                <a:ext cx="5143500" cy="66675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182CE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32510" y="2251710"/>
                <a:ext cx="8309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SKILL.md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35368" y="2514124"/>
                <a:ext cx="258794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技能定义、触发规则、执行流程（必须）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6191250" y="2095500"/>
              <a:ext cx="5143500" cy="666750"/>
              <a:chOff x="6191250" y="2095500"/>
              <a:chExt cx="5143500" cy="6667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6191250" y="2095500"/>
                <a:ext cx="5143500" cy="66675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8B2AC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6366510" y="2251710"/>
                <a:ext cx="79417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scripts/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369368" y="2514124"/>
                <a:ext cx="26662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执行脚本 Python/Shell/Node.js（必须）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857250" y="2857500"/>
              <a:ext cx="5143500" cy="666750"/>
              <a:chOff x="857250" y="2857500"/>
              <a:chExt cx="5143500" cy="6667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857250" y="2857500"/>
                <a:ext cx="5143500" cy="66675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ED8936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32510" y="3013710"/>
                <a:ext cx="114381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references/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35368" y="3276124"/>
                <a:ext cx="159115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参考文档和模板（可选）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6191250" y="2857500"/>
              <a:ext cx="5143500" cy="666750"/>
              <a:chOff x="6191250" y="2857500"/>
              <a:chExt cx="5143500" cy="6667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6191250" y="2857500"/>
                <a:ext cx="5143500" cy="66675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805AD5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366510" y="3013710"/>
                <a:ext cx="103340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templates/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369368" y="3276124"/>
                <a:ext cx="207530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模板库 布局/图表/图标（可选）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857250" y="3619500"/>
              <a:ext cx="5143500" cy="666750"/>
              <a:chOff x="857250" y="3619500"/>
              <a:chExt cx="5143500" cy="6667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857250" y="3619500"/>
                <a:ext cx="5143500" cy="66675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E53E3E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032510" y="3775710"/>
                <a:ext cx="73896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output/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035368" y="4038124"/>
                <a:ext cx="144875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技能输出目录（可选）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6191250" y="3619500"/>
              <a:ext cx="5143500" cy="666750"/>
              <a:chOff x="6191250" y="3619500"/>
              <a:chExt cx="5143500" cy="6667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191250" y="3619500"/>
                <a:ext cx="5143500" cy="66675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DD6B20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366510" y="3775710"/>
                <a:ext cx="101500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README.md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369368" y="4038124"/>
                <a:ext cx="187594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版本记录、使用说明（推荐）</a:t>
                </a:r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838200" y="4600575"/>
              <a:ext cx="202784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SKILL.md 核心内容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923925" y="5210175"/>
              <a:ext cx="3279696" cy="223837"/>
              <a:chOff x="923925" y="5210175"/>
              <a:chExt cx="3279696" cy="223837"/>
            </a:xfrm>
          </p:grpSpPr>
          <p:sp>
            <p:nvSpPr>
              <p:cNvPr id="33" name="Ellipse 33"/>
              <p:cNvSpPr/>
              <p:nvPr/>
            </p:nvSpPr>
            <p:spPr>
              <a:xfrm>
                <a:off x="923925" y="5210175"/>
                <a:ext cx="152400" cy="152400"/>
              </a:xfrm>
              <a:prstGeom prst="ellipse">
                <a:avLst/>
              </a:prstGeom>
              <a:solidFill>
                <a:srgbClr val="3182CE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224915" y="5220652"/>
                <a:ext cx="297870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触发规则：name, description, keywords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923925" y="5543550"/>
              <a:ext cx="2474595" cy="223838"/>
              <a:chOff x="923925" y="5543550"/>
              <a:chExt cx="2474595" cy="223838"/>
            </a:xfrm>
          </p:grpSpPr>
          <p:sp>
            <p:nvSpPr>
              <p:cNvPr id="36" name="Ellipse 36"/>
              <p:cNvSpPr/>
              <p:nvPr/>
            </p:nvSpPr>
            <p:spPr>
              <a:xfrm>
                <a:off x="923925" y="5543550"/>
                <a:ext cx="152400" cy="152400"/>
              </a:xfrm>
              <a:prstGeom prst="ellipse">
                <a:avLst/>
              </a:prstGeom>
              <a:solidFill>
                <a:srgbClr val="38B2AC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224915" y="5554028"/>
                <a:ext cx="21736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执行流程：步骤说明、工具调用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923925" y="5876925"/>
              <a:ext cx="2474595" cy="223837"/>
              <a:chOff x="923925" y="5876925"/>
              <a:chExt cx="2474595" cy="223837"/>
            </a:xfrm>
          </p:grpSpPr>
          <p:sp>
            <p:nvSpPr>
              <p:cNvPr id="39" name="Ellipse 39"/>
              <p:cNvSpPr/>
              <p:nvPr/>
            </p:nvSpPr>
            <p:spPr>
              <a:xfrm>
                <a:off x="923925" y="5876925"/>
                <a:ext cx="152400" cy="152400"/>
              </a:xfrm>
              <a:prstGeom prst="ellipse">
                <a:avLst/>
              </a:prstGeom>
              <a:solidFill>
                <a:srgbClr val="ED8936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224915" y="5887402"/>
                <a:ext cx="21736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输出规范：格式、路径、交付物</a:t>
                </a:r>
              </a:p>
            </p:txBody>
          </p:sp>
        </p:grpSp>
      </p:grpSp>
      <p:sp>
        <p:nvSpPr>
          <p:cNvPr id="43" name="TextBox 43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25 / 38</a:t>
            </a:r>
          </a:p>
        </p:txBody>
      </p:sp>
    </p:spTree>
  </p:cSld>
  <p:clrMapOvr>
    <a:masterClrMapping/>
  </p:clrMapOvr>
  <p:transition 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449893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实战案例：PPT-Master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22" name="Group 22"/>
          <p:cNvGrpSpPr/>
          <p:nvPr/>
        </p:nvGrpSpPr>
        <p:grpSpPr>
          <a:xfrm>
            <a:off x="571500" y="1333500"/>
            <a:ext cx="5143500" cy="2767012"/>
            <a:chOff x="571500" y="1333500"/>
            <a:chExt cx="5143500" cy="2767012"/>
          </a:xfrm>
        </p:grpSpPr>
        <p:sp>
          <p:nvSpPr>
            <p:cNvPr id="6" name="Rectangle 6"/>
            <p:cNvSpPr/>
            <p:nvPr/>
          </p:nvSpPr>
          <p:spPr>
            <a:xfrm>
              <a:off x="571500" y="1333500"/>
              <a:ext cx="5143500" cy="2667000"/>
            </a:xfrm>
            <a:prstGeom prst="rect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6295" y="1584008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技能背景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895350" y="2126456"/>
              <a:ext cx="3884890" cy="228600"/>
              <a:chOff x="895350" y="2126456"/>
              <a:chExt cx="3884890" cy="228600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895350" y="2133600"/>
                <a:ext cx="114300" cy="114300"/>
              </a:xfrm>
              <a:prstGeom prst="ellipse">
                <a:avLst/>
              </a:prstGeom>
              <a:solidFill>
                <a:srgbClr val="A0AEC0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128712" y="2126456"/>
                <a:ext cx="365152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2E8F0"/>
                    </a:solidFill>
                    <a:latin typeface="Source Han Sans CN"/>
                    <a:ea typeface="Microsoft YaHei"/>
                    <a:cs typeface="Source Han Sans CN"/>
                  </a:rPr>
                  <a:t>需求：将 Markdown/PDF/DOCX 转换为专业 PPTX</a:t>
                </a: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895350" y="2459831"/>
              <a:ext cx="3622000" cy="228600"/>
              <a:chOff x="895350" y="2459831"/>
              <a:chExt cx="3622000" cy="228600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895350" y="2466975"/>
                <a:ext cx="114300" cy="114300"/>
              </a:xfrm>
              <a:prstGeom prst="ellipse">
                <a:avLst/>
              </a:prstGeom>
              <a:solidFill>
                <a:srgbClr val="A0AEC0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128712" y="2459831"/>
                <a:ext cx="338863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2E8F0"/>
                    </a:solidFill>
                    <a:latin typeface="Source Han Sans CN"/>
                    <a:ea typeface="Microsoft YaHei"/>
                    <a:cs typeface="Source Han Sans CN"/>
                  </a:rPr>
                  <a:t>核心功能：SVG 生成、多模板支持、PPTX 导出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95350" y="2793206"/>
              <a:ext cx="2701885" cy="228600"/>
              <a:chOff x="895350" y="2793206"/>
              <a:chExt cx="2701885" cy="228600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895350" y="2800350"/>
                <a:ext cx="114300" cy="114300"/>
              </a:xfrm>
              <a:prstGeom prst="ellipse">
                <a:avLst/>
              </a:prstGeom>
              <a:solidFill>
                <a:srgbClr val="A0AEC0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128712" y="2793206"/>
                <a:ext cx="246852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2E8F0"/>
                    </a:solidFill>
                    <a:latin typeface="Source Han Sans CN"/>
                    <a:ea typeface="Microsoft YaHei"/>
                    <a:cs typeface="Source Han Sans CN"/>
                  </a:rPr>
                  <a:t>开发周期：2 周（含测试和优化）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895350" y="3126581"/>
              <a:ext cx="2299334" cy="228600"/>
              <a:chOff x="895350" y="3126581"/>
              <a:chExt cx="2299334" cy="228600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895350" y="3133725"/>
                <a:ext cx="114300" cy="114300"/>
              </a:xfrm>
              <a:prstGeom prst="ellipse">
                <a:avLst/>
              </a:prstGeom>
              <a:solidFill>
                <a:srgbClr val="A0AEC0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128712" y="3126581"/>
                <a:ext cx="206597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2E8F0"/>
                    </a:solidFill>
                    <a:latin typeface="Source Han Sans CN"/>
                    <a:ea typeface="Microsoft YaHei"/>
                    <a:cs typeface="Source Han Sans CN"/>
                  </a:rPr>
                  <a:t>已发布到 ClawHub 技能市场</a:t>
                </a:r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838200" y="355282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D8936"/>
                  </a:solidFill>
                  <a:latin typeface="Source Han Sans CN"/>
                  <a:ea typeface="Microsoft YaHei"/>
                  <a:cs typeface="Source Han Sans CN"/>
                </a:rPr>
                <a:t>技术亮点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3915" y="3887152"/>
              <a:ext cx="30093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EEBC8"/>
                  </a:solidFill>
                  <a:latin typeface="Source Han Sans CN"/>
                  <a:ea typeface="Microsoft YaHei"/>
                  <a:cs typeface="Source Han Sans CN"/>
                </a:rPr>
                <a:t>• 原生 PPTX 形状（非图片）• 20+ 专业模板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905500" y="1333500"/>
            <a:ext cx="5905500" cy="4762500"/>
            <a:chOff x="5905500" y="1333500"/>
            <a:chExt cx="5905500" cy="4762500"/>
          </a:xfrm>
        </p:grpSpPr>
        <p:sp>
          <p:nvSpPr>
            <p:cNvPr id="23" name="Rectangle 23"/>
            <p:cNvSpPr/>
            <p:nvPr/>
          </p:nvSpPr>
          <p:spPr>
            <a:xfrm>
              <a:off x="5905500" y="1333500"/>
              <a:ext cx="5905500" cy="4762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170295" y="1584008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使用示例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191250" y="2000250"/>
              <a:ext cx="5334000" cy="38100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68415" y="2220278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# 1. 项目初始化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69368" y="2514124"/>
              <a:ext cx="27303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8B2AC"/>
                  </a:solidFill>
                  <a:latin typeface="Consolas"/>
                  <a:ea typeface="Microsoft YaHei"/>
                  <a:cs typeface="Consolas"/>
                </a:rPr>
                <a:t>python3 scripts/project_manager.py \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59868" y="2752249"/>
              <a:ext cx="26520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8B2AC"/>
                  </a:solidFill>
                  <a:latin typeface="Consolas"/>
                  <a:ea typeface="Microsoft YaHei"/>
                  <a:cs typeface="Consolas"/>
                </a:rPr>
                <a:t>init my_presentation --format ppt169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68415" y="3125152"/>
              <a:ext cx="11384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# 2. 导入源文件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69368" y="3418999"/>
              <a:ext cx="27303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D8936"/>
                  </a:solidFill>
                  <a:latin typeface="Consolas"/>
                  <a:ea typeface="Microsoft YaHei"/>
                  <a:cs typeface="Consolas"/>
                </a:rPr>
                <a:t>python3 scripts/project_manager.py \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59868" y="3657124"/>
              <a:ext cx="260218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D8936"/>
                  </a:solidFill>
                  <a:latin typeface="Consolas"/>
                  <a:ea typeface="Microsoft YaHei"/>
                  <a:cs typeface="Consolas"/>
                </a:rPr>
                <a:t>import-sources &lt;project&gt; source.md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68415" y="4030028"/>
              <a:ext cx="1061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# 3. 导出 PPTX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69368" y="4323874"/>
              <a:ext cx="31361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05AD5"/>
                  </a:solidFill>
                  <a:latin typeface="Consolas"/>
                  <a:ea typeface="Microsoft YaHei"/>
                  <a:cs typeface="Consolas"/>
                </a:rPr>
                <a:t>python3 scripts/svg_to_pptx.py &lt;project&gt; \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59868" y="4561999"/>
              <a:ext cx="5445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05AD5"/>
                  </a:solidFill>
                  <a:latin typeface="Consolas"/>
                  <a:ea typeface="Microsoft YaHei"/>
                  <a:cs typeface="Consolas"/>
                </a:rPr>
                <a:t>-s final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68415" y="4934902"/>
              <a:ext cx="6170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# 输出：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69368" y="5228749"/>
              <a:ext cx="19329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8B2AC"/>
                  </a:solidFill>
                  <a:latin typeface="Consolas"/>
                  <a:ea typeface="Microsoft YaHei"/>
                  <a:cs typeface="Consolas"/>
                </a:rPr>
                <a:t>✅ PPTX 已导出：output.pptx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26 / 38</a:t>
            </a:r>
          </a:p>
        </p:txBody>
      </p:sp>
    </p:spTree>
  </p:cSld>
  <p:clrMapOvr>
    <a:masterClrMapping/>
  </p:clrMapOvr>
  <p:transition 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462314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PPT-Master 核心工作流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762000" y="1524000"/>
            <a:ext cx="1905000" cy="952500"/>
            <a:chOff x="762000" y="1524000"/>
            <a:chExt cx="1905000" cy="952500"/>
          </a:xfrm>
        </p:grpSpPr>
        <p:sp>
          <p:nvSpPr>
            <p:cNvPr id="6" name="Rectangle 6"/>
            <p:cNvSpPr/>
            <p:nvPr/>
          </p:nvSpPr>
          <p:spPr>
            <a:xfrm>
              <a:off x="762000" y="1524000"/>
              <a:ext cx="1905000" cy="952500"/>
            </a:xfrm>
            <a:prstGeom prst="rect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60750" y="1806892"/>
              <a:ext cx="13074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1. 源内容处理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42882" y="2133124"/>
              <a:ext cx="9432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BEE3F8"/>
                  </a:solidFill>
                  <a:latin typeface="Source Han Sans CN"/>
                  <a:ea typeface="Microsoft YaHei"/>
                  <a:cs typeface="Source Han Sans CN"/>
                </a:rPr>
                <a:t>PDF/DOCX→MD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857500" y="1524000"/>
            <a:ext cx="1905000" cy="952500"/>
            <a:chOff x="2857500" y="1524000"/>
            <a:chExt cx="1905000" cy="952500"/>
          </a:xfrm>
        </p:grpSpPr>
        <p:sp>
          <p:nvSpPr>
            <p:cNvPr id="10" name="Rectangle 10"/>
            <p:cNvSpPr/>
            <p:nvPr/>
          </p:nvSpPr>
          <p:spPr>
            <a:xfrm>
              <a:off x="2857500" y="1524000"/>
              <a:ext cx="1905000" cy="952500"/>
            </a:xfrm>
            <a:prstGeom prst="rect">
              <a:avLst/>
            </a:prstGeom>
            <a:solidFill>
              <a:srgbClr val="38B2A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130372" y="1806892"/>
              <a:ext cx="13592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2. 项目初始化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70421" y="2133124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B2F5EA"/>
                  </a:solidFill>
                  <a:latin typeface="Source Han Sans CN"/>
                  <a:ea typeface="Microsoft YaHei"/>
                  <a:cs typeface="Source Han Sans CN"/>
                </a:rPr>
                <a:t>创建目录结构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953000" y="1524000"/>
            <a:ext cx="1905000" cy="952500"/>
            <a:chOff x="4953000" y="1524000"/>
            <a:chExt cx="1905000" cy="952500"/>
          </a:xfrm>
        </p:grpSpPr>
        <p:sp>
          <p:nvSpPr>
            <p:cNvPr id="14" name="Rectangle 14"/>
            <p:cNvSpPr/>
            <p:nvPr/>
          </p:nvSpPr>
          <p:spPr>
            <a:xfrm>
              <a:off x="4953000" y="1524000"/>
              <a:ext cx="1905000" cy="952500"/>
            </a:xfrm>
            <a:prstGeom prst="rect">
              <a:avLst/>
            </a:prstGeom>
            <a:solidFill>
              <a:srgbClr val="ED893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329385" y="1711642"/>
              <a:ext cx="11522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3. 设计规范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59848" y="2045970"/>
              <a:ext cx="12913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EEBC8"/>
                  </a:solidFill>
                  <a:latin typeface="Source Han Sans CN"/>
                  <a:ea typeface="Microsoft YaHei"/>
                  <a:cs typeface="Source Han Sans CN"/>
                </a:rPr>
                <a:t>Eight Confirmations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35225" y="2236470"/>
              <a:ext cx="7405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53E3E"/>
                  </a:solidFill>
                  <a:latin typeface="Source Han Sans CN"/>
                  <a:ea typeface="Microsoft YaHei"/>
                  <a:cs typeface="Source Han Sans CN"/>
                </a:rPr>
                <a:t>⛔ BLOCKING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048500" y="1524000"/>
            <a:ext cx="1905000" cy="952500"/>
            <a:chOff x="7048500" y="1524000"/>
            <a:chExt cx="1905000" cy="952500"/>
          </a:xfrm>
        </p:grpSpPr>
        <p:sp>
          <p:nvSpPr>
            <p:cNvPr id="19" name="Rectangle 19"/>
            <p:cNvSpPr/>
            <p:nvPr/>
          </p:nvSpPr>
          <p:spPr>
            <a:xfrm>
              <a:off x="7048500" y="1524000"/>
              <a:ext cx="1905000" cy="952500"/>
            </a:xfrm>
            <a:prstGeom prst="rect">
              <a:avLst/>
            </a:prstGeom>
            <a:solidFill>
              <a:srgbClr val="805AD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30061" y="1806892"/>
              <a:ext cx="11418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4. SVG 生成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03820" y="213312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9D8FD"/>
                  </a:solidFill>
                  <a:latin typeface="Source Han Sans CN"/>
                  <a:ea typeface="Microsoft YaHei"/>
                  <a:cs typeface="Source Han Sans CN"/>
                </a:rPr>
                <a:t>逐页生成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144000" y="1524000"/>
            <a:ext cx="1905000" cy="952500"/>
            <a:chOff x="9144000" y="1524000"/>
            <a:chExt cx="1905000" cy="952500"/>
          </a:xfrm>
        </p:grpSpPr>
        <p:sp>
          <p:nvSpPr>
            <p:cNvPr id="23" name="Rectangle 23"/>
            <p:cNvSpPr/>
            <p:nvPr/>
          </p:nvSpPr>
          <p:spPr>
            <a:xfrm>
              <a:off x="9144000" y="1524000"/>
              <a:ext cx="1905000" cy="952500"/>
            </a:xfrm>
            <a:prstGeom prst="rect">
              <a:avLst/>
            </a:prstGeom>
            <a:solidFill>
              <a:srgbClr val="E53E3E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68629" y="1806892"/>
              <a:ext cx="125574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5. 导出 PPTX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17441" y="2133124"/>
              <a:ext cx="7581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ED7D7"/>
                  </a:solidFill>
                  <a:latin typeface="Source Han Sans CN"/>
                  <a:ea typeface="Microsoft YaHei"/>
                  <a:cs typeface="Source Han Sans CN"/>
                </a:rPr>
                <a:t>原生 + 兼容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2667000" y="200025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sp>
        <p:nvSpPr>
          <p:cNvPr id="28" name="Freeform 28"/>
          <p:cNvSpPr/>
          <p:nvPr/>
        </p:nvSpPr>
        <p:spPr>
          <a:xfrm>
            <a:off x="4762500" y="200025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6858000" y="200025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sp>
        <p:nvSpPr>
          <p:cNvPr id="30" name="Freeform 30"/>
          <p:cNvSpPr/>
          <p:nvPr/>
        </p:nvSpPr>
        <p:spPr>
          <a:xfrm>
            <a:off x="8953500" y="200025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grpSp>
        <p:nvGrpSpPr>
          <p:cNvPr id="35" name="Group 35"/>
          <p:cNvGrpSpPr/>
          <p:nvPr/>
        </p:nvGrpSpPr>
        <p:grpSpPr>
          <a:xfrm>
            <a:off x="2857500" y="2857500"/>
            <a:ext cx="6477000" cy="1143000"/>
            <a:chOff x="2857500" y="2857500"/>
            <a:chExt cx="6477000" cy="1143000"/>
          </a:xfrm>
        </p:grpSpPr>
        <p:sp>
          <p:nvSpPr>
            <p:cNvPr id="31" name="Rectangle 31"/>
            <p:cNvSpPr/>
            <p:nvPr/>
          </p:nvSpPr>
          <p:spPr>
            <a:xfrm>
              <a:off x="2857500" y="2857500"/>
              <a:ext cx="6477000" cy="1143000"/>
            </a:xfrm>
            <a:prstGeom prst="rect">
              <a:avLst/>
            </a:prstGeom>
            <a:solidFill>
              <a:srgbClr val="EBF8FF"/>
            </a:solidFill>
            <a:ln w="19050">
              <a:solidFill>
                <a:srgbClr val="3182CE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128010" y="3061335"/>
              <a:ext cx="10794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5.1 质量检查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29915" y="3363278"/>
              <a:ext cx="43205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svg_quality_checker.py - 检查 SVG 格式、布局、图表正确性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129915" y="3649028"/>
              <a:ext cx="22196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ource Han Sans CN"/>
                  <a:ea typeface="Microsoft YaHei"/>
                  <a:cs typeface="Source Han Sans CN"/>
                </a:rPr>
                <a:t>如有问题 → 返回步骤 4 重新生成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52500" y="4286250"/>
            <a:ext cx="10287000" cy="1905000"/>
            <a:chOff x="952500" y="4286250"/>
            <a:chExt cx="10287000" cy="1905000"/>
          </a:xfrm>
        </p:grpSpPr>
        <p:sp>
          <p:nvSpPr>
            <p:cNvPr id="36" name="Rectangle 36"/>
            <p:cNvSpPr/>
            <p:nvPr/>
          </p:nvSpPr>
          <p:spPr>
            <a:xfrm>
              <a:off x="952500" y="4286250"/>
              <a:ext cx="10287000" cy="19050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217295" y="4536758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输出保证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1304925" y="5114925"/>
              <a:ext cx="3458646" cy="230981"/>
              <a:chOff x="1304925" y="5114925"/>
              <a:chExt cx="3458646" cy="230981"/>
            </a:xfrm>
          </p:grpSpPr>
          <p:sp>
            <p:nvSpPr>
              <p:cNvPr id="38" name="Ellipse 38"/>
              <p:cNvSpPr/>
              <p:nvPr/>
            </p:nvSpPr>
            <p:spPr>
              <a:xfrm>
                <a:off x="1304925" y="5114925"/>
                <a:ext cx="152400" cy="152400"/>
              </a:xfrm>
              <a:prstGeom prst="ellipse">
                <a:avLst/>
              </a:prstGeom>
              <a:solidFill>
                <a:srgbClr val="38B2AC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1604962" y="5117306"/>
                <a:ext cx="315860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原生可编辑的 PowerPoint 形状（非图片）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1304925" y="5448300"/>
              <a:ext cx="3138249" cy="230981"/>
              <a:chOff x="1304925" y="5448300"/>
              <a:chExt cx="3138249" cy="230981"/>
            </a:xfrm>
          </p:grpSpPr>
          <p:sp>
            <p:nvSpPr>
              <p:cNvPr id="41" name="Ellipse 41"/>
              <p:cNvSpPr/>
              <p:nvPr/>
            </p:nvSpPr>
            <p:spPr>
              <a:xfrm>
                <a:off x="1304925" y="5448300"/>
                <a:ext cx="152400" cy="152400"/>
              </a:xfrm>
              <a:prstGeom prst="ellipse">
                <a:avLst/>
              </a:prstGeom>
              <a:solidFill>
                <a:srgbClr val="ED8936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1604962" y="5450681"/>
                <a:ext cx="28382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支持所有 Office 版本（含 PNG 后备）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1304925" y="5781675"/>
              <a:ext cx="2292072" cy="230981"/>
              <a:chOff x="1304925" y="5781675"/>
              <a:chExt cx="2292072" cy="230981"/>
            </a:xfrm>
          </p:grpSpPr>
          <p:sp>
            <p:nvSpPr>
              <p:cNvPr id="44" name="Ellipse 44"/>
              <p:cNvSpPr/>
              <p:nvPr/>
            </p:nvSpPr>
            <p:spPr>
              <a:xfrm>
                <a:off x="1304925" y="5781675"/>
                <a:ext cx="152400" cy="152400"/>
              </a:xfrm>
              <a:prstGeom prst="ellipse">
                <a:avLst/>
              </a:prstGeom>
              <a:solidFill>
                <a:srgbClr val="805AD5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1604962" y="5784056"/>
                <a:ext cx="199203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专业设计模板（20+ 可选）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5305425" y="5114925"/>
              <a:ext cx="2464593" cy="230981"/>
              <a:chOff x="5305425" y="5114925"/>
              <a:chExt cx="2464593" cy="230981"/>
            </a:xfrm>
          </p:grpSpPr>
          <p:sp>
            <p:nvSpPr>
              <p:cNvPr id="47" name="Ellipse 47"/>
              <p:cNvSpPr/>
              <p:nvPr/>
            </p:nvSpPr>
            <p:spPr>
              <a:xfrm>
                <a:off x="5305425" y="5114925"/>
                <a:ext cx="152400" cy="152400"/>
              </a:xfrm>
              <a:prstGeom prst="ellipse">
                <a:avLst/>
              </a:prstGeom>
              <a:solidFill>
                <a:srgbClr val="E53E3E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5605462" y="5117306"/>
                <a:ext cx="216455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完整的图表、图标、布局系统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5305425" y="5448300"/>
              <a:ext cx="1478756" cy="230981"/>
              <a:chOff x="5305425" y="5448300"/>
              <a:chExt cx="1478756" cy="230981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5305425" y="5448300"/>
                <a:ext cx="152400" cy="152400"/>
              </a:xfrm>
              <a:prstGeom prst="ellipse">
                <a:avLst/>
              </a:prstGeom>
              <a:solidFill>
                <a:srgbClr val="3182CE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5605462" y="5450681"/>
                <a:ext cx="117871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企业级质量标准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5305425" y="5781675"/>
              <a:ext cx="2135981" cy="230981"/>
              <a:chOff x="5305425" y="5781675"/>
              <a:chExt cx="2135981" cy="230981"/>
            </a:xfrm>
          </p:grpSpPr>
          <p:sp>
            <p:nvSpPr>
              <p:cNvPr id="53" name="Ellipse 53"/>
              <p:cNvSpPr/>
              <p:nvPr/>
            </p:nvSpPr>
            <p:spPr>
              <a:xfrm>
                <a:off x="5305425" y="5781675"/>
                <a:ext cx="152400" cy="152400"/>
              </a:xfrm>
              <a:prstGeom prst="ellipse">
                <a:avLst/>
              </a:prstGeom>
              <a:solidFill>
                <a:srgbClr val="DD6B20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5605462" y="5784056"/>
                <a:ext cx="18359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一键导出，无需人工干预</a:t>
                </a:r>
              </a:p>
            </p:txBody>
          </p:sp>
        </p:grpSp>
      </p:grpSp>
      <p:sp>
        <p:nvSpPr>
          <p:cNvPr id="57" name="TextBox 57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27 / 38</a:t>
            </a:r>
          </a:p>
        </p:txBody>
      </p:sp>
    </p:spTree>
  </p:cSld>
  <p:clrMapOvr>
    <a:masterClrMapping/>
  </p:clrMapOvr>
  <p:transition 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33809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常见坑与避坑方案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49" name="Group 49"/>
          <p:cNvGrpSpPr/>
          <p:nvPr/>
        </p:nvGrpSpPr>
        <p:grpSpPr>
          <a:xfrm>
            <a:off x="571500" y="1238250"/>
            <a:ext cx="11049000" cy="5141119"/>
            <a:chOff x="571500" y="1238250"/>
            <a:chExt cx="11049000" cy="5141119"/>
          </a:xfrm>
        </p:grpSpPr>
        <p:sp>
          <p:nvSpPr>
            <p:cNvPr id="6" name="Rectangle 6"/>
            <p:cNvSpPr/>
            <p:nvPr/>
          </p:nvSpPr>
          <p:spPr>
            <a:xfrm>
              <a:off x="571500" y="1238250"/>
              <a:ext cx="11049000" cy="49530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57250" y="1524000"/>
              <a:ext cx="5143500" cy="1047750"/>
              <a:chOff x="857250" y="1524000"/>
              <a:chExt cx="5143500" cy="10477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857250" y="1524000"/>
                <a:ext cx="5143500" cy="1047750"/>
              </a:xfrm>
              <a:prstGeom prst="rect">
                <a:avLst/>
              </a:prstGeom>
              <a:solidFill>
                <a:srgbClr val="FFF5F5"/>
              </a:solidFill>
              <a:ln w="9525">
                <a:solidFill>
                  <a:srgbClr val="E53E3E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032510" y="1680210"/>
                <a:ext cx="161307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53E3E"/>
                    </a:solidFill>
                    <a:latin typeface="Source Han Sans CN"/>
                    <a:ea typeface="Microsoft YaHei"/>
                    <a:cs typeface="Source Han Sans CN"/>
                  </a:rPr>
                  <a:t>坑 1：技能触发失败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035368" y="1942624"/>
                <a:ext cx="245266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现象：用户说"生成 PPT"，技能不响应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35368" y="2180749"/>
                <a:ext cx="341385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解决：SKILL.md 的 description 中添加中英文关键词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6191250" y="1524000"/>
              <a:ext cx="5143500" cy="1047750"/>
              <a:chOff x="6191250" y="1524000"/>
              <a:chExt cx="5143500" cy="10477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6191250" y="1524000"/>
                <a:ext cx="5143500" cy="1047750"/>
              </a:xfrm>
              <a:prstGeom prst="rect">
                <a:avLst/>
              </a:prstGeom>
              <a:solidFill>
                <a:srgbClr val="FEF3E2"/>
              </a:solidFill>
              <a:ln w="9525">
                <a:solidFill>
                  <a:srgbClr val="ED8936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6366510" y="1680210"/>
                <a:ext cx="147506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D8936"/>
                    </a:solidFill>
                    <a:latin typeface="Source Han Sans CN"/>
                    <a:ea typeface="Microsoft YaHei"/>
                    <a:cs typeface="Source Han Sans CN"/>
                  </a:rPr>
                  <a:t>坑 2：跨阶段执行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369368" y="1942624"/>
                <a:ext cx="290834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现象：AI 在 Strategist 阶段就生成 SVG 代码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369368" y="2180749"/>
                <a:ext cx="340673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解决：在 SKILL.md 顶部用 ⛔ BLOCKING 标注执行纪律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857250" y="2714625"/>
              <a:ext cx="5143500" cy="1047750"/>
              <a:chOff x="857250" y="2714625"/>
              <a:chExt cx="5143500" cy="10477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857250" y="2714625"/>
                <a:ext cx="5143500" cy="1047750"/>
              </a:xfrm>
              <a:prstGeom prst="rect">
                <a:avLst/>
              </a:prstGeom>
              <a:solidFill>
                <a:srgbClr val="E6FFFA"/>
              </a:solidFill>
              <a:ln w="9525">
                <a:solidFill>
                  <a:srgbClr val="38B2AC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32510" y="2870835"/>
                <a:ext cx="220195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38B2AC"/>
                    </a:solidFill>
                    <a:latin typeface="Source Han Sans CN"/>
                    <a:ea typeface="Microsoft YaHei"/>
                    <a:cs typeface="Source Han Sans CN"/>
                  </a:rPr>
                  <a:t>坑 3：SVG 生成质量不稳定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35368" y="3133249"/>
                <a:ext cx="205394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现象：有时生成的 SVG 格式错乱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35368" y="3371374"/>
                <a:ext cx="327145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解决：在 Strategist 输出完整的 design_spec.md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6191250" y="2714625"/>
              <a:ext cx="5143500" cy="1047750"/>
              <a:chOff x="6191250" y="2714625"/>
              <a:chExt cx="5143500" cy="10477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191250" y="2714625"/>
                <a:ext cx="5143500" cy="1047750"/>
              </a:xfrm>
              <a:prstGeom prst="rect">
                <a:avLst/>
              </a:prstGeom>
              <a:solidFill>
                <a:srgbClr val="FAF5FF"/>
              </a:solidFill>
              <a:ln w="9525">
                <a:solidFill>
                  <a:srgbClr val="805AD5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366510" y="2870835"/>
                <a:ext cx="23031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805AD5"/>
                    </a:solidFill>
                    <a:latin typeface="Source Han Sans CN"/>
                    <a:ea typeface="Microsoft YaHei"/>
                    <a:cs typeface="Source Han Sans CN"/>
                  </a:rPr>
                  <a:t>坑 4：PPTX 导出后不可编辑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369368" y="3133249"/>
                <a:ext cx="251674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现象：PPTX 中的图表是图片，无法编辑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369368" y="3371374"/>
                <a:ext cx="344233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解决：使用 python-pptx 的 Shape 对象构建原生形状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857250" y="3905250"/>
              <a:ext cx="5143500" cy="1047750"/>
              <a:chOff x="857250" y="3905250"/>
              <a:chExt cx="5143500" cy="10477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857250" y="3905250"/>
                <a:ext cx="5143500" cy="1047750"/>
              </a:xfrm>
              <a:prstGeom prst="rect">
                <a:avLst/>
              </a:prstGeom>
              <a:solidFill>
                <a:srgbClr val="EBF8FF"/>
              </a:solidFill>
              <a:ln w="9525">
                <a:solidFill>
                  <a:srgbClr val="3182CE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032510" y="4061460"/>
                <a:ext cx="165908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3182CE"/>
                    </a:solidFill>
                    <a:latin typeface="Source Han Sans CN"/>
                    <a:ea typeface="Microsoft YaHei"/>
                    <a:cs typeface="Source Han Sans CN"/>
                  </a:rPr>
                  <a:t>坑 5：模板管理混乱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035368" y="4323874"/>
                <a:ext cx="201834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现象：模板太多，找不到合适的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035368" y="4561999"/>
                <a:ext cx="315753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解决：建立模板索引，按场景分类，提供选择指南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840105" y="5235892"/>
              <a:ext cx="4880610" cy="1143477"/>
              <a:chOff x="840105" y="5235892"/>
              <a:chExt cx="4880610" cy="1143477"/>
            </a:xfrm>
          </p:grpSpPr>
          <p:sp>
            <p:nvSpPr>
              <p:cNvPr id="32" name="TextBox 32"/>
              <p:cNvSpPr txBox="1"/>
              <p:nvPr/>
            </p:nvSpPr>
            <p:spPr>
              <a:xfrm>
                <a:off x="840105" y="5235892"/>
                <a:ext cx="169049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技能开发检查清单</a:t>
                </a:r>
              </a:p>
            </p:txBody>
          </p:sp>
          <p:grpSp>
            <p:nvGrpSpPr>
              <p:cNvPr id="35" name="Group 35"/>
              <p:cNvGrpSpPr/>
              <p:nvPr/>
            </p:nvGrpSpPr>
            <p:grpSpPr>
              <a:xfrm>
                <a:off x="942975" y="5609749"/>
                <a:ext cx="2156151" cy="198120"/>
                <a:chOff x="942975" y="5609749"/>
                <a:chExt cx="2156151" cy="198120"/>
              </a:xfrm>
            </p:grpSpPr>
            <p:sp>
              <p:nvSpPr>
                <p:cNvPr id="33" name="Ellipse 33"/>
                <p:cNvSpPr/>
                <p:nvPr/>
              </p:nvSpPr>
              <p:spPr>
                <a:xfrm>
                  <a:off x="942975" y="5610225"/>
                  <a:ext cx="114300" cy="114300"/>
                </a:xfrm>
                <a:prstGeom prst="ellipse">
                  <a:avLst/>
                </a:prstGeom>
                <a:solidFill>
                  <a:srgbClr val="38B2AC"/>
                </a:solidFill>
                <a:ln>
                  <a:noFill/>
                </a:ln>
              </p:spPr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1130618" y="5609749"/>
                  <a:ext cx="1968508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4A5568"/>
                      </a:solidFill>
                      <a:latin typeface="Source Han Sans CN"/>
                      <a:ea typeface="Microsoft YaHei"/>
                      <a:cs typeface="Source Han Sans CN"/>
                    </a:rPr>
                    <a:t>SKILL.md 包含完整的触发规则</a:t>
                  </a:r>
                </a:p>
              </p:txBody>
            </p:sp>
          </p:grpSp>
          <p:grpSp>
            <p:nvGrpSpPr>
              <p:cNvPr id="38" name="Group 38"/>
              <p:cNvGrpSpPr/>
              <p:nvPr/>
            </p:nvGrpSpPr>
            <p:grpSpPr>
              <a:xfrm>
                <a:off x="3514725" y="5609749"/>
                <a:ext cx="2205990" cy="198120"/>
                <a:chOff x="3514725" y="5609749"/>
                <a:chExt cx="2205990" cy="198120"/>
              </a:xfrm>
            </p:grpSpPr>
            <p:sp>
              <p:nvSpPr>
                <p:cNvPr id="36" name="Ellipse 36"/>
                <p:cNvSpPr/>
                <p:nvPr/>
              </p:nvSpPr>
              <p:spPr>
                <a:xfrm>
                  <a:off x="3514725" y="5610225"/>
                  <a:ext cx="114300" cy="114300"/>
                </a:xfrm>
                <a:prstGeom prst="ellipse">
                  <a:avLst/>
                </a:prstGeom>
                <a:solidFill>
                  <a:srgbClr val="38B2AC"/>
                </a:solidFill>
                <a:ln>
                  <a:noFill/>
                </a:ln>
              </p:spPr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3702368" y="5609749"/>
                  <a:ext cx="2018347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4A5568"/>
                      </a:solidFill>
                      <a:latin typeface="Source Han Sans CN"/>
                      <a:ea typeface="Microsoft YaHei"/>
                      <a:cs typeface="Source Han Sans CN"/>
                    </a:rPr>
                    <a:t>执行流程有明确的步骤和检查点</a:t>
                  </a:r>
                </a:p>
              </p:txBody>
            </p:sp>
          </p:grpSp>
          <p:grpSp>
            <p:nvGrpSpPr>
              <p:cNvPr id="41" name="Group 41"/>
              <p:cNvGrpSpPr/>
              <p:nvPr/>
            </p:nvGrpSpPr>
            <p:grpSpPr>
              <a:xfrm>
                <a:off x="942975" y="5895499"/>
                <a:ext cx="2035112" cy="198120"/>
                <a:chOff x="942975" y="5895499"/>
                <a:chExt cx="2035112" cy="198120"/>
              </a:xfrm>
            </p:grpSpPr>
            <p:sp>
              <p:nvSpPr>
                <p:cNvPr id="39" name="Ellipse 39"/>
                <p:cNvSpPr/>
                <p:nvPr/>
              </p:nvSpPr>
              <p:spPr>
                <a:xfrm>
                  <a:off x="942975" y="5895975"/>
                  <a:ext cx="114300" cy="114300"/>
                </a:xfrm>
                <a:prstGeom prst="ellipse">
                  <a:avLst/>
                </a:prstGeom>
                <a:solidFill>
                  <a:srgbClr val="38B2AC"/>
                </a:solidFill>
                <a:ln>
                  <a:noFill/>
                </a:ln>
              </p:spPr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1130618" y="5895499"/>
                  <a:ext cx="1847469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4A5568"/>
                      </a:solidFill>
                      <a:latin typeface="Source Han Sans CN"/>
                      <a:ea typeface="Microsoft YaHei"/>
                      <a:cs typeface="Source Han Sans CN"/>
                    </a:rPr>
                    <a:t>关键步骤有 ⛔ BLOCKING 标注</a:t>
                  </a:r>
                </a:p>
              </p:txBody>
            </p:sp>
          </p:grpSp>
          <p:grpSp>
            <p:nvGrpSpPr>
              <p:cNvPr id="44" name="Group 44"/>
              <p:cNvGrpSpPr/>
              <p:nvPr/>
            </p:nvGrpSpPr>
            <p:grpSpPr>
              <a:xfrm>
                <a:off x="3514725" y="5895499"/>
                <a:ext cx="1921193" cy="198120"/>
                <a:chOff x="3514725" y="5895499"/>
                <a:chExt cx="1921193" cy="198120"/>
              </a:xfrm>
            </p:grpSpPr>
            <p:sp>
              <p:nvSpPr>
                <p:cNvPr id="42" name="Ellipse 42"/>
                <p:cNvSpPr/>
                <p:nvPr/>
              </p:nvSpPr>
              <p:spPr>
                <a:xfrm>
                  <a:off x="3514725" y="5895975"/>
                  <a:ext cx="114300" cy="114300"/>
                </a:xfrm>
                <a:prstGeom prst="ellipse">
                  <a:avLst/>
                </a:prstGeom>
                <a:solidFill>
                  <a:srgbClr val="38B2AC"/>
                </a:solidFill>
                <a:ln>
                  <a:noFill/>
                </a:ln>
              </p:spPr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3702368" y="5895499"/>
                  <a:ext cx="1733550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4A5568"/>
                      </a:solidFill>
                      <a:latin typeface="Source Han Sans CN"/>
                      <a:ea typeface="Microsoft YaHei"/>
                      <a:cs typeface="Source Han Sans CN"/>
                    </a:rPr>
                    <a:t>脚本有错误处理和日志输出</a:t>
                  </a:r>
                </a:p>
              </p:txBody>
            </p:sp>
          </p:grpSp>
          <p:grpSp>
            <p:nvGrpSpPr>
              <p:cNvPr id="47" name="Group 47"/>
              <p:cNvGrpSpPr/>
              <p:nvPr/>
            </p:nvGrpSpPr>
            <p:grpSpPr>
              <a:xfrm>
                <a:off x="942975" y="6181249"/>
                <a:ext cx="2440948" cy="198120"/>
                <a:chOff x="942975" y="6181249"/>
                <a:chExt cx="2440948" cy="198120"/>
              </a:xfrm>
            </p:grpSpPr>
            <p:sp>
              <p:nvSpPr>
                <p:cNvPr id="45" name="Ellipse 45"/>
                <p:cNvSpPr/>
                <p:nvPr/>
              </p:nvSpPr>
              <p:spPr>
                <a:xfrm>
                  <a:off x="942975" y="6181725"/>
                  <a:ext cx="114300" cy="114300"/>
                </a:xfrm>
                <a:prstGeom prst="ellipse">
                  <a:avLst/>
                </a:prstGeom>
                <a:solidFill>
                  <a:srgbClr val="ED8936"/>
                </a:solidFill>
                <a:ln>
                  <a:noFill/>
                </a:ln>
              </p:spPr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1130618" y="6181249"/>
                  <a:ext cx="2253305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4A5568"/>
                      </a:solidFill>
                      <a:latin typeface="Source Han Sans CN"/>
                      <a:ea typeface="Microsoft YaHei"/>
                      <a:cs typeface="Source Han Sans CN"/>
                    </a:rPr>
                    <a:t>README.md 包含版本号和使用说明</a:t>
                  </a:r>
                </a:p>
              </p:txBody>
            </p:sp>
          </p:grpSp>
        </p:grpSp>
      </p:grpSp>
      <p:sp>
        <p:nvSpPr>
          <p:cNvPr id="50" name="TextBox 50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28 / 38</a:t>
            </a:r>
          </a:p>
        </p:txBody>
      </p:sp>
    </p:spTree>
  </p:cSld>
  <p:clrMapOvr>
    <a:masterClrMapping/>
  </p:clrMapOvr>
  <p:transition 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422980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Multi-Agent 核心概念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38" name="Group 38"/>
          <p:cNvGrpSpPr/>
          <p:nvPr/>
        </p:nvGrpSpPr>
        <p:grpSpPr>
          <a:xfrm>
            <a:off x="952500" y="1428750"/>
            <a:ext cx="10287000" cy="4572000"/>
            <a:chOff x="952500" y="1428750"/>
            <a:chExt cx="10287000" cy="4572000"/>
          </a:xfrm>
        </p:grpSpPr>
        <p:sp>
          <p:nvSpPr>
            <p:cNvPr id="6" name="Rectangle 6"/>
            <p:cNvSpPr/>
            <p:nvPr/>
          </p:nvSpPr>
          <p:spPr>
            <a:xfrm>
              <a:off x="952500" y="1428750"/>
              <a:ext cx="10287000" cy="45720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238250" y="1714500"/>
              <a:ext cx="3048000" cy="762000"/>
              <a:chOff x="1238250" y="1714500"/>
              <a:chExt cx="3048000" cy="7620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1238250" y="1714500"/>
                <a:ext cx="3048000" cy="762000"/>
              </a:xfrm>
              <a:prstGeom prst="rect">
                <a:avLst/>
              </a:prstGeom>
              <a:solidFill>
                <a:srgbClr val="EBF8FF"/>
              </a:solidFill>
              <a:ln w="9525">
                <a:solidFill>
                  <a:srgbClr val="3182CE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508760" y="1918335"/>
                <a:ext cx="7757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主 Agent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511618" y="2180749"/>
                <a:ext cx="187594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任务协调者，负责路由和汇总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4572000" y="1714500"/>
              <a:ext cx="3048000" cy="762000"/>
              <a:chOff x="4572000" y="1714500"/>
              <a:chExt cx="3048000" cy="7620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4572000" y="1714500"/>
                <a:ext cx="3048000" cy="762000"/>
              </a:xfrm>
              <a:prstGeom prst="rect">
                <a:avLst/>
              </a:prstGeom>
              <a:solidFill>
                <a:srgbClr val="E6FFFA"/>
              </a:solidFill>
              <a:ln w="9525">
                <a:solidFill>
                  <a:srgbClr val="38B2AC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4842510" y="1918335"/>
                <a:ext cx="7757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子 Agent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845368" y="2180749"/>
                <a:ext cx="173355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任务执行者，专注特定领域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7905750" y="1714500"/>
              <a:ext cx="3048000" cy="762000"/>
              <a:chOff x="7905750" y="1714500"/>
              <a:chExt cx="3048000" cy="7620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7905750" y="1714500"/>
                <a:ext cx="3048000" cy="762000"/>
              </a:xfrm>
              <a:prstGeom prst="rect">
                <a:avLst/>
              </a:prstGeom>
              <a:solidFill>
                <a:srgbClr val="FEF3E2"/>
              </a:solidFill>
              <a:ln w="9525">
                <a:solidFill>
                  <a:srgbClr val="ED8936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176260" y="1918335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任务路由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179118" y="2180749"/>
                <a:ext cx="159115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根据关键词匹配任务类型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238250" y="2667000"/>
              <a:ext cx="3048000" cy="762000"/>
              <a:chOff x="1238250" y="2667000"/>
              <a:chExt cx="3048000" cy="7620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1238250" y="2667000"/>
                <a:ext cx="3048000" cy="762000"/>
              </a:xfrm>
              <a:prstGeom prst="rect">
                <a:avLst/>
              </a:prstGeom>
              <a:solidFill>
                <a:srgbClr val="FAF5FF"/>
              </a:solidFill>
              <a:ln w="9525">
                <a:solidFill>
                  <a:srgbClr val="805AD5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508760" y="2870835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会话隔离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511618" y="3133249"/>
                <a:ext cx="178339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每个 Agent 有独立工作空间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4572000" y="2667000"/>
              <a:ext cx="3048000" cy="762000"/>
              <a:chOff x="4572000" y="2667000"/>
              <a:chExt cx="3048000" cy="7620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4572000" y="2667000"/>
                <a:ext cx="3048000" cy="762000"/>
              </a:xfrm>
              <a:prstGeom prst="rect">
                <a:avLst/>
              </a:prstGeom>
              <a:solidFill>
                <a:srgbClr val="FFF5F5"/>
              </a:solidFill>
              <a:ln w="9525">
                <a:solidFill>
                  <a:srgbClr val="E53E3E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842510" y="2870835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状态跟踪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845368" y="3133249"/>
                <a:ext cx="144875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通过共享文件同步状态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7905750" y="2667000"/>
              <a:ext cx="3048000" cy="762000"/>
              <a:chOff x="7905750" y="2667000"/>
              <a:chExt cx="3048000" cy="7620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7905750" y="2667000"/>
                <a:ext cx="3048000" cy="762000"/>
              </a:xfrm>
              <a:prstGeom prst="rect">
                <a:avLst/>
              </a:prstGeom>
              <a:solidFill>
                <a:srgbClr val="F7FAFC"/>
              </a:solidFill>
              <a:ln w="9525">
                <a:solidFill>
                  <a:srgbClr val="DD6B20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176260" y="2870835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结果汇总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79118" y="3133249"/>
                <a:ext cx="164099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主 Agent 收集并整合输出</a:t>
                </a:r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1219200" y="3648075"/>
              <a:ext cx="466167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任务路由规则（task_routing_rules.yaml）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238250" y="4095750"/>
              <a:ext cx="9715500" cy="13335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416368" y="4323874"/>
              <a:ext cx="14487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task_classification: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606868" y="4609624"/>
              <a:ext cx="18261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8B2AC"/>
                  </a:solidFill>
                  <a:latin typeface="Consolas"/>
                  <a:ea typeface="Microsoft YaHei"/>
                  <a:cs typeface="Consolas"/>
                </a:rPr>
                <a:t>- type: complex_research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797368" y="4847749"/>
              <a:ext cx="33782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keywords: ["深度研究", "综合分析", "战略报告"]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797368" y="5085874"/>
              <a:ext cx="20610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primary_agent: tech_analyst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797368" y="5323999"/>
              <a:ext cx="33426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EC0"/>
                  </a:solidFill>
                  <a:latin typeface="Consolas"/>
                  <a:ea typeface="Microsoft YaHei"/>
                  <a:cs typeface="Consolas"/>
                </a:rPr>
                <a:t>secondary_agents: [ai_intel, official_operate]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29 / 38</a:t>
            </a:r>
          </a:p>
        </p:txBody>
      </p:sp>
    </p:spTree>
  </p:cSld>
  <p:clrMapOvr>
    <a:masterClrMapping/>
  </p:clrMapOvr>
  <p:transition 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298764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Agent 能力映射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42" name="Group 42"/>
          <p:cNvGrpSpPr/>
          <p:nvPr/>
        </p:nvGrpSpPr>
        <p:grpSpPr>
          <a:xfrm>
            <a:off x="-137912" y="1238250"/>
            <a:ext cx="11758412" cy="4953000"/>
            <a:chOff x="-137912" y="1238250"/>
            <a:chExt cx="11758412" cy="4953000"/>
          </a:xfrm>
        </p:grpSpPr>
        <p:sp>
          <p:nvSpPr>
            <p:cNvPr id="6" name="Rectangle 6"/>
            <p:cNvSpPr/>
            <p:nvPr/>
          </p:nvSpPr>
          <p:spPr>
            <a:xfrm>
              <a:off x="571500" y="1238250"/>
              <a:ext cx="11049000" cy="49530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238250"/>
              <a:ext cx="11049000" cy="47625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8978" y="1413510"/>
              <a:ext cx="536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Agent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45714" y="14135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工作空间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563487" y="141351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模型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944737" y="141351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能力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506168" y="1905000"/>
              <a:ext cx="11114332" cy="762000"/>
              <a:chOff x="506168" y="1905000"/>
              <a:chExt cx="11114332" cy="7620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571500" y="1905000"/>
                <a:ext cx="11049000" cy="762000"/>
              </a:xfrm>
              <a:prstGeom prst="rect">
                <a:avLst/>
              </a:prstGeom>
              <a:solidFill>
                <a:srgbClr val="EBF8FF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506168" y="2204085"/>
                <a:ext cx="7021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ai_intel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637401" y="2220278"/>
                <a:ext cx="15831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workspace-AI-INTEL/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369451" y="2228374"/>
                <a:ext cx="78659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3182CE"/>
                    </a:solidFill>
                    <a:latin typeface="Consolas"/>
                    <a:ea typeface="Microsoft YaHei"/>
                    <a:cs typeface="Consolas"/>
                  </a:rPr>
                  <a:t>qwen3-max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134826" y="2228374"/>
                <a:ext cx="201834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情报采集、市场监控、趋势分析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257737" y="2714625"/>
              <a:ext cx="11362763" cy="762000"/>
              <a:chOff x="257737" y="2714625"/>
              <a:chExt cx="11362763" cy="7620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71500" y="2714625"/>
                <a:ext cx="11049000" cy="762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257737" y="3013710"/>
                <a:ext cx="11990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tech_analyst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430375" y="3029902"/>
                <a:ext cx="19972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workspace-TECH-ANALYST/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369451" y="3037999"/>
                <a:ext cx="78659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38B2AC"/>
                    </a:solidFill>
                    <a:latin typeface="Consolas"/>
                    <a:ea typeface="Microsoft YaHei"/>
                    <a:cs typeface="Consolas"/>
                  </a:rPr>
                  <a:t>qwen3-max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34826" y="3037999"/>
                <a:ext cx="201834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技术分析、架构拆解、战略规划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2915" y="3524250"/>
              <a:ext cx="11537585" cy="762000"/>
              <a:chOff x="82915" y="3524250"/>
              <a:chExt cx="11537585" cy="7620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71500" y="3524250"/>
                <a:ext cx="11049000" cy="762000"/>
              </a:xfrm>
              <a:prstGeom prst="rect">
                <a:avLst/>
              </a:prstGeom>
              <a:solidFill>
                <a:srgbClr val="FEF3E2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82915" y="3823335"/>
                <a:ext cx="154867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content_creator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2273189" y="3839528"/>
                <a:ext cx="23116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workspace-CONTENT-CREATOR/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127373" y="3847624"/>
                <a:ext cx="127075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ED8936"/>
                    </a:solidFill>
                    <a:latin typeface="Consolas"/>
                    <a:ea typeface="Microsoft YaHei"/>
                    <a:cs typeface="Consolas"/>
                  </a:rPr>
                  <a:t>qwen3-coder-plus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063627" y="3847624"/>
                <a:ext cx="21607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公众号文章、视频脚本、传播策略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-137912" y="4333875"/>
              <a:ext cx="11758412" cy="762000"/>
              <a:chOff x="-137912" y="4333875"/>
              <a:chExt cx="11758412" cy="7620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571500" y="4333875"/>
                <a:ext cx="11049000" cy="762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-137912" y="4632960"/>
                <a:ext cx="199032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work_present_output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2399705" y="4649152"/>
                <a:ext cx="205859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workspace-WORK-PRESENT/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369451" y="4657249"/>
                <a:ext cx="78659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805AD5"/>
                    </a:solidFill>
                    <a:latin typeface="Consolas"/>
                    <a:ea typeface="Microsoft YaHei"/>
                    <a:cs typeface="Consolas"/>
                  </a:rPr>
                  <a:t>qwen3-max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141946" y="4657249"/>
                <a:ext cx="200410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HTML 幻灯片、PPTX、汇报视频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571500" y="5143500"/>
              <a:ext cx="11049000" cy="762000"/>
              <a:chOff x="571500" y="5143500"/>
              <a:chExt cx="11049000" cy="7620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571500" y="5143500"/>
                <a:ext cx="11049000" cy="762000"/>
              </a:xfrm>
              <a:prstGeom prst="rect">
                <a:avLst/>
              </a:prstGeom>
              <a:solidFill>
                <a:srgbClr val="E6FFFA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44185" y="5442585"/>
                <a:ext cx="42612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main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2487882" y="5458778"/>
                <a:ext cx="188223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workspace/ (主工作空间)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284012" y="5466874"/>
                <a:ext cx="95747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E53E3E"/>
                    </a:solidFill>
                    <a:latin typeface="Consolas"/>
                    <a:ea typeface="Microsoft YaHei"/>
                    <a:cs typeface="Consolas"/>
                  </a:rPr>
                  <a:t>qwen3.5-plus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134826" y="5466874"/>
                <a:ext cx="201834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任务协调、用户交互、数学辅导</a:t>
                </a:r>
              </a:p>
            </p:txBody>
          </p:sp>
        </p:grpSp>
      </p:grpSp>
      <p:sp>
        <p:nvSpPr>
          <p:cNvPr id="43" name="TextBox 43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30 / 38</a:t>
            </a:r>
          </a:p>
        </p:txBody>
      </p:sp>
    </p:spTree>
  </p:cSld>
  <p:clrMapOvr>
    <a:masterClrMapping/>
  </p:clrMapOvr>
  <p:transition 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任务执行流程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762000" y="1333500"/>
            <a:ext cx="1714500" cy="762000"/>
            <a:chOff x="762000" y="1333500"/>
            <a:chExt cx="1714500" cy="762000"/>
          </a:xfrm>
        </p:grpSpPr>
        <p:sp>
          <p:nvSpPr>
            <p:cNvPr id="6" name="Rectangle 6"/>
            <p:cNvSpPr/>
            <p:nvPr/>
          </p:nvSpPr>
          <p:spPr>
            <a:xfrm>
              <a:off x="762000" y="1333500"/>
              <a:ext cx="1714500" cy="762000"/>
            </a:xfrm>
            <a:prstGeom prst="rect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35964" y="15849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用户输入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24306" y="1855470"/>
              <a:ext cx="13898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EE3F8"/>
                  </a:solidFill>
                  <a:latin typeface="Source Han Sans CN"/>
                  <a:ea typeface="Microsoft YaHei"/>
                  <a:cs typeface="Source Han Sans CN"/>
                </a:rPr>
                <a:t>深度分析中国MaaS市场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2476500" y="104775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2857500" y="666750"/>
            <a:ext cx="1714500" cy="762000"/>
          </a:xfrm>
          <a:prstGeom prst="rect">
            <a:avLst/>
          </a:prstGeom>
          <a:solidFill>
            <a:srgbClr val="38B2A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239452" y="918210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关键词匹配</a:t>
            </a:r>
          </a:p>
        </p:txBody>
      </p:sp>
      <p:sp>
        <p:nvSpPr>
          <p:cNvPr id="13" name="Freeform 13"/>
          <p:cNvSpPr/>
          <p:nvPr/>
        </p:nvSpPr>
        <p:spPr>
          <a:xfrm>
            <a:off x="4572000" y="104775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953000" y="666750"/>
            <a:ext cx="1714500" cy="7620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330352" y="918210"/>
            <a:ext cx="9597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Agent 选择</a:t>
            </a:r>
          </a:p>
        </p:txBody>
      </p:sp>
      <p:sp>
        <p:nvSpPr>
          <p:cNvPr id="16" name="Freeform 16"/>
          <p:cNvSpPr/>
          <p:nvPr/>
        </p:nvSpPr>
        <p:spPr>
          <a:xfrm>
            <a:off x="6667500" y="104775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7048500" y="666750"/>
            <a:ext cx="1714500" cy="762000"/>
          </a:xfrm>
          <a:prstGeom prst="rect">
            <a:avLst/>
          </a:prstGeom>
          <a:solidFill>
            <a:srgbClr val="805AD5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333840" y="918210"/>
            <a:ext cx="114381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启动子 Agent</a:t>
            </a:r>
          </a:p>
        </p:txBody>
      </p:sp>
      <p:sp>
        <p:nvSpPr>
          <p:cNvPr id="19" name="Freeform 19"/>
          <p:cNvSpPr/>
          <p:nvPr/>
        </p:nvSpPr>
        <p:spPr>
          <a:xfrm>
            <a:off x="8763000" y="104775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9144000" y="666750"/>
            <a:ext cx="1714500" cy="762000"/>
          </a:xfrm>
          <a:prstGeom prst="rect">
            <a:avLst/>
          </a:prstGeom>
          <a:solidFill>
            <a:srgbClr val="E53E3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665875" y="9344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状态跟踪</a:t>
            </a:r>
          </a:p>
        </p:txBody>
      </p:sp>
      <p:sp>
        <p:nvSpPr>
          <p:cNvPr id="22" name="Freeform 22"/>
          <p:cNvSpPr/>
          <p:nvPr/>
        </p:nvSpPr>
        <p:spPr>
          <a:xfrm>
            <a:off x="10001250" y="1428750"/>
            <a:ext cx="9525" cy="476250"/>
          </a:xfrm>
          <a:custGeom>
            <a:avLst/>
            <a:gdLst/>
            <a:ahLst/>
            <a:cxnLst/>
            <a:rect l="l" t="t" r="r" b="b"/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8858250" y="1905000"/>
            <a:ext cx="2286000" cy="762000"/>
          </a:xfrm>
          <a:prstGeom prst="rect">
            <a:avLst/>
          </a:prstGeom>
          <a:solidFill>
            <a:srgbClr val="DD6B2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617964" y="2204085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结果汇总</a:t>
            </a:r>
          </a:p>
        </p:txBody>
      </p:sp>
      <p:sp>
        <p:nvSpPr>
          <p:cNvPr id="25" name="Freeform 25"/>
          <p:cNvSpPr/>
          <p:nvPr/>
        </p:nvSpPr>
        <p:spPr>
          <a:xfrm>
            <a:off x="7905750" y="228600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95250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sp>
        <p:nvSpPr>
          <p:cNvPr id="26" name="Freeform 26"/>
          <p:cNvSpPr/>
          <p:nvPr/>
        </p:nvSpPr>
        <p:spPr>
          <a:xfrm>
            <a:off x="5810250" y="228600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76200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1A365D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4095750" y="3048000"/>
            <a:ext cx="4000500" cy="11430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064033" y="3251835"/>
            <a:ext cx="206393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sessions_spawn() 调用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437203" y="3617595"/>
            <a:ext cx="13175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Consolas"/>
                <a:ea typeface="Microsoft YaHei"/>
                <a:cs typeface="Consolas"/>
              </a:rPr>
              <a:t>runtime="subagent"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286042" y="3855720"/>
            <a:ext cx="16199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Consolas"/>
                <a:ea typeface="Microsoft YaHei"/>
                <a:cs typeface="Consolas"/>
              </a:rPr>
              <a:t>agent_id="tech_analyst"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952500" y="4572000"/>
            <a:ext cx="10287000" cy="1902619"/>
            <a:chOff x="952500" y="4572000"/>
            <a:chExt cx="10287000" cy="1902619"/>
          </a:xfrm>
        </p:grpSpPr>
        <p:sp>
          <p:nvSpPr>
            <p:cNvPr id="31" name="Rectangle 31"/>
            <p:cNvSpPr/>
            <p:nvPr/>
          </p:nvSpPr>
          <p:spPr>
            <a:xfrm>
              <a:off x="952500" y="4572000"/>
              <a:ext cx="10287000" cy="1714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221105" y="48072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实际执行示例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238250" y="5238750"/>
              <a:ext cx="9715500" cy="857250"/>
            </a:xfrm>
            <a:prstGeom prst="rect">
              <a:avLst/>
            </a:prstGeom>
            <a:solidFill>
              <a:srgbClr val="EBF8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416368" y="5419249"/>
              <a:ext cx="17050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365D"/>
                  </a:solidFill>
                  <a:latin typeface="Consolas"/>
                  <a:ea typeface="Microsoft YaHei"/>
                  <a:cs typeface="Consolas"/>
                </a:rPr>
                <a:t>// 主 Agent 调用子 Agent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416368" y="5657374"/>
              <a:ext cx="11924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182CE"/>
                  </a:solidFill>
                  <a:latin typeface="Consolas"/>
                  <a:ea typeface="Microsoft YaHei"/>
                  <a:cs typeface="Consolas"/>
                </a:rPr>
                <a:t>sessions_spawn(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606868" y="5895499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8B2AC"/>
                  </a:solidFill>
                  <a:latin typeface="Consolas"/>
                  <a:ea typeface="Microsoft YaHei"/>
                  <a:cs typeface="Consolas"/>
                </a:rPr>
                <a:t>runtime = "subagent",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606868" y="6085999"/>
              <a:ext cx="19186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8B2AC"/>
                  </a:solidFill>
                  <a:latin typeface="Consolas"/>
                  <a:ea typeface="Microsoft YaHei"/>
                  <a:cs typeface="Consolas"/>
                </a:rPr>
                <a:t>agent_id = "tech_analyst",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606868" y="6276499"/>
              <a:ext cx="19115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8B2AC"/>
                  </a:solidFill>
                  <a:latin typeface="Consolas"/>
                  <a:ea typeface="Microsoft YaHei"/>
                  <a:cs typeface="Consolas"/>
                </a:rPr>
                <a:t>task = "...", mode = "run"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511868" y="62764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D8936"/>
                  </a:solidFill>
                  <a:latin typeface="Consolas"/>
                  <a:ea typeface="Microsoft YaHei"/>
                  <a:cs typeface="Consolas"/>
                </a:rPr>
                <a:t>)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322272" y="65541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31 / 38</a:t>
            </a:r>
          </a:p>
        </p:txBody>
      </p:sp>
    </p:spTree>
  </p:cSld>
  <p:clrMapOvr>
    <a:masterClrMapping/>
  </p:clrMapOvr>
  <p:transition 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通信问题与解决方案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43" name="Group 43"/>
          <p:cNvGrpSpPr/>
          <p:nvPr/>
        </p:nvGrpSpPr>
        <p:grpSpPr>
          <a:xfrm>
            <a:off x="571500" y="1238250"/>
            <a:ext cx="11049000" cy="4953000"/>
            <a:chOff x="571500" y="1238250"/>
            <a:chExt cx="11049000" cy="4953000"/>
          </a:xfrm>
        </p:grpSpPr>
        <p:sp>
          <p:nvSpPr>
            <p:cNvPr id="6" name="Rectangle 6"/>
            <p:cNvSpPr/>
            <p:nvPr/>
          </p:nvSpPr>
          <p:spPr>
            <a:xfrm>
              <a:off x="571500" y="1238250"/>
              <a:ext cx="11049000" cy="49530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857250" y="1524000"/>
              <a:ext cx="3429000" cy="1333500"/>
              <a:chOff x="857250" y="1524000"/>
              <a:chExt cx="3429000" cy="13335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857250" y="1524000"/>
                <a:ext cx="3429000" cy="1333500"/>
              </a:xfrm>
              <a:prstGeom prst="rect">
                <a:avLst/>
              </a:prstGeom>
              <a:solidFill>
                <a:srgbClr val="FFF5F5"/>
              </a:solidFill>
              <a:ln w="9525">
                <a:solidFill>
                  <a:srgbClr val="E53E3E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032510" y="1727835"/>
                <a:ext cx="204553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53E3E"/>
                    </a:solidFill>
                    <a:latin typeface="Source Han Sans CN"/>
                    <a:ea typeface="Microsoft YaHei"/>
                    <a:cs typeface="Source Han Sans CN"/>
                  </a:rPr>
                  <a:t>问题 1：子 Agent 未启动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035368" y="2037874"/>
                <a:ext cx="192578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根因：主 Agent 只打印命令，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35368" y="2228374"/>
                <a:ext cx="191154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未调用 sessions_spawn 工具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034415" y="2553652"/>
                <a:ext cx="298138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解决：直接调用 sessions_spawn() 工具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476750" y="1524000"/>
              <a:ext cx="3429000" cy="1333500"/>
              <a:chOff x="4476750" y="1524000"/>
              <a:chExt cx="3429000" cy="13335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4476750" y="1524000"/>
                <a:ext cx="3429000" cy="1333500"/>
              </a:xfrm>
              <a:prstGeom prst="rect">
                <a:avLst/>
              </a:prstGeom>
              <a:solidFill>
                <a:srgbClr val="FEF3E2"/>
              </a:solidFill>
              <a:ln w="9525">
                <a:solidFill>
                  <a:srgbClr val="ED8936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4652010" y="1727835"/>
                <a:ext cx="165908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D8936"/>
                    </a:solidFill>
                    <a:latin typeface="Source Han Sans CN"/>
                    <a:ea typeface="Microsoft YaHei"/>
                    <a:cs typeface="Source Han Sans CN"/>
                  </a:rPr>
                  <a:t>问题 2：上下文丢失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654868" y="2037874"/>
                <a:ext cx="21607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根因：工作空间隔离，文件不共享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653915" y="2553652"/>
                <a:ext cx="21440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解决：使用共享目录 shared/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8096250" y="1524000"/>
              <a:ext cx="3429000" cy="1333500"/>
              <a:chOff x="8096250" y="1524000"/>
              <a:chExt cx="3429000" cy="13335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8096250" y="1524000"/>
                <a:ext cx="3429000" cy="1333500"/>
              </a:xfrm>
              <a:prstGeom prst="rect">
                <a:avLst/>
              </a:prstGeom>
              <a:solidFill>
                <a:srgbClr val="FAF5FF"/>
              </a:solidFill>
              <a:ln w="9525">
                <a:solidFill>
                  <a:srgbClr val="805AD5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271510" y="1727835"/>
                <a:ext cx="184310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805AD5"/>
                    </a:solidFill>
                    <a:latin typeface="Source Han Sans CN"/>
                    <a:ea typeface="Microsoft YaHei"/>
                    <a:cs typeface="Source Han Sans CN"/>
                  </a:rPr>
                  <a:t>问题 3：飞书推送冲突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274368" y="2037874"/>
                <a:ext cx="206818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根因：多个 Agent 同时推送飞书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273415" y="2553652"/>
                <a:ext cx="249832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解决：只有主 Agent 负责最终推送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838200" y="3267075"/>
              <a:ext cx="3304080" cy="1357313"/>
              <a:chOff x="838200" y="3267075"/>
              <a:chExt cx="3304080" cy="1357313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838200" y="3267075"/>
                <a:ext cx="95821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验证方法</a:t>
                </a:r>
              </a:p>
            </p:txBody>
          </p:sp>
          <p:grpSp>
            <p:nvGrpSpPr>
              <p:cNvPr id="26" name="Group 26"/>
              <p:cNvGrpSpPr/>
              <p:nvPr/>
            </p:nvGrpSpPr>
            <p:grpSpPr>
              <a:xfrm>
                <a:off x="923925" y="3733800"/>
                <a:ext cx="2850309" cy="223838"/>
                <a:chOff x="923925" y="3733800"/>
                <a:chExt cx="2850309" cy="223838"/>
              </a:xfrm>
            </p:grpSpPr>
            <p:sp>
              <p:nvSpPr>
                <p:cNvPr id="24" name="Ellipse 24"/>
                <p:cNvSpPr/>
                <p:nvPr/>
              </p:nvSpPr>
              <p:spPr>
                <a:xfrm>
                  <a:off x="923925" y="3733800"/>
                  <a:ext cx="152400" cy="152400"/>
                </a:xfrm>
                <a:prstGeom prst="ellipse">
                  <a:avLst/>
                </a:prstGeom>
                <a:solidFill>
                  <a:srgbClr val="3182CE"/>
                </a:solidFill>
                <a:ln>
                  <a:noFill/>
                </a:ln>
              </p:spPr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1224915" y="3744278"/>
                  <a:ext cx="2549319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4A5568"/>
                      </a:solidFill>
                      <a:latin typeface="Consolas"/>
                      <a:ea typeface="Microsoft YaHei"/>
                      <a:cs typeface="Consolas"/>
                    </a:rPr>
                    <a:t>subagents list - 查看子 Agent 列表</a:t>
                  </a:r>
                </a:p>
              </p:txBody>
            </p:sp>
          </p:grpSp>
          <p:grpSp>
            <p:nvGrpSpPr>
              <p:cNvPr id="29" name="Group 29"/>
              <p:cNvGrpSpPr/>
              <p:nvPr/>
            </p:nvGrpSpPr>
            <p:grpSpPr>
              <a:xfrm>
                <a:off x="923925" y="4067175"/>
                <a:ext cx="2405586" cy="223837"/>
                <a:chOff x="923925" y="4067175"/>
                <a:chExt cx="2405586" cy="223837"/>
              </a:xfrm>
            </p:grpSpPr>
            <p:sp>
              <p:nvSpPr>
                <p:cNvPr id="27" name="Ellipse 27"/>
                <p:cNvSpPr/>
                <p:nvPr/>
              </p:nvSpPr>
              <p:spPr>
                <a:xfrm>
                  <a:off x="923925" y="4067175"/>
                  <a:ext cx="152400" cy="152400"/>
                </a:xfrm>
                <a:prstGeom prst="ellipse">
                  <a:avLst/>
                </a:prstGeom>
                <a:solidFill>
                  <a:srgbClr val="38B2AC"/>
                </a:solidFill>
                <a:ln>
                  <a:noFill/>
                </a:ln>
              </p:spPr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1224915" y="4077652"/>
                  <a:ext cx="2104596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4A5568"/>
                      </a:solidFill>
                      <a:latin typeface="Consolas"/>
                      <a:ea typeface="Microsoft YaHei"/>
                      <a:cs typeface="Consolas"/>
                    </a:rPr>
                    <a:t>sessions_list - 查看会话列表</a:t>
                  </a:r>
                </a:p>
              </p:txBody>
            </p:sp>
          </p:grpSp>
          <p:grpSp>
            <p:nvGrpSpPr>
              <p:cNvPr id="32" name="Group 32"/>
              <p:cNvGrpSpPr/>
              <p:nvPr/>
            </p:nvGrpSpPr>
            <p:grpSpPr>
              <a:xfrm>
                <a:off x="923925" y="4400550"/>
                <a:ext cx="3218355" cy="223838"/>
                <a:chOff x="923925" y="4400550"/>
                <a:chExt cx="3218355" cy="223838"/>
              </a:xfrm>
            </p:grpSpPr>
            <p:sp>
              <p:nvSpPr>
                <p:cNvPr id="30" name="Ellipse 30"/>
                <p:cNvSpPr/>
                <p:nvPr/>
              </p:nvSpPr>
              <p:spPr>
                <a:xfrm>
                  <a:off x="923925" y="4400550"/>
                  <a:ext cx="152400" cy="152400"/>
                </a:xfrm>
                <a:prstGeom prst="ellipse">
                  <a:avLst/>
                </a:prstGeom>
                <a:solidFill>
                  <a:srgbClr val="ED8936"/>
                </a:solidFill>
                <a:ln>
                  <a:noFill/>
                </a:ln>
              </p:spPr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1224915" y="4411028"/>
                  <a:ext cx="2917365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4A5568"/>
                      </a:solidFill>
                      <a:latin typeface="Consolas"/>
                      <a:ea typeface="Microsoft YaHei"/>
                      <a:cs typeface="Consolas"/>
                    </a:rPr>
                    <a:t>cat shared/task_status.md - 任务状态</a:t>
                  </a:r>
                </a:p>
              </p:txBody>
            </p:sp>
          </p:grpSp>
        </p:grpSp>
        <p:grpSp>
          <p:nvGrpSpPr>
            <p:cNvPr id="42" name="Group 42"/>
            <p:cNvGrpSpPr/>
            <p:nvPr/>
          </p:nvGrpSpPr>
          <p:grpSpPr>
            <a:xfrm>
              <a:off x="4381500" y="3143250"/>
              <a:ext cx="7239000" cy="2476500"/>
              <a:chOff x="4381500" y="3143250"/>
              <a:chExt cx="7239000" cy="24765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4381500" y="3143250"/>
                <a:ext cx="7239000" cy="24765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4554855" y="3330892"/>
                <a:ext cx="86239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最佳实践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558665" y="3696652"/>
                <a:ext cx="209692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1. 子 Agent 输出到共享文件：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750118" y="3990499"/>
                <a:ext cx="33497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Consolas"/>
                    <a:ea typeface="Microsoft YaHei"/>
                    <a:cs typeface="Consolas"/>
                  </a:rPr>
                  <a:t>write(path="shared/ai_intel_output.md", ...)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558665" y="4315778"/>
                <a:ext cx="182856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2. 主 Agent 读取并推送：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750118" y="4609624"/>
                <a:ext cx="292258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Consolas"/>
                    <a:ea typeface="Microsoft YaHei"/>
                    <a:cs typeface="Consolas"/>
                  </a:rPr>
                  <a:t>read(path="shared/ai_intel_output.md")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750118" y="4895374"/>
                <a:ext cx="385529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Consolas"/>
                    <a:ea typeface="Microsoft YaHei"/>
                    <a:cs typeface="Consolas"/>
                  </a:rPr>
                  <a:t>message(channel="feishu", to="...", message="...")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558665" y="5220652"/>
                <a:ext cx="215827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3. task 参数中包含完整上下文</a:t>
                </a:r>
              </a:p>
            </p:txBody>
          </p:sp>
        </p:grpSp>
      </p:grpSp>
      <p:sp>
        <p:nvSpPr>
          <p:cNvPr id="44" name="TextBox 44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32 / 38</a:t>
            </a:r>
          </a:p>
        </p:txBody>
      </p:sp>
    </p:spTree>
  </p:cSld>
  <p:clrMapOvr>
    <a:masterClrMapping/>
  </p:clrMapOvr>
  <p:transition 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协同问题与解决方案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43" name="Group 43"/>
          <p:cNvGrpSpPr/>
          <p:nvPr/>
        </p:nvGrpSpPr>
        <p:grpSpPr>
          <a:xfrm>
            <a:off x="571500" y="1238250"/>
            <a:ext cx="11049000" cy="4953000"/>
            <a:chOff x="571500" y="1238250"/>
            <a:chExt cx="11049000" cy="4953000"/>
          </a:xfrm>
        </p:grpSpPr>
        <p:sp>
          <p:nvSpPr>
            <p:cNvPr id="6" name="Rectangle 6"/>
            <p:cNvSpPr/>
            <p:nvPr/>
          </p:nvSpPr>
          <p:spPr>
            <a:xfrm>
              <a:off x="571500" y="1238250"/>
              <a:ext cx="11049000" cy="49530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57250" y="1524000"/>
              <a:ext cx="5143500" cy="1333500"/>
              <a:chOff x="857250" y="1524000"/>
              <a:chExt cx="5143500" cy="13335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857250" y="1524000"/>
                <a:ext cx="5143500" cy="1333500"/>
              </a:xfrm>
              <a:prstGeom prst="rect">
                <a:avLst/>
              </a:prstGeom>
              <a:solidFill>
                <a:srgbClr val="EBF8FF"/>
              </a:solidFill>
              <a:ln w="9525">
                <a:solidFill>
                  <a:srgbClr val="3182CE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032510" y="1727835"/>
                <a:ext cx="198112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3182CE"/>
                    </a:solidFill>
                    <a:latin typeface="Source Han Sans CN"/>
                    <a:ea typeface="Microsoft YaHei"/>
                    <a:cs typeface="Source Han Sans CN"/>
                  </a:rPr>
                  <a:t>问题 1：任务依赖未满足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035368" y="2037874"/>
                <a:ext cx="36559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现象：content_creator 启动时，ai_intel 材料还没生成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34415" y="2363152"/>
                <a:ext cx="367377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解决：配置 dependencies，等待依赖完成后再启动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6191250" y="1524000"/>
              <a:ext cx="5143500" cy="1333500"/>
              <a:chOff x="6191250" y="1524000"/>
              <a:chExt cx="5143500" cy="13335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6191250" y="1524000"/>
                <a:ext cx="5143500" cy="1333500"/>
              </a:xfrm>
              <a:prstGeom prst="rect">
                <a:avLst/>
              </a:prstGeom>
              <a:solidFill>
                <a:srgbClr val="E6FFFA"/>
              </a:solidFill>
              <a:ln w="9525">
                <a:solidFill>
                  <a:srgbClr val="38B2AC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6366510" y="1727835"/>
                <a:ext cx="202713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38B2AC"/>
                    </a:solidFill>
                    <a:latin typeface="Source Han Sans CN"/>
                    <a:ea typeface="Microsoft YaHei"/>
                    <a:cs typeface="Source Han Sans CN"/>
                  </a:rPr>
                  <a:t>问题 2：结果格式不一致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369368" y="2037874"/>
                <a:ext cx="263778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现象：各 Agent 输出格式不同，难以汇总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368415" y="2363152"/>
                <a:ext cx="228095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解决：定义统一的输出规范模板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857250" y="3048000"/>
              <a:ext cx="5143500" cy="1333500"/>
              <a:chOff x="857250" y="3048000"/>
              <a:chExt cx="5143500" cy="13335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857250" y="3048000"/>
                <a:ext cx="5143500" cy="1333500"/>
              </a:xfrm>
              <a:prstGeom prst="rect">
                <a:avLst/>
              </a:prstGeom>
              <a:solidFill>
                <a:srgbClr val="FEF3E2"/>
              </a:solidFill>
              <a:ln w="9525">
                <a:solidFill>
                  <a:srgbClr val="ED8936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32510" y="3251835"/>
                <a:ext cx="202713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D8936"/>
                    </a:solidFill>
                    <a:latin typeface="Source Han Sans CN"/>
                    <a:ea typeface="Microsoft YaHei"/>
                    <a:cs typeface="Source Han Sans CN"/>
                  </a:rPr>
                  <a:t>问题 3：超时处理不统一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35368" y="3561874"/>
                <a:ext cx="235298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现象：某些 Agent 超时后无错误处理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34415" y="3887152"/>
                <a:ext cx="389920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解决：配置 timeoutSeconds，监控超时并标记 failed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6191250" y="3048000"/>
              <a:ext cx="5143500" cy="1466850"/>
              <a:chOff x="6191250" y="3048000"/>
              <a:chExt cx="5143500" cy="14668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191250" y="3048000"/>
                <a:ext cx="5143500" cy="1333500"/>
              </a:xfrm>
              <a:prstGeom prst="rect">
                <a:avLst/>
              </a:prstGeom>
              <a:solidFill>
                <a:srgbClr val="FAF5FF"/>
              </a:solidFill>
              <a:ln w="9525">
                <a:solidFill>
                  <a:srgbClr val="805AD5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366510" y="3251835"/>
                <a:ext cx="113461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805AD5"/>
                    </a:solidFill>
                    <a:latin typeface="Source Han Sans CN"/>
                    <a:ea typeface="Microsoft YaHei"/>
                    <a:cs typeface="Source Han Sans CN"/>
                  </a:rPr>
                  <a:t>输出规范示例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370320" y="3617595"/>
                <a:ext cx="73266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4A5568"/>
                    </a:solidFill>
                    <a:latin typeface="Consolas"/>
                    <a:ea typeface="Microsoft YaHei"/>
                    <a:cs typeface="Consolas"/>
                  </a:rPr>
                  <a:t>## 输出规范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370320" y="3855720"/>
                <a:ext cx="198139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4A5568"/>
                    </a:solidFill>
                    <a:latin typeface="Consolas"/>
                    <a:ea typeface="Microsoft YaHei"/>
                    <a:cs typeface="Consolas"/>
                  </a:rPr>
                  <a:t>1. 标题：## &lt;任务ID&gt; &lt;任务名称&gt;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370320" y="4093845"/>
                <a:ext cx="121901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4A5568"/>
                    </a:solidFill>
                    <a:latin typeface="Consolas"/>
                    <a:ea typeface="Microsoft YaHei"/>
                    <a:cs typeface="Consolas"/>
                  </a:rPr>
                  <a:t>2. 摘要：100 字以内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370320" y="4331970"/>
                <a:ext cx="153447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4A5568"/>
                    </a:solidFill>
                    <a:latin typeface="Consolas"/>
                    <a:ea typeface="Microsoft YaHei"/>
                    <a:cs typeface="Consolas"/>
                  </a:rPr>
                  <a:t>3. 正文：Markdown 格式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838200" y="4695825"/>
              <a:ext cx="5158455" cy="969169"/>
              <a:chOff x="838200" y="4695825"/>
              <a:chExt cx="5158455" cy="969169"/>
            </a:xfrm>
          </p:grpSpPr>
          <p:sp>
            <p:nvSpPr>
              <p:cNvPr id="29" name="TextBox 29"/>
              <p:cNvSpPr txBox="1"/>
              <p:nvPr/>
            </p:nvSpPr>
            <p:spPr>
              <a:xfrm>
                <a:off x="838200" y="4695825"/>
                <a:ext cx="141827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超时配置建议</a:t>
                </a:r>
              </a:p>
            </p:txBody>
          </p:sp>
          <p:grpSp>
            <p:nvGrpSpPr>
              <p:cNvPr id="32" name="Group 32"/>
              <p:cNvGrpSpPr/>
              <p:nvPr/>
            </p:nvGrpSpPr>
            <p:grpSpPr>
              <a:xfrm>
                <a:off x="942975" y="5181124"/>
                <a:ext cx="2984755" cy="198120"/>
                <a:chOff x="942975" y="5181124"/>
                <a:chExt cx="2984755" cy="198120"/>
              </a:xfrm>
            </p:grpSpPr>
            <p:sp>
              <p:nvSpPr>
                <p:cNvPr id="30" name="Ellipse 30"/>
                <p:cNvSpPr/>
                <p:nvPr/>
              </p:nvSpPr>
              <p:spPr>
                <a:xfrm>
                  <a:off x="942975" y="5181600"/>
                  <a:ext cx="114300" cy="114300"/>
                </a:xfrm>
                <a:prstGeom prst="ellipse">
                  <a:avLst/>
                </a:prstGeom>
                <a:solidFill>
                  <a:srgbClr val="E53E3E"/>
                </a:solidFill>
                <a:ln>
                  <a:noFill/>
                </a:ln>
              </p:spPr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1225868" y="5181124"/>
                  <a:ext cx="2701862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4A5568"/>
                      </a:solidFill>
                      <a:latin typeface="Source Han Sans CN"/>
                      <a:ea typeface="Microsoft YaHei"/>
                      <a:cs typeface="Source Han Sans CN"/>
                    </a:rPr>
                    <a:t>math_tutoring / simple_query: 30 分钟</a:t>
                  </a:r>
                </a:p>
              </p:txBody>
            </p:sp>
          </p:grpSp>
          <p:grpSp>
            <p:nvGrpSpPr>
              <p:cNvPr id="35" name="Group 35"/>
              <p:cNvGrpSpPr/>
              <p:nvPr/>
            </p:nvGrpSpPr>
            <p:grpSpPr>
              <a:xfrm>
                <a:off x="3609975" y="5181124"/>
                <a:ext cx="2386680" cy="198120"/>
                <a:chOff x="3609975" y="5181124"/>
                <a:chExt cx="2386680" cy="198120"/>
              </a:xfrm>
            </p:grpSpPr>
            <p:sp>
              <p:nvSpPr>
                <p:cNvPr id="33" name="Ellipse 33"/>
                <p:cNvSpPr/>
                <p:nvPr/>
              </p:nvSpPr>
              <p:spPr>
                <a:xfrm>
                  <a:off x="3609975" y="5181600"/>
                  <a:ext cx="114300" cy="114300"/>
                </a:xfrm>
                <a:prstGeom prst="ellipse">
                  <a:avLst/>
                </a:prstGeom>
                <a:solidFill>
                  <a:srgbClr val="ED8936"/>
                </a:solidFill>
                <a:ln>
                  <a:noFill/>
                </a:ln>
              </p:spPr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3892868" y="5181124"/>
                  <a:ext cx="2103787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4A5568"/>
                      </a:solidFill>
                      <a:latin typeface="Source Han Sans CN"/>
                      <a:ea typeface="Microsoft YaHei"/>
                      <a:cs typeface="Source Han Sans CN"/>
                    </a:rPr>
                    <a:t>intelligence_collection: 2 小时</a:t>
                  </a:r>
                </a:p>
              </p:txBody>
            </p:sp>
          </p:grpSp>
          <p:grpSp>
            <p:nvGrpSpPr>
              <p:cNvPr id="38" name="Group 38"/>
              <p:cNvGrpSpPr/>
              <p:nvPr/>
            </p:nvGrpSpPr>
            <p:grpSpPr>
              <a:xfrm>
                <a:off x="942975" y="5466874"/>
                <a:ext cx="3483150" cy="198120"/>
                <a:chOff x="942975" y="5466874"/>
                <a:chExt cx="3483150" cy="198120"/>
              </a:xfrm>
            </p:grpSpPr>
            <p:sp>
              <p:nvSpPr>
                <p:cNvPr id="36" name="Ellipse 36"/>
                <p:cNvSpPr/>
                <p:nvPr/>
              </p:nvSpPr>
              <p:spPr>
                <a:xfrm>
                  <a:off x="942975" y="5467350"/>
                  <a:ext cx="114300" cy="114300"/>
                </a:xfrm>
                <a:prstGeom prst="ellipse">
                  <a:avLst/>
                </a:prstGeom>
                <a:solidFill>
                  <a:srgbClr val="38B2AC"/>
                </a:solidFill>
                <a:ln>
                  <a:noFill/>
                </a:ln>
              </p:spPr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1225868" y="5466874"/>
                  <a:ext cx="3200257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4A5568"/>
                      </a:solidFill>
                      <a:latin typeface="Source Han Sans CN"/>
                      <a:ea typeface="Microsoft YaHei"/>
                      <a:cs typeface="Source Han Sans CN"/>
                    </a:rPr>
                    <a:t>technical_analysis / content_creation: 6 小时</a:t>
                  </a:r>
                </a:p>
              </p:txBody>
            </p:sp>
          </p:grpSp>
          <p:grpSp>
            <p:nvGrpSpPr>
              <p:cNvPr id="41" name="Group 41"/>
              <p:cNvGrpSpPr/>
              <p:nvPr/>
            </p:nvGrpSpPr>
            <p:grpSpPr>
              <a:xfrm>
                <a:off x="3609975" y="5466874"/>
                <a:ext cx="2158842" cy="198120"/>
                <a:chOff x="3609975" y="5466874"/>
                <a:chExt cx="2158842" cy="198120"/>
              </a:xfrm>
            </p:grpSpPr>
            <p:sp>
              <p:nvSpPr>
                <p:cNvPr id="39" name="Ellipse 39"/>
                <p:cNvSpPr/>
                <p:nvPr/>
              </p:nvSpPr>
              <p:spPr>
                <a:xfrm>
                  <a:off x="3609975" y="5467350"/>
                  <a:ext cx="114300" cy="114300"/>
                </a:xfrm>
                <a:prstGeom prst="ellipse">
                  <a:avLst/>
                </a:prstGeom>
                <a:solidFill>
                  <a:srgbClr val="805AD5"/>
                </a:solidFill>
                <a:ln>
                  <a:noFill/>
                </a:ln>
              </p:spPr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3892868" y="5466874"/>
                  <a:ext cx="1875949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4A5568"/>
                      </a:solidFill>
                      <a:latin typeface="Source Han Sans CN"/>
                      <a:ea typeface="Microsoft YaHei"/>
                      <a:cs typeface="Source Han Sans CN"/>
                    </a:rPr>
                    <a:t>complex_research: 24 小时</a:t>
                  </a:r>
                </a:p>
              </p:txBody>
            </p:sp>
          </p:grpSp>
        </p:grpSp>
      </p:grpSp>
      <p:sp>
        <p:nvSpPr>
          <p:cNvPr id="44" name="TextBox 44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33 / 38</a:t>
            </a:r>
          </a:p>
        </p:txBody>
      </p:sp>
    </p:spTree>
  </p:cSld>
  <p:clrMapOvr>
    <a:masterClrMapping/>
  </p:clrMapOvr>
  <p:transition 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任务监控架构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3238500" y="1333500"/>
            <a:ext cx="5715000" cy="952500"/>
            <a:chOff x="3238500" y="1333500"/>
            <a:chExt cx="5715000" cy="952500"/>
          </a:xfrm>
        </p:grpSpPr>
        <p:sp>
          <p:nvSpPr>
            <p:cNvPr id="6" name="Rectangle 6"/>
            <p:cNvSpPr/>
            <p:nvPr/>
          </p:nvSpPr>
          <p:spPr>
            <a:xfrm>
              <a:off x="3238500" y="1333500"/>
              <a:ext cx="5715000" cy="9525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01878" y="1695450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任务调度器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11106" y="2029778"/>
              <a:ext cx="9697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0AEC0"/>
                  </a:solidFill>
                  <a:latin typeface="Source Han Sans CN"/>
                  <a:ea typeface="Microsoft YaHei"/>
                  <a:cs typeface="Source Han Sans CN"/>
                </a:rPr>
                <a:t>每 5 分钟运行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6096000" y="18097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28575">
            <a:solidFill>
              <a:srgbClr val="3182CE"/>
            </a:solidFill>
          </a:ln>
        </p:spPr>
      </p:sp>
      <p:grpSp>
        <p:nvGrpSpPr>
          <p:cNvPr id="28" name="Group 28"/>
          <p:cNvGrpSpPr/>
          <p:nvPr/>
        </p:nvGrpSpPr>
        <p:grpSpPr>
          <a:xfrm>
            <a:off x="3238500" y="2286000"/>
            <a:ext cx="5715000" cy="1905000"/>
            <a:chOff x="3238500" y="2286000"/>
            <a:chExt cx="5715000" cy="1905000"/>
          </a:xfrm>
        </p:grpSpPr>
        <p:sp>
          <p:nvSpPr>
            <p:cNvPr id="11" name="Rectangle 11"/>
            <p:cNvSpPr/>
            <p:nvPr/>
          </p:nvSpPr>
          <p:spPr>
            <a:xfrm>
              <a:off x="3238500" y="2286000"/>
              <a:ext cx="5715000" cy="1905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507105" y="2521268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检查项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3562350" y="2934652"/>
              <a:ext cx="1181100" cy="213360"/>
              <a:chOff x="3562350" y="2934652"/>
              <a:chExt cx="1181100" cy="213360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3562350" y="2943225"/>
                <a:ext cx="114300" cy="114300"/>
              </a:xfrm>
              <a:prstGeom prst="ellipse">
                <a:avLst/>
              </a:prstGeom>
              <a:solidFill>
                <a:srgbClr val="E53E3E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3796665" y="2934652"/>
                <a:ext cx="9467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超时任务扫描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3562350" y="3220402"/>
              <a:ext cx="1541478" cy="213360"/>
              <a:chOff x="3562350" y="3220402"/>
              <a:chExt cx="1541478" cy="213360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3562350" y="3228975"/>
                <a:ext cx="114300" cy="114300"/>
              </a:xfrm>
              <a:prstGeom prst="ellipse">
                <a:avLst/>
              </a:prstGeom>
              <a:solidFill>
                <a:srgbClr val="38B2AC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796665" y="3220402"/>
                <a:ext cx="13071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子 Agent 状态同步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3562350" y="3506152"/>
              <a:ext cx="1648825" cy="213360"/>
              <a:chOff x="3562350" y="3506152"/>
              <a:chExt cx="1648825" cy="213360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3562350" y="3514725"/>
                <a:ext cx="114300" cy="114300"/>
              </a:xfrm>
              <a:prstGeom prst="ellipse">
                <a:avLst/>
              </a:prstGeom>
              <a:solidFill>
                <a:srgbClr val="ED8936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3796665" y="3506152"/>
                <a:ext cx="14145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Agent 负载状态更新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3562350" y="3791902"/>
              <a:ext cx="1181100" cy="213360"/>
              <a:chOff x="3562350" y="3791902"/>
              <a:chExt cx="1181100" cy="213360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3562350" y="3800475"/>
                <a:ext cx="114300" cy="114300"/>
              </a:xfrm>
              <a:prstGeom prst="ellipse">
                <a:avLst/>
              </a:prstGeom>
              <a:solidFill>
                <a:srgbClr val="805AD5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3796665" y="3791902"/>
                <a:ext cx="9467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审核轮次推进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6134100" y="2934652"/>
              <a:ext cx="1702499" cy="213360"/>
              <a:chOff x="6134100" y="2934652"/>
              <a:chExt cx="1702499" cy="213360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6134100" y="2943225"/>
                <a:ext cx="114300" cy="114300"/>
              </a:xfrm>
              <a:prstGeom prst="ellipse">
                <a:avLst/>
              </a:prstGeom>
              <a:solidFill>
                <a:srgbClr val="3182CE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368415" y="2934652"/>
                <a:ext cx="146818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Source Han Sans CN"/>
                    <a:ea typeface="Microsoft YaHei"/>
                    <a:cs typeface="Source Han Sans CN"/>
                  </a:rPr>
                  <a:t>旧任务清理（30 天）</a:t>
                </a:r>
              </a:p>
            </p:txBody>
          </p:sp>
        </p:grpSp>
      </p:grpSp>
      <p:sp>
        <p:nvSpPr>
          <p:cNvPr id="29" name="Freeform 29"/>
          <p:cNvSpPr/>
          <p:nvPr/>
        </p:nvSpPr>
        <p:spPr>
          <a:xfrm>
            <a:off x="6096000" y="419100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28575">
            <a:solidFill>
              <a:srgbClr val="38B2AC"/>
            </a:solidFill>
          </a:ln>
        </p:spPr>
      </p:sp>
      <p:grpSp>
        <p:nvGrpSpPr>
          <p:cNvPr id="41" name="Group 41"/>
          <p:cNvGrpSpPr/>
          <p:nvPr/>
        </p:nvGrpSpPr>
        <p:grpSpPr>
          <a:xfrm>
            <a:off x="3238500" y="4572000"/>
            <a:ext cx="5715000" cy="1428750"/>
            <a:chOff x="3238500" y="4572000"/>
            <a:chExt cx="5715000" cy="1428750"/>
          </a:xfrm>
        </p:grpSpPr>
        <p:sp>
          <p:nvSpPr>
            <p:cNvPr id="30" name="Rectangle 30"/>
            <p:cNvSpPr/>
            <p:nvPr/>
          </p:nvSpPr>
          <p:spPr>
            <a:xfrm>
              <a:off x="3238500" y="4572000"/>
              <a:ext cx="5715000" cy="142875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507105" y="48072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状态更新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3524250" y="5238750"/>
              <a:ext cx="1524000" cy="571500"/>
              <a:chOff x="3524250" y="5238750"/>
              <a:chExt cx="1524000" cy="5715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3524250" y="5238750"/>
                <a:ext cx="1524000" cy="571500"/>
              </a:xfrm>
              <a:prstGeom prst="rect">
                <a:avLst/>
              </a:prstGeom>
              <a:solidFill>
                <a:srgbClr val="3182CE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3636886" y="5458778"/>
                <a:ext cx="129872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task_status.md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5334000" y="5238750"/>
              <a:ext cx="1524000" cy="571500"/>
              <a:chOff x="5334000" y="5238750"/>
              <a:chExt cx="1524000" cy="5715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5334000" y="5238750"/>
                <a:ext cx="1524000" cy="571500"/>
              </a:xfrm>
              <a:prstGeom prst="rect">
                <a:avLst/>
              </a:prstGeom>
              <a:solidFill>
                <a:srgbClr val="38B2AC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5390278" y="5458778"/>
                <a:ext cx="141144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load_balance.json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7143750" y="5238750"/>
              <a:ext cx="1524000" cy="571500"/>
              <a:chOff x="7143750" y="5238750"/>
              <a:chExt cx="1524000" cy="5715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7143750" y="5238750"/>
                <a:ext cx="1524000" cy="571500"/>
              </a:xfrm>
              <a:prstGeom prst="rect">
                <a:avLst/>
              </a:prstGeom>
              <a:solidFill>
                <a:srgbClr val="ED8936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200028" y="5458778"/>
                <a:ext cx="141144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Source Han Sans CN"/>
                    <a:ea typeface="Microsoft YaHei"/>
                    <a:cs typeface="Source Han Sans CN"/>
                  </a:rPr>
                  <a:t>fingerprints.json</a:t>
                </a:r>
              </a:p>
            </p:txBody>
          </p:sp>
        </p:grpSp>
      </p:grpSp>
      <p:sp>
        <p:nvSpPr>
          <p:cNvPr id="42" name="TextBox 42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34 / 38</a:t>
            </a:r>
          </a:p>
        </p:txBody>
      </p:sp>
    </p:spTree>
  </p:cSld>
  <p:clrMapOvr>
    <a:masterClrMapping/>
  </p:clrMapOvr>
  <p:transition 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213883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状态机规则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952500" y="1428750"/>
            <a:ext cx="1905000" cy="762000"/>
            <a:chOff x="952500" y="1428750"/>
            <a:chExt cx="1905000" cy="762000"/>
          </a:xfrm>
        </p:grpSpPr>
        <p:sp>
          <p:nvSpPr>
            <p:cNvPr id="6" name="Rectangle 6"/>
            <p:cNvSpPr/>
            <p:nvPr/>
          </p:nvSpPr>
          <p:spPr>
            <a:xfrm>
              <a:off x="952500" y="1428750"/>
              <a:ext cx="1905000" cy="762000"/>
            </a:xfrm>
            <a:prstGeom prst="rect">
              <a:avLst/>
            </a:prstGeom>
            <a:solidFill>
              <a:srgbClr val="E2E8F0"/>
            </a:solidFill>
            <a:ln w="19050">
              <a:solidFill>
                <a:srgbClr val="71809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58519" y="1632585"/>
              <a:ext cx="6929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pending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07820" y="189499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718096"/>
                  </a:solidFill>
                  <a:latin typeface="Source Han Sans CN"/>
                  <a:ea typeface="Microsoft YaHei"/>
                  <a:cs typeface="Source Han Sans CN"/>
                </a:rPr>
                <a:t>等待启动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1905000" y="180975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28575">
            <a:solidFill>
              <a:srgbClr val="38B2AC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860471" y="1617345"/>
            <a:ext cx="10415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38B2AC"/>
                </a:solidFill>
                <a:latin typeface="Source Han Sans CN"/>
                <a:ea typeface="Microsoft YaHei"/>
                <a:cs typeface="Source Han Sans CN"/>
              </a:rPr>
              <a:t>子Agent启动成功</a:t>
            </a:r>
          </a:p>
        </p:txBody>
      </p:sp>
      <p:sp>
        <p:nvSpPr>
          <p:cNvPr id="12" name="Rectangle 12"/>
          <p:cNvSpPr/>
          <p:nvPr/>
        </p:nvSpPr>
        <p:spPr>
          <a:xfrm>
            <a:off x="2857500" y="1428750"/>
            <a:ext cx="1905000" cy="762000"/>
          </a:xfrm>
          <a:prstGeom prst="rect">
            <a:avLst/>
          </a:prstGeom>
          <a:solidFill>
            <a:srgbClr val="EBF8FF"/>
          </a:solidFill>
          <a:ln w="19050">
            <a:solidFill>
              <a:srgbClr val="3182CE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3463519" y="1632585"/>
            <a:ext cx="69296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running</a:t>
            </a:r>
          </a:p>
        </p:txBody>
      </p:sp>
      <p:sp>
        <p:nvSpPr>
          <p:cNvPr id="14" name="Freeform 14"/>
          <p:cNvSpPr/>
          <p:nvPr/>
        </p:nvSpPr>
        <p:spPr>
          <a:xfrm>
            <a:off x="4762500" y="180975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28575">
            <a:solidFill>
              <a:srgbClr val="ED8936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921710" y="1617345"/>
            <a:ext cx="6340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D8936"/>
                </a:solidFill>
                <a:latin typeface="Source Han Sans CN"/>
                <a:ea typeface="Microsoft YaHei"/>
                <a:cs typeface="Source Han Sans CN"/>
              </a:rPr>
              <a:t>置信度≥90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0" y="1428750"/>
            <a:ext cx="1905000" cy="762000"/>
          </a:xfrm>
          <a:prstGeom prst="rect">
            <a:avLst/>
          </a:prstGeom>
          <a:solidFill>
            <a:srgbClr val="C6F6D5"/>
          </a:solidFill>
          <a:ln w="19050">
            <a:solidFill>
              <a:srgbClr val="38B2AC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298016" y="1632585"/>
            <a:ext cx="7389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success</a:t>
            </a:r>
          </a:p>
        </p:txBody>
      </p:sp>
      <p:sp>
        <p:nvSpPr>
          <p:cNvPr id="18" name="Freeform 18"/>
          <p:cNvSpPr/>
          <p:nvPr/>
        </p:nvSpPr>
        <p:spPr>
          <a:xfrm>
            <a:off x="6667500" y="2190750"/>
            <a:ext cx="9525" cy="952500"/>
          </a:xfrm>
          <a:custGeom>
            <a:avLst/>
            <a:gdLst/>
            <a:ahLst/>
            <a:cxnLst/>
            <a:rect l="l" t="t" r="r" b="b"/>
            <a:pathLst>
              <a:path w="9525" h="952500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/>
          <a:ln w="28575">
            <a:solidFill>
              <a:srgbClr val="E53E3E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540960" y="2665095"/>
            <a:ext cx="6340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53E3E"/>
                </a:solidFill>
                <a:latin typeface="Source Han Sans CN"/>
                <a:ea typeface="Microsoft YaHei"/>
                <a:cs typeface="Source Han Sans CN"/>
              </a:rPr>
              <a:t>置信度&lt;90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0" y="3143250"/>
            <a:ext cx="1905000" cy="762000"/>
          </a:xfrm>
          <a:prstGeom prst="rect">
            <a:avLst/>
          </a:prstGeom>
          <a:solidFill>
            <a:srgbClr val="FED7D7"/>
          </a:solidFill>
          <a:ln w="19050">
            <a:solidFill>
              <a:srgbClr val="E53E3E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394628" y="3347085"/>
            <a:ext cx="5457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failed</a:t>
            </a:r>
          </a:p>
        </p:txBody>
      </p:sp>
      <p:sp>
        <p:nvSpPr>
          <p:cNvPr id="22" name="Freeform 22"/>
          <p:cNvSpPr/>
          <p:nvPr/>
        </p:nvSpPr>
        <p:spPr>
          <a:xfrm>
            <a:off x="3810000" y="2190750"/>
            <a:ext cx="9525" cy="952500"/>
          </a:xfrm>
          <a:custGeom>
            <a:avLst/>
            <a:gdLst/>
            <a:ahLst/>
            <a:cxnLst/>
            <a:rect l="l" t="t" r="r" b="b"/>
            <a:pathLst>
              <a:path w="9525" h="952500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/>
          <a:ln w="28575">
            <a:solidFill>
              <a:srgbClr val="E53E3E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3690033" y="2665095"/>
            <a:ext cx="6209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53E3E"/>
                </a:solidFill>
                <a:latin typeface="Source Han Sans CN"/>
                <a:ea typeface="Microsoft YaHei"/>
                <a:cs typeface="Source Han Sans CN"/>
              </a:rPr>
              <a:t>超时/错误</a:t>
            </a:r>
          </a:p>
        </p:txBody>
      </p:sp>
      <p:sp>
        <p:nvSpPr>
          <p:cNvPr id="24" name="Rectangle 24"/>
          <p:cNvSpPr/>
          <p:nvPr/>
        </p:nvSpPr>
        <p:spPr>
          <a:xfrm>
            <a:off x="2857500" y="3143250"/>
            <a:ext cx="1905000" cy="762000"/>
          </a:xfrm>
          <a:prstGeom prst="rect">
            <a:avLst/>
          </a:prstGeom>
          <a:solidFill>
            <a:srgbClr val="FAF5FF"/>
          </a:solidFill>
          <a:ln w="19050">
            <a:solidFill>
              <a:srgbClr val="805AD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3495723" y="3347085"/>
            <a:ext cx="62855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review</a:t>
            </a:r>
          </a:p>
        </p:txBody>
      </p:sp>
      <p:sp>
        <p:nvSpPr>
          <p:cNvPr id="26" name="Freeform 26"/>
          <p:cNvSpPr/>
          <p:nvPr/>
        </p:nvSpPr>
        <p:spPr>
          <a:xfrm>
            <a:off x="4762500" y="314325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28575">
            <a:solidFill>
              <a:srgbClr val="805AD5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4964430" y="295084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05AD5"/>
                </a:solidFill>
                <a:latin typeface="Source Han Sans CN"/>
                <a:ea typeface="Microsoft YaHei"/>
                <a:cs typeface="Source Han Sans CN"/>
              </a:rPr>
              <a:t>审核通过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8572500" y="1428750"/>
            <a:ext cx="3048000" cy="4286250"/>
            <a:chOff x="8572500" y="1428750"/>
            <a:chExt cx="3048000" cy="4286250"/>
          </a:xfrm>
        </p:grpSpPr>
        <p:sp>
          <p:nvSpPr>
            <p:cNvPr id="28" name="Rectangle 28"/>
            <p:cNvSpPr/>
            <p:nvPr/>
          </p:nvSpPr>
          <p:spPr>
            <a:xfrm>
              <a:off x="8572500" y="1428750"/>
              <a:ext cx="3048000" cy="428625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841105" y="16640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状态说明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8858250" y="2095500"/>
              <a:ext cx="2476500" cy="571500"/>
              <a:chOff x="8858250" y="2095500"/>
              <a:chExt cx="2476500" cy="5715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8858250" y="2095500"/>
                <a:ext cx="2476500" cy="57150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8988742" y="2228374"/>
                <a:ext cx="56303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pending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989695" y="2455545"/>
                <a:ext cx="68008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任务刚创建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8858250" y="2762250"/>
              <a:ext cx="2476500" cy="571500"/>
              <a:chOff x="8858250" y="2762250"/>
              <a:chExt cx="2476500" cy="5715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8858250" y="2762250"/>
                <a:ext cx="2476500" cy="571500"/>
              </a:xfrm>
              <a:prstGeom prst="rect">
                <a:avLst/>
              </a:prstGeom>
              <a:solidFill>
                <a:srgbClr val="EBF8FF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8988742" y="2895124"/>
                <a:ext cx="56303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3182CE"/>
                    </a:solidFill>
                    <a:latin typeface="Source Han Sans CN"/>
                    <a:ea typeface="Microsoft YaHei"/>
                    <a:cs typeface="Source Han Sans CN"/>
                  </a:rPr>
                  <a:t>running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989695" y="3122295"/>
                <a:ext cx="94954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Agent 正在执行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8858250" y="3429000"/>
              <a:ext cx="2476500" cy="571500"/>
              <a:chOff x="8858250" y="3429000"/>
              <a:chExt cx="2476500" cy="5715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8858250" y="3429000"/>
                <a:ext cx="2476500" cy="571500"/>
              </a:xfrm>
              <a:prstGeom prst="rect">
                <a:avLst/>
              </a:prstGeom>
              <a:solidFill>
                <a:srgbClr val="FAF5FF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8988742" y="3561874"/>
                <a:ext cx="51070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805AD5"/>
                    </a:solidFill>
                    <a:latin typeface="Source Han Sans CN"/>
                    <a:ea typeface="Microsoft YaHei"/>
                    <a:cs typeface="Source Han Sans CN"/>
                  </a:rPr>
                  <a:t>review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989695" y="3789045"/>
                <a:ext cx="5486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等待审核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8858250" y="4095750"/>
              <a:ext cx="2476500" cy="571500"/>
              <a:chOff x="8858250" y="4095750"/>
              <a:chExt cx="2476500" cy="5715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8858250" y="4095750"/>
                <a:ext cx="2476500" cy="571500"/>
              </a:xfrm>
              <a:prstGeom prst="rect">
                <a:avLst/>
              </a:prstGeom>
              <a:solidFill>
                <a:srgbClr val="C6F6D5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8988742" y="4228624"/>
                <a:ext cx="60041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276749"/>
                    </a:solidFill>
                    <a:latin typeface="Source Han Sans CN"/>
                    <a:ea typeface="Microsoft YaHei"/>
                    <a:cs typeface="Source Han Sans CN"/>
                  </a:rPr>
                  <a:t>success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989695" y="4455795"/>
                <a:ext cx="5486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任务完成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8858250" y="4762500"/>
              <a:ext cx="2476500" cy="571500"/>
              <a:chOff x="8858250" y="4762500"/>
              <a:chExt cx="2476500" cy="5715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8858250" y="4762500"/>
                <a:ext cx="2476500" cy="571500"/>
              </a:xfrm>
              <a:prstGeom prst="rect">
                <a:avLst/>
              </a:prstGeom>
              <a:solidFill>
                <a:srgbClr val="FED7D7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8988742" y="4895374"/>
                <a:ext cx="44341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C53030"/>
                    </a:solidFill>
                    <a:latin typeface="Source Han Sans CN"/>
                    <a:ea typeface="Microsoft YaHei"/>
                    <a:cs typeface="Source Han Sans CN"/>
                  </a:rPr>
                  <a:t>failed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989695" y="5122545"/>
                <a:ext cx="5486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18096"/>
                    </a:solidFill>
                    <a:latin typeface="Source Han Sans CN"/>
                    <a:ea typeface="Microsoft YaHei"/>
                    <a:cs typeface="Source Han Sans CN"/>
                  </a:rPr>
                  <a:t>任务失败</a:t>
                </a:r>
              </a:p>
            </p:txBody>
          </p:sp>
        </p:grpSp>
      </p:grpSp>
      <p:sp>
        <p:nvSpPr>
          <p:cNvPr id="51" name="TextBox 51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35 / 38</a:t>
            </a:r>
          </a:p>
        </p:txBody>
      </p:sp>
    </p:spTree>
  </p:cSld>
  <p:clrMapOvr>
    <a:masterClrMapping/>
  </p:clrMapOvr>
  <p:transition 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213883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超时规则表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30" name="Group 30"/>
          <p:cNvGrpSpPr/>
          <p:nvPr/>
        </p:nvGrpSpPr>
        <p:grpSpPr>
          <a:xfrm>
            <a:off x="952500" y="1333500"/>
            <a:ext cx="10287000" cy="4572000"/>
            <a:chOff x="952500" y="1333500"/>
            <a:chExt cx="10287000" cy="4572000"/>
          </a:xfrm>
        </p:grpSpPr>
        <p:sp>
          <p:nvSpPr>
            <p:cNvPr id="6" name="Rectangle 6"/>
            <p:cNvSpPr/>
            <p:nvPr/>
          </p:nvSpPr>
          <p:spPr>
            <a:xfrm>
              <a:off x="952500" y="1333500"/>
              <a:ext cx="10287000" cy="45720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952500" y="1333500"/>
              <a:ext cx="10287000" cy="5715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426303" y="15497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任务类型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303" y="15497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超时阈值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952500" y="2095500"/>
              <a:ext cx="10287000" cy="666750"/>
              <a:chOff x="952500" y="2095500"/>
              <a:chExt cx="10287000" cy="6667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952500" y="2095500"/>
                <a:ext cx="10287000" cy="666750"/>
              </a:xfrm>
              <a:prstGeom prst="rect">
                <a:avLst/>
              </a:prstGeom>
              <a:solidFill>
                <a:srgbClr val="EBF8FF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567243" y="2366010"/>
                <a:ext cx="258051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math_tutoring / simple_query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720421" y="2366010"/>
                <a:ext cx="65615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38B2AC"/>
                    </a:solidFill>
                    <a:latin typeface="Source Han Sans CN"/>
                    <a:ea typeface="Microsoft YaHei"/>
                    <a:cs typeface="Source Han Sans CN"/>
                  </a:rPr>
                  <a:t>30 分钟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952500" y="2809875"/>
              <a:ext cx="10287000" cy="666750"/>
              <a:chOff x="952500" y="2809875"/>
              <a:chExt cx="10287000" cy="6667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952500" y="2809875"/>
                <a:ext cx="10287000" cy="666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887093" y="3080385"/>
                <a:ext cx="194081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intelligence_collection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771027" y="3080385"/>
                <a:ext cx="55494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38B2AC"/>
                    </a:solidFill>
                    <a:latin typeface="Source Han Sans CN"/>
                    <a:ea typeface="Microsoft YaHei"/>
                    <a:cs typeface="Source Han Sans CN"/>
                  </a:rPr>
                  <a:t>2 小时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952500" y="3524250"/>
              <a:ext cx="10287000" cy="666750"/>
              <a:chOff x="952500" y="3524250"/>
              <a:chExt cx="10287000" cy="6667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952500" y="3524250"/>
                <a:ext cx="10287000" cy="666750"/>
              </a:xfrm>
              <a:prstGeom prst="rect">
                <a:avLst/>
              </a:prstGeom>
              <a:solidFill>
                <a:srgbClr val="FEF3E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212342" y="3794760"/>
                <a:ext cx="329031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technical_analysis / content_creation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771027" y="3794760"/>
                <a:ext cx="55494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ED8936"/>
                    </a:solidFill>
                    <a:latin typeface="Source Han Sans CN"/>
                    <a:ea typeface="Microsoft YaHei"/>
                    <a:cs typeface="Source Han Sans CN"/>
                  </a:rPr>
                  <a:t>6 小时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952500" y="4238625"/>
              <a:ext cx="10287000" cy="666750"/>
              <a:chOff x="952500" y="4238625"/>
              <a:chExt cx="10287000" cy="6667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952500" y="4238625"/>
                <a:ext cx="10287000" cy="666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2075498" y="4509135"/>
                <a:ext cx="156400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complex_research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720421" y="4509135"/>
                <a:ext cx="65615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ED8936"/>
                    </a:solidFill>
                    <a:latin typeface="Source Han Sans CN"/>
                    <a:ea typeface="Microsoft YaHei"/>
                    <a:cs typeface="Source Han Sans CN"/>
                  </a:rPr>
                  <a:t>24 小时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952500" y="4953000"/>
              <a:ext cx="10287000" cy="666750"/>
              <a:chOff x="952500" y="4953000"/>
              <a:chExt cx="10287000" cy="6667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952500" y="4953000"/>
                <a:ext cx="10287000" cy="666750"/>
              </a:xfrm>
              <a:prstGeom prst="rect">
                <a:avLst/>
              </a:prstGeom>
              <a:solidFill>
                <a:srgbClr val="FAF5FF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909000" y="5223510"/>
                <a:ext cx="189699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365D"/>
                    </a:solidFill>
                    <a:latin typeface="Source Han Sans CN"/>
                    <a:ea typeface="Microsoft YaHei"/>
                    <a:cs typeface="Source Han Sans CN"/>
                  </a:rPr>
                  <a:t>work_present_output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771027" y="5223510"/>
                <a:ext cx="55494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805AD5"/>
                    </a:solidFill>
                    <a:latin typeface="Source Han Sans CN"/>
                    <a:ea typeface="Microsoft YaHei"/>
                    <a:cs typeface="Source Han Sans CN"/>
                  </a:rPr>
                  <a:t>6 小时</a:t>
                </a:r>
              </a:p>
            </p:txBody>
          </p:sp>
        </p:grpSp>
      </p:grpSp>
      <p:sp>
        <p:nvSpPr>
          <p:cNvPr id="31" name="TextBox 31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36 / 38</a:t>
            </a:r>
          </a:p>
        </p:txBody>
      </p:sp>
    </p:spTree>
  </p:cSld>
  <p:clrMapOvr>
    <a:masterClrMapping/>
  </p:clrMapOvr>
  <p:transition 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375285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Source Han Sans CN"/>
                <a:ea typeface="Microsoft YaHei"/>
                <a:cs typeface="Source Han Sans CN"/>
              </a:rPr>
              <a:t>常用命令速查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857250"/>
            <a:ext cx="9525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571500" y="1238250"/>
            <a:ext cx="5334000" cy="4953000"/>
            <a:chOff x="571500" y="1238250"/>
            <a:chExt cx="5334000" cy="4953000"/>
          </a:xfrm>
        </p:grpSpPr>
        <p:sp>
          <p:nvSpPr>
            <p:cNvPr id="6" name="Rectangle 6"/>
            <p:cNvSpPr/>
            <p:nvPr/>
          </p:nvSpPr>
          <p:spPr>
            <a:xfrm>
              <a:off x="571500" y="1238250"/>
              <a:ext cx="5334000" cy="495300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8200" y="1504950"/>
              <a:ext cx="10732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Cron 管理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44868" y="189499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182CE"/>
                  </a:solidFill>
                  <a:latin typeface="Consolas"/>
                  <a:ea typeface="Microsoft YaHei"/>
                  <a:cs typeface="Consolas"/>
                </a:rPr>
                <a:t>cron list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4868" y="2133124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Consolas"/>
                  <a:ea typeface="Microsoft YaHei"/>
                  <a:cs typeface="Consolas"/>
                </a:rPr>
                <a:t>列出所有任务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4868" y="2466499"/>
              <a:ext cx="17691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182CE"/>
                  </a:solidFill>
                  <a:latin typeface="Consolas"/>
                  <a:ea typeface="Microsoft YaHei"/>
                  <a:cs typeface="Consolas"/>
                </a:rPr>
                <a:t>cron add --job &lt;job.json&gt;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4868" y="270462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Consolas"/>
                  <a:ea typeface="Microsoft YaHei"/>
                  <a:cs typeface="Consolas"/>
                </a:rPr>
                <a:t>添加任务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4868" y="3037999"/>
              <a:ext cx="14558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182CE"/>
                  </a:solidFill>
                  <a:latin typeface="Consolas"/>
                  <a:ea typeface="Microsoft YaHei"/>
                  <a:cs typeface="Consolas"/>
                </a:rPr>
                <a:t>cron run --jobId &lt;id&gt;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4868" y="327612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Consolas"/>
                  <a:ea typeface="Microsoft YaHei"/>
                  <a:cs typeface="Consolas"/>
                </a:rPr>
                <a:t>手动触发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4868" y="3609499"/>
              <a:ext cx="15341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182CE"/>
                  </a:solidFill>
                  <a:latin typeface="Consolas"/>
                  <a:ea typeface="Microsoft YaHei"/>
                  <a:cs typeface="Consolas"/>
                </a:rPr>
                <a:t>cron runs --jobId &lt;id&gt;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4868" y="3847624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Consolas"/>
                  <a:ea typeface="Microsoft YaHei"/>
                  <a:cs typeface="Consolas"/>
                </a:rPr>
                <a:t>查看执行历史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8200" y="42195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会话管理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4868" y="4609624"/>
              <a:ext cx="9361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8B2AC"/>
                  </a:solidFill>
                  <a:latin typeface="Consolas"/>
                  <a:ea typeface="Microsoft YaHei"/>
                  <a:cs typeface="Consolas"/>
                </a:rPr>
                <a:t>sessions_list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4868" y="48477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Consolas"/>
                  <a:ea typeface="Microsoft YaHei"/>
                  <a:cs typeface="Consolas"/>
                </a:rPr>
                <a:t>列出会话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4868" y="5181124"/>
              <a:ext cx="25879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8B2AC"/>
                  </a:solidFill>
                  <a:latin typeface="Consolas"/>
                  <a:ea typeface="Microsoft YaHei"/>
                  <a:cs typeface="Consolas"/>
                </a:rPr>
                <a:t>sessions_history --sessionKey &lt;key&gt;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4868" y="541924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Consolas"/>
                  <a:ea typeface="Microsoft YaHei"/>
                  <a:cs typeface="Consolas"/>
                </a:rPr>
                <a:t>查看会话历史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4868" y="5752624"/>
              <a:ext cx="15057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8B2AC"/>
                  </a:solidFill>
                  <a:latin typeface="Consolas"/>
                  <a:ea typeface="Microsoft YaHei"/>
                  <a:cs typeface="Consolas"/>
                </a:rPr>
                <a:t>sessions_spawn(...)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4868" y="5990749"/>
              <a:ext cx="8862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Consolas"/>
                  <a:ea typeface="Microsoft YaHei"/>
                  <a:cs typeface="Consolas"/>
                </a:rPr>
                <a:t>启动子 Agent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96000" y="1238250"/>
            <a:ext cx="5334000" cy="2381250"/>
            <a:chOff x="6096000" y="1238250"/>
            <a:chExt cx="5334000" cy="2381250"/>
          </a:xfrm>
        </p:grpSpPr>
        <p:sp>
          <p:nvSpPr>
            <p:cNvPr id="24" name="Rectangle 24"/>
            <p:cNvSpPr/>
            <p:nvPr/>
          </p:nvSpPr>
          <p:spPr>
            <a:xfrm>
              <a:off x="6096000" y="1238250"/>
              <a:ext cx="5334000" cy="238125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62700" y="1504950"/>
              <a:ext cx="14987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子 Agent 管理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69368" y="1894999"/>
              <a:ext cx="10144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D8936"/>
                  </a:solidFill>
                  <a:latin typeface="Consolas"/>
                  <a:ea typeface="Microsoft YaHei"/>
                  <a:cs typeface="Consolas"/>
                </a:rPr>
                <a:t>subagents list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69368" y="2133124"/>
              <a:ext cx="8862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Consolas"/>
                  <a:ea typeface="Microsoft YaHei"/>
                  <a:cs typeface="Consolas"/>
                </a:rPr>
                <a:t>列出子 Agent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69368" y="2466499"/>
              <a:ext cx="19685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D8936"/>
                  </a:solidFill>
                  <a:latin typeface="Consolas"/>
                  <a:ea typeface="Microsoft YaHei"/>
                  <a:cs typeface="Consolas"/>
                </a:rPr>
                <a:t>subagents kill --target &lt;id&gt;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69368" y="2704624"/>
              <a:ext cx="8862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Consolas"/>
                  <a:ea typeface="Microsoft YaHei"/>
                  <a:cs typeface="Consolas"/>
                </a:rPr>
                <a:t>终止子 Agent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69368" y="3037999"/>
              <a:ext cx="21536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D8936"/>
                  </a:solidFill>
                  <a:latin typeface="Consolas"/>
                  <a:ea typeface="Microsoft YaHei"/>
                  <a:cs typeface="Consolas"/>
                </a:rPr>
                <a:t>subagents steer --target &lt;id&gt;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69368" y="3276124"/>
              <a:ext cx="8862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Consolas"/>
                  <a:ea typeface="Microsoft YaHei"/>
                  <a:cs typeface="Consolas"/>
                </a:rPr>
                <a:t>指导子 Agent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96000" y="3810000"/>
            <a:ext cx="5334000" cy="2381250"/>
            <a:chOff x="6096000" y="3810000"/>
            <a:chExt cx="5334000" cy="2381250"/>
          </a:xfrm>
        </p:grpSpPr>
        <p:sp>
          <p:nvSpPr>
            <p:cNvPr id="33" name="Rectangle 33"/>
            <p:cNvSpPr/>
            <p:nvPr/>
          </p:nvSpPr>
          <p:spPr>
            <a:xfrm>
              <a:off x="6096000" y="3810000"/>
              <a:ext cx="5334000" cy="2381250"/>
            </a:xfrm>
            <a:prstGeom prst="rect">
              <a:avLst/>
            </a:prstGeom>
            <a:solidFill>
              <a:srgbClr val="F7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62700" y="407670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65D"/>
                  </a:solidFill>
                  <a:latin typeface="Source Han Sans CN"/>
                  <a:ea typeface="Microsoft YaHei"/>
                  <a:cs typeface="Source Han Sans CN"/>
                </a:rPr>
                <a:t>任务监控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69368" y="4466749"/>
              <a:ext cx="19756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05AD5"/>
                  </a:solidFill>
                  <a:latin typeface="Consolas"/>
                  <a:ea typeface="Microsoft YaHei"/>
                  <a:cs typeface="Consolas"/>
                </a:rPr>
                <a:t>cat shared/task_status.md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69368" y="4704874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Consolas"/>
                  <a:ea typeface="Microsoft YaHei"/>
                  <a:cs typeface="Consolas"/>
                </a:rPr>
                <a:t>查看任务状态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69368" y="5038249"/>
              <a:ext cx="21393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05AD5"/>
                  </a:solidFill>
                  <a:latin typeface="Consolas"/>
                  <a:ea typeface="Microsoft YaHei"/>
                  <a:cs typeface="Consolas"/>
                </a:rPr>
                <a:t>cat shared/.scheduler/log.md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69368" y="5276374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Consolas"/>
                  <a:ea typeface="Microsoft YaHei"/>
                  <a:cs typeface="Consolas"/>
                </a:rPr>
                <a:t>查看调度日志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69368" y="5609749"/>
              <a:ext cx="11568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05AD5"/>
                  </a:solidFill>
                  <a:latin typeface="Consolas"/>
                  <a:ea typeface="Microsoft YaHei"/>
                  <a:cs typeface="Consolas"/>
                </a:rPr>
                <a:t>openclaw status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69368" y="5847874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Consolas"/>
                  <a:ea typeface="Microsoft YaHei"/>
                  <a:cs typeface="Consolas"/>
                </a:rPr>
                <a:t>查看系统状态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37 / 38</a:t>
            </a:r>
          </a:p>
        </p:txBody>
      </p:sp>
    </p:spTree>
  </p:cSld>
  <p:clrMapOvr>
    <a:masterClrMapping/>
  </p:clrMapOvr>
  <p:transition 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365D"/>
              </a:gs>
              <a:gs pos="100000">
                <a:srgbClr val="2C5282"/>
              </a:gs>
            </a:gsLst>
            <a:lin ang="2700000" scaled="1"/>
          </a:gra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0" y="0"/>
            <a:ext cx="3810000" cy="6858000"/>
          </a:xfrm>
          <a:custGeom>
            <a:avLst/>
            <a:gdLst/>
            <a:ahLst/>
            <a:cxnLst/>
            <a:rect l="l" t="t" r="r" b="b"/>
            <a:pathLst>
              <a:path w="3810000" h="6858000">
                <a:moveTo>
                  <a:pt x="0" y="0"/>
                </a:moveTo>
                <a:lnTo>
                  <a:pt x="3810000" y="6858000"/>
                </a:lnTo>
              </a:path>
            </a:pathLst>
          </a:custGeom>
          <a:noFill/>
          <a:ln w="19050">
            <a:solidFill>
              <a:srgbClr val="3182CE">
                <a:alpha val="30000"/>
              </a:srgbClr>
            </a:solidFill>
          </a:ln>
        </p:spPr>
      </p:sp>
      <p:sp>
        <p:nvSpPr>
          <p:cNvPr id="4" name="Line 4"/>
          <p:cNvSpPr/>
          <p:nvPr/>
        </p:nvSpPr>
        <p:spPr>
          <a:xfrm>
            <a:off x="8382000" y="0"/>
            <a:ext cx="3810000" cy="6858000"/>
          </a:xfrm>
          <a:custGeom>
            <a:avLst/>
            <a:gdLst/>
            <a:ahLst/>
            <a:cxnLst/>
            <a:rect l="l" t="t" r="r" b="b"/>
            <a:pathLst>
              <a:path w="3810000" h="6858000">
                <a:moveTo>
                  <a:pt x="0" y="0"/>
                </a:moveTo>
                <a:lnTo>
                  <a:pt x="3810000" y="6858000"/>
                </a:lnTo>
              </a:path>
            </a:pathLst>
          </a:custGeom>
          <a:noFill/>
          <a:ln w="19050">
            <a:solidFill>
              <a:srgbClr val="3182CE">
                <a:alpha val="30000"/>
              </a:srgbClr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4946142" y="2278380"/>
            <a:ext cx="2299716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感谢参与</a:t>
            </a:r>
          </a:p>
        </p:txBody>
      </p:sp>
      <p:sp>
        <p:nvSpPr>
          <p:cNvPr id="6" name="Rectangle 6"/>
          <p:cNvSpPr/>
          <p:nvPr/>
        </p:nvSpPr>
        <p:spPr>
          <a:xfrm>
            <a:off x="4191000" y="2952750"/>
            <a:ext cx="3810000" cy="38100"/>
          </a:xfrm>
          <a:prstGeom prst="rect">
            <a:avLst/>
          </a:prstGeom>
          <a:noFill/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909852" y="3329940"/>
            <a:ext cx="237229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OpenClaw 内部培训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94434" y="3854768"/>
            <a:ext cx="22031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718096"/>
                </a:solidFill>
                <a:latin typeface="Source Han Sans CN"/>
                <a:ea typeface="Microsoft YaHei"/>
                <a:cs typeface="Source Han Sans CN"/>
              </a:rPr>
              <a:t>掌握核心架构与开发实践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3238500" y="4572000"/>
            <a:ext cx="5715000" cy="1143000"/>
            <a:chOff x="3238500" y="4572000"/>
            <a:chExt cx="5715000" cy="1143000"/>
          </a:xfrm>
        </p:grpSpPr>
        <p:sp>
          <p:nvSpPr>
            <p:cNvPr id="9" name="Rectangle 9"/>
            <p:cNvSpPr/>
            <p:nvPr/>
          </p:nvSpPr>
          <p:spPr>
            <a:xfrm>
              <a:off x="3238500" y="4572000"/>
              <a:ext cx="5715000" cy="1143000"/>
            </a:xfrm>
            <a:prstGeom prst="rect">
              <a:avLst/>
            </a:prstGeom>
            <a:solidFill>
              <a:srgbClr val="0F2942">
                <a:alpha val="50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509010" y="48234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参考文档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10915" y="5173028"/>
              <a:ext cx="39678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EC0"/>
                  </a:solidFill>
                  <a:latin typeface="Source Han Sans CN"/>
                  <a:ea typeface="Microsoft YaHei"/>
                  <a:cs typeface="Source Han Sans CN"/>
                </a:rPr>
                <a:t>• OpenClaw 官方文档：~/.openclaw/workspace/docs/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510915" y="5411152"/>
              <a:ext cx="30247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EC0"/>
                  </a:solidFill>
                  <a:latin typeface="Source Han Sans CN"/>
                  <a:ea typeface="Microsoft YaHei"/>
                  <a:cs typeface="Source Han Sans CN"/>
                </a:rPr>
                <a:t>• ClawHub 技能市场：https://clawhub.ai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191000" y="5905500"/>
            <a:ext cx="3810000" cy="476250"/>
            <a:chOff x="4191000" y="5905500"/>
            <a:chExt cx="3810000" cy="476250"/>
          </a:xfrm>
        </p:grpSpPr>
        <p:sp>
          <p:nvSpPr>
            <p:cNvPr id="14" name="Rectangle 14"/>
            <p:cNvSpPr/>
            <p:nvPr/>
          </p:nvSpPr>
          <p:spPr>
            <a:xfrm>
              <a:off x="4191000" y="5905500"/>
              <a:ext cx="3810000" cy="476250"/>
            </a:xfrm>
            <a:prstGeom prst="rect">
              <a:avLst/>
            </a:prstGeom>
            <a:solidFill>
              <a:srgbClr val="ED893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57257" y="6080760"/>
              <a:ext cx="16774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ource Han Sans CN"/>
                  <a:ea typeface="Microsoft YaHei"/>
                  <a:cs typeface="Source Han Sans CN"/>
                </a:rPr>
                <a:t>培训材料版本：v1.0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947856" y="6554152"/>
            <a:ext cx="22962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18096"/>
                </a:solidFill>
                <a:latin typeface="Source Han Sans CN"/>
                <a:ea typeface="Microsoft YaHei"/>
                <a:cs typeface="Source Han Sans CN"/>
              </a:rPr>
              <a:t>维护者：Vincent | 2026年4月9日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839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0AEC0"/>
                </a:solidFill>
                <a:latin typeface="Source Han Sans CN"/>
                <a:ea typeface="Microsoft YaHei"/>
                <a:cs typeface="Source Han Sans CN"/>
              </a:rPr>
              <a:t>38 / 38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