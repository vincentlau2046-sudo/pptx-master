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rgbClr val="76B900"/>
              </a:gs>
              <a:gs pos="100000">
                <a:srgbClr val="5FA00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2562254" y="596265"/>
            <a:ext cx="706749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英伟达 2026 财年财报深度分析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93093" y="1266825"/>
            <a:ext cx="46058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0FFE0"/>
                </a:solidFill>
                <a:latin typeface="Arial"/>
                <a:ea typeface="Microsoft YaHei"/>
                <a:cs typeface="Arial"/>
              </a:rPr>
              <a:t>AI 算力时代的巅峰答卷 · 全年营收 2159 亿美元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2095500"/>
            <a:ext cx="3810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238500" y="2857500"/>
            <a:ext cx="5715000" cy="1143000"/>
            <a:chOff x="3238500" y="2857500"/>
            <a:chExt cx="5715000" cy="11430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7" name="Rectangle 7"/>
            <p:cNvSpPr/>
            <p:nvPr/>
          </p:nvSpPr>
          <p:spPr>
            <a:xfrm>
              <a:off x="3238500" y="2857500"/>
              <a:ext cx="5715000" cy="1143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4731258" y="3108960"/>
              <a:ext cx="272948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财年周期：截至 2026 年 1 月 25 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71975" y="3394710"/>
              <a:ext cx="3448050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全年营收：2159.38 亿美元（同比 +65.5%）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59605" y="3680460"/>
              <a:ext cx="3272790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净利润：1200.67 亿美元（同比 +64.8%）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101209" y="6268402"/>
            <a:ext cx="19895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 年 4 月 · 内部汇报材料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06746" y="6617970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 / 14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核心财务指标概览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11049000" cy="381000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39165" y="13630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4165" y="1363028"/>
            <a:ext cx="751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2026 财年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9165" y="1363028"/>
            <a:ext cx="751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2025 财年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54165" y="1363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同比变化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59165" y="1363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关键解读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619250"/>
            <a:ext cx="110490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0118" y="17235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总营收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4165" y="1715452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2159.38 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50118" y="1723549"/>
            <a:ext cx="7225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1304.97 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5118" y="17235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+65.5%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1070" y="1731645"/>
            <a:ext cx="20996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连续两年高增长，规模突破 2000 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952625"/>
            <a:ext cx="11049000" cy="333375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40118" y="2056924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GAAP 净利润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44165" y="2048828"/>
            <a:ext cx="8156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1200.67 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50118" y="2056924"/>
            <a:ext cx="679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728.80 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55118" y="2056924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+64.8%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61070" y="2065020"/>
            <a:ext cx="19682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盈利规模翻倍，日均净赚 3.28 亿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286000"/>
            <a:ext cx="110490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40118" y="2390299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GAAP 毛利率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44165" y="2382202"/>
            <a:ext cx="388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71.1%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50118" y="23902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69.7%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5118" y="2390299"/>
            <a:ext cx="537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+1.4pct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61070" y="23983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高端产品占比提升，规模效应强化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619375"/>
            <a:ext cx="11049000" cy="333375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40118" y="27236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经营现金流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4165" y="2715578"/>
            <a:ext cx="7754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1027.18 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50118" y="2723674"/>
            <a:ext cx="679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640.89 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5118" y="2723674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+60.3%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61070" y="2731770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现金流充沛，支撑研发与股东回报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2952750"/>
            <a:ext cx="110490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40118" y="30570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每股收益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4165" y="3048952"/>
            <a:ext cx="7512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4.93 美元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50118" y="3057049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2.97 美元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5118" y="30570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+66.0%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61070" y="306514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股东回报显著，业绩兑现度高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3286125"/>
            <a:ext cx="11049000" cy="333375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40118" y="33904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资产负债率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844165" y="33823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23.9%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50118" y="3390424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28.9%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55118" y="3390424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-5.0pct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61070" y="33985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财务结构稳健，抗风险能力极强</a:t>
            </a:r>
          </a:p>
        </p:txBody>
      </p:sp>
      <p:sp>
        <p:nvSpPr>
          <p:cNvPr id="47" name="Rectangle 4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 / 14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整体业绩核心特征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571500" y="1230630"/>
            <a:ext cx="5334000" cy="2198370"/>
            <a:chOff x="571500" y="1230630"/>
            <a:chExt cx="5334000" cy="2198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5334000" cy="2095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571500" y="1333500"/>
              <a:ext cx="76200" cy="2095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3450" y="1552575"/>
              <a:ext cx="1418272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增长质量双优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9165" y="1934528"/>
              <a:ext cx="198958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营收与净利润增速均超 65%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2172652"/>
              <a:ext cx="1774888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毛利率持续上行至 71.1%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165" y="2410778"/>
              <a:ext cx="184389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费用增速远低于营收增速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9165" y="2648902"/>
              <a:ext cx="138384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运营效率大幅优化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78780" y="1230630"/>
              <a:ext cx="257061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0" y="1230630"/>
            <a:ext cx="5334000" cy="2198370"/>
            <a:chOff x="6286500" y="1230630"/>
            <a:chExt cx="5334000" cy="2198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6286500" y="1333500"/>
              <a:ext cx="5334000" cy="2095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76200" cy="2095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6648450" y="1552575"/>
              <a:ext cx="1418272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结构高度集中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4165" y="1934528"/>
              <a:ext cx="215827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数据中心业务占总营收 89.7%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4165" y="2172652"/>
              <a:ext cx="169054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成为绝对核心增长引擎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4165" y="2410778"/>
              <a:ext cx="138384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其他业务协同增长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4165" y="2648902"/>
              <a:ext cx="138384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业务结构清晰聚焦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93780" y="1230630"/>
              <a:ext cx="3950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3707130"/>
            <a:ext cx="5334000" cy="2198370"/>
            <a:chOff x="571500" y="3707130"/>
            <a:chExt cx="5334000" cy="2198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3" name="Rectangle 23"/>
            <p:cNvSpPr/>
            <p:nvPr/>
          </p:nvSpPr>
          <p:spPr>
            <a:xfrm>
              <a:off x="571500" y="3810000"/>
              <a:ext cx="5334000" cy="2095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571500" y="3810000"/>
              <a:ext cx="76200" cy="2095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933450" y="4029075"/>
              <a:ext cx="1648301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现金流超级充沛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9165" y="4411028"/>
              <a:ext cx="1928241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经营现金流破 1027 亿美元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165" y="4649152"/>
              <a:ext cx="188223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自由现金流近 970 亿美元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9165" y="4887278"/>
              <a:ext cx="172888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现金储备超 625 亿美元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165" y="5125402"/>
              <a:ext cx="169054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具备极强战略扩张能力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8780" y="3707130"/>
              <a:ext cx="3950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3707130"/>
            <a:ext cx="5334000" cy="2198370"/>
            <a:chOff x="6286500" y="3707130"/>
            <a:chExt cx="5334000" cy="2198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2" name="Rectangle 32"/>
            <p:cNvSpPr/>
            <p:nvPr/>
          </p:nvSpPr>
          <p:spPr>
            <a:xfrm>
              <a:off x="6286500" y="3810000"/>
              <a:ext cx="5334000" cy="2095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286500" y="3810000"/>
              <a:ext cx="76200" cy="2095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6648450" y="4029075"/>
              <a:ext cx="1418272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增长韧性强劲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4165" y="4411028"/>
              <a:ext cx="184389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全年四季度均环比正增长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4165" y="4649152"/>
              <a:ext cx="123048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无季度下滑记录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4165" y="4887278"/>
              <a:ext cx="186690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AI 需求转向稳健持续增长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4165" y="5125402"/>
              <a:ext cx="123048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业绩确定性极强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93780" y="3707130"/>
              <a:ext cx="3950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4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3 / 14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453271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数据中心业务 - 核心增长极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2857500" cy="1428750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76747" y="1326832"/>
            <a:ext cx="244700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1937.37 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2645" y="1839278"/>
            <a:ext cx="16752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全年收入 · 同比 +68.2%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6347" y="2077402"/>
            <a:ext cx="11078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占总营收 89.7%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0" y="1238250"/>
            <a:ext cx="2857500" cy="1428750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796028" y="1458278"/>
            <a:ext cx="8854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Q4 单季收入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03897" y="1613535"/>
            <a:ext cx="18697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623.14 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03694" y="2085499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同比 +75% · 环比 +22%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048500" y="1238250"/>
            <a:ext cx="4572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14260" y="13944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产品结构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429500" y="1714500"/>
            <a:ext cx="3810000" cy="285750"/>
          </a:xfrm>
          <a:prstGeom prst="rect">
            <a:avLst/>
          </a:prstGeom>
          <a:solidFill>
            <a:srgbClr val="E8EAE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429500" y="1714500"/>
            <a:ext cx="2543175" cy="28575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971455" y="1807845"/>
            <a:ext cx="7260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GB 系统 2/3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17118" y="2085499"/>
            <a:ext cx="28086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Grace Blackwell 系统占数据中心营收 2/3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17118" y="2323624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高端产品占比持续提升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4355" y="29975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核心驱动因素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71500" y="3429000"/>
            <a:ext cx="2667000" cy="1333500"/>
            <a:chOff x="571500" y="34290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571500" y="3429000"/>
              <a:ext cx="26670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715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842010" y="3632835"/>
              <a:ext cx="126343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Blackwell 架构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868" y="3895249"/>
              <a:ext cx="102155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全面落地，支撑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4868" y="4133374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全年核心增长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429000" y="3429000"/>
            <a:ext cx="2667000" cy="1333500"/>
            <a:chOff x="3429000" y="34290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3429000" y="3429000"/>
              <a:ext cx="26670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34290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3699510" y="3632835"/>
              <a:ext cx="978198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AI 推理需求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2368" y="3895249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爆发式增长，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02368" y="4133374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成为新增长点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3429000"/>
            <a:ext cx="2667000" cy="1333500"/>
            <a:chOff x="6286500" y="34290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3" name="Rectangle 33"/>
            <p:cNvSpPr/>
            <p:nvPr/>
          </p:nvSpPr>
          <p:spPr>
            <a:xfrm>
              <a:off x="6286500" y="3429000"/>
              <a:ext cx="26670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62865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6557010" y="3632835"/>
              <a:ext cx="95059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云厂商采购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9868" y="3895249"/>
              <a:ext cx="73675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头部云厂商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59868" y="4133374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集中采购放量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44000" y="3429000"/>
            <a:ext cx="2667000" cy="1333500"/>
            <a:chOff x="9144000" y="34290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9144000" y="3429000"/>
              <a:ext cx="26670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91440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9414510" y="3632835"/>
              <a:ext cx="1134618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高速网络业务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17368" y="3895249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爆发式增长，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17368" y="4133374"/>
              <a:ext cx="87915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贡献显著增量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 / 14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42858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游戏业务 - 稳健增长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2857500" cy="1428750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589" y="1326832"/>
            <a:ext cx="218132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160.42 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1814" y="1839278"/>
            <a:ext cx="16368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全年收入 · 同比 +41.3%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8519" y="2077402"/>
            <a:ext cx="1023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占总营收 7.4%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0" y="1238250"/>
            <a:ext cx="2857500" cy="1428750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69833" y="1458278"/>
            <a:ext cx="1337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 PC 显卡市场份额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85754" y="1611630"/>
            <a:ext cx="1305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70%+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9171" y="22283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占据主导地位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048500" y="1238250"/>
            <a:ext cx="4572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14260" y="13944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季度增长趋势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0" y="1905000"/>
            <a:ext cx="571500" cy="381000"/>
          </a:xfrm>
          <a:prstGeom prst="rect">
            <a:avLst/>
          </a:prstGeom>
          <a:solidFill>
            <a:srgbClr val="76B900">
              <a:alpha val="6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382000" y="1809750"/>
            <a:ext cx="571500" cy="476250"/>
          </a:xfrm>
          <a:prstGeom prst="rect">
            <a:avLst/>
          </a:prstGeom>
          <a:solidFill>
            <a:srgbClr val="76B900">
              <a:alpha val="70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0" y="1714500"/>
            <a:ext cx="571500" cy="571500"/>
          </a:xfrm>
          <a:prstGeom prst="rect">
            <a:avLst/>
          </a:prstGeom>
          <a:solidFill>
            <a:srgbClr val="76B900">
              <a:alpha val="8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9906000" y="1619250"/>
            <a:ext cx="571500" cy="66675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32015" y="2387441"/>
            <a:ext cx="1474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78953" y="2387441"/>
            <a:ext cx="177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40953" y="2387441"/>
            <a:ext cx="177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02953" y="2387441"/>
            <a:ext cx="1775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4355" y="29975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核心驱动因素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3429000"/>
            <a:ext cx="3619500" cy="1333500"/>
            <a:chOff x="571500" y="3429000"/>
            <a:chExt cx="36195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4" name="Rectangle 24"/>
            <p:cNvSpPr/>
            <p:nvPr/>
          </p:nvSpPr>
          <p:spPr>
            <a:xfrm>
              <a:off x="571500" y="3429000"/>
              <a:ext cx="36195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5715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842010" y="3632835"/>
              <a:ext cx="175109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RTX 50 系列显卡发布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4868" y="3942874"/>
              <a:ext cx="244554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新一代游戏显卡上市，性能大幅提升，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868" y="4180999"/>
              <a:ext cx="144875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带动游戏业务收入增长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572000" y="3429000"/>
            <a:ext cx="3619500" cy="1333500"/>
            <a:chOff x="4572000" y="3429000"/>
            <a:chExt cx="36195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4572000" y="3429000"/>
              <a:ext cx="36195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45720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4842510" y="3632835"/>
              <a:ext cx="141985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AI PC 渗透率提升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45368" y="3942874"/>
              <a:ext cx="209666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 PC 市场快速增长，英伟达占据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5368" y="4180999"/>
              <a:ext cx="16409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 PC 显卡 70%+ 市场份额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72500" y="3429000"/>
            <a:ext cx="3619500" cy="1333500"/>
            <a:chOff x="8572500" y="3429000"/>
            <a:chExt cx="36195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6" name="Rectangle 36"/>
            <p:cNvSpPr/>
            <p:nvPr/>
          </p:nvSpPr>
          <p:spPr>
            <a:xfrm>
              <a:off x="8572500" y="3429000"/>
              <a:ext cx="36195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8572500" y="3429000"/>
              <a:ext cx="57150" cy="1333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8843010" y="3632835"/>
              <a:ext cx="15026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游戏生态持续优化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45868" y="3942874"/>
              <a:ext cx="218210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DLSS 4.0、光线追踪等技术普及，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45868" y="4180999"/>
              <a:ext cx="159115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提升用户体验和购买意愿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5 / 14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416467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其他业务板块 - 协同增长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571500" y="1230630"/>
            <a:ext cx="4749927" cy="2007870"/>
            <a:chOff x="571500" y="1230630"/>
            <a:chExt cx="4749927" cy="2007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571500" y="1333500"/>
              <a:ext cx="76200" cy="1905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5355" y="1568768"/>
              <a:ext cx="1483471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专业可视化业务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2020" y="1836420"/>
              <a:ext cx="1551546" cy="4876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32.00 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2267902"/>
              <a:ext cx="202025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+70.0% · 占总营收 1.5%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1070" y="2617470"/>
              <a:ext cx="199453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工业元宇宙、AI 设计、数字孪生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1070" y="2807970"/>
              <a:ext cx="172507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RTX PRO 专业显卡需求爆发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73780" y="1230630"/>
              <a:ext cx="1747647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高增长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81500" y="1230630"/>
            <a:ext cx="5301996" cy="2007870"/>
            <a:chOff x="4381500" y="1230630"/>
            <a:chExt cx="5301996" cy="2007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4381500" y="13335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76200" cy="1905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4745355" y="1568768"/>
              <a:ext cx="862393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汽车业务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32020" y="1836420"/>
              <a:ext cx="1551546" cy="4876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23.00 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9165" y="2267902"/>
              <a:ext cx="198191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+39.0% · 占总营收 1.1%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1070" y="2617470"/>
              <a:ext cx="144903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自动驾驶平台量产落地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1070" y="2807970"/>
              <a:ext cx="137674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车载 AI 算力需求提升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83780" y="1230630"/>
              <a:ext cx="2299716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稳定增长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1230630"/>
            <a:ext cx="4197858" cy="2007870"/>
            <a:chOff x="8191500" y="1230630"/>
            <a:chExt cx="4197858" cy="2007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3" name="Rectangle 23"/>
            <p:cNvSpPr/>
            <p:nvPr/>
          </p:nvSpPr>
          <p:spPr>
            <a:xfrm>
              <a:off x="8191500" y="1333500"/>
              <a:ext cx="3429000" cy="190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8191500" y="1333500"/>
              <a:ext cx="76200" cy="1905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8555355" y="1568768"/>
              <a:ext cx="1555930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OEM 及其他业务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42020" y="1836420"/>
              <a:ext cx="1349121" cy="4876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6.59 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59165" y="2267902"/>
              <a:ext cx="2058591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+25.0% · 占总营收 0.3%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61070" y="2617470"/>
              <a:ext cx="133731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边缘 AI、嵌入式计算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1070" y="2807970"/>
              <a:ext cx="923258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工业解决方案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93780" y="12306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补充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4355" y="36642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业务收入对比（单位：亿美元）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952500" y="4191000"/>
            <a:ext cx="1905000" cy="142875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1143000" y="4953000"/>
            <a:ext cx="1524000" cy="666750"/>
          </a:xfrm>
          <a:prstGeom prst="rect">
            <a:avLst/>
          </a:prstGeom>
          <a:solidFill>
            <a:srgbClr val="76B900">
              <a:alpha val="6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712833" y="47605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32.00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64958" y="57130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专业可视化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238500" y="4191000"/>
            <a:ext cx="1905000" cy="142875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429000" y="5143500"/>
            <a:ext cx="1524000" cy="476250"/>
          </a:xfrm>
          <a:prstGeom prst="rect">
            <a:avLst/>
          </a:prstGeom>
          <a:solidFill>
            <a:srgbClr val="76B900">
              <a:alpha val="7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998833" y="495109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23.00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48125" y="57130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汽车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524500" y="4191000"/>
            <a:ext cx="1905000" cy="142875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715000" y="5429250"/>
            <a:ext cx="1524000" cy="190500"/>
          </a:xfrm>
          <a:prstGeom prst="rect">
            <a:avLst/>
          </a:prstGeom>
          <a:solidFill>
            <a:srgbClr val="76B900">
              <a:alpha val="8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320980" y="5236845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6.59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4125" y="57130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其他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6 / 14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业务结构对比表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11049000" cy="381000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39165" y="1363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业务板块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4165" y="1363028"/>
            <a:ext cx="15563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2026 财年收入（亿）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25415" y="1363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同比增速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0415" y="1363028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占总营收比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35415" y="136302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增长评级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619250"/>
            <a:ext cx="11049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38212" y="17359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数据中心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42260" y="1727835"/>
            <a:ext cx="692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1937.37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4462" y="1735931"/>
            <a:ext cx="570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+68.2%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9462" y="1735931"/>
            <a:ext cx="480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89.7%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31605" y="171164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700"/>
                </a:solidFill>
                <a:latin typeface="Arial Black"/>
                <a:ea typeface="Microsoft YaHei"/>
                <a:cs typeface="Arial Black"/>
              </a:rPr>
              <a:t>★★★★★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2095500"/>
            <a:ext cx="11049000" cy="476250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38212" y="22121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游戏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42260" y="2204085"/>
            <a:ext cx="59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160.42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24462" y="2212181"/>
            <a:ext cx="529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+41.3%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29462" y="2212181"/>
            <a:ext cx="390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31605" y="218789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0C0C0"/>
                </a:solidFill>
                <a:latin typeface="Arial Black"/>
                <a:ea typeface="Microsoft YaHei"/>
                <a:cs typeface="Arial Black"/>
              </a:rPr>
              <a:t>★★★★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571750"/>
            <a:ext cx="11049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38212" y="268843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专业可视化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42260" y="268033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32.00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24462" y="2688431"/>
            <a:ext cx="570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+70.0%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29462" y="2688431"/>
            <a:ext cx="3489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1.5%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31605" y="2664142"/>
            <a:ext cx="5765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700"/>
                </a:solidFill>
                <a:latin typeface="Arial Black"/>
                <a:ea typeface="Microsoft YaHei"/>
                <a:cs typeface="Arial Black"/>
              </a:rPr>
              <a:t>★★★★★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048000"/>
            <a:ext cx="11049000" cy="476250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38212" y="316468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汽车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2260" y="3156585"/>
            <a:ext cx="536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23.00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24462" y="3164681"/>
            <a:ext cx="570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+39.0%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29462" y="3164681"/>
            <a:ext cx="307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1.1%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1605" y="3140392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0C0C0"/>
                </a:solidFill>
                <a:latin typeface="Arial Black"/>
                <a:ea typeface="Microsoft YaHei"/>
                <a:cs typeface="Arial Black"/>
              </a:rPr>
              <a:t>★★★★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3524250"/>
            <a:ext cx="11049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38212" y="3640931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其他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2260" y="3632835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6.59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24462" y="3640931"/>
            <a:ext cx="5707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+25.0%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29462" y="3640931"/>
            <a:ext cx="3900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0.3%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31605" y="361664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D7F32"/>
                </a:solidFill>
                <a:latin typeface="Arial Black"/>
                <a:ea typeface="Microsoft YaHei"/>
                <a:cs typeface="Arial Black"/>
              </a:rPr>
              <a:t>★★★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4355" y="43310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收入结构分布</a:t>
            </a:r>
          </a:p>
        </p:txBody>
      </p:sp>
      <p:sp>
        <p:nvSpPr>
          <p:cNvPr id="42" name="Ellipse 42"/>
          <p:cNvSpPr/>
          <p:nvPr/>
        </p:nvSpPr>
        <p:spPr>
          <a:xfrm>
            <a:off x="1143000" y="4476750"/>
            <a:ext cx="1524000" cy="1524000"/>
          </a:xfrm>
          <a:prstGeom prst="ellipse">
            <a:avLst/>
          </a:prstGeom>
          <a:solidFill>
            <a:srgbClr val="76B900">
              <a:alpha val="90000"/>
            </a:srgbClr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1143000" y="4476750"/>
            <a:ext cx="1524000" cy="152400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44" name="Freeform 44"/>
          <p:cNvSpPr/>
          <p:nvPr/>
        </p:nvSpPr>
        <p:spPr>
          <a:xfrm>
            <a:off x="1905000" y="447675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0" y="0"/>
                </a:moveTo>
                <a:lnTo>
                  <a:pt x="0" y="762000"/>
                </a:lnTo>
                <a:cubicBezTo>
                  <a:pt x="137333" y="524107"/>
                  <a:pt x="392074" y="378541"/>
                  <a:pt x="666750" y="38100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351097" y="5173028"/>
            <a:ext cx="11078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数据中心 89.7%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238500" y="4762500"/>
            <a:ext cx="190500" cy="1905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511868" y="4800124"/>
            <a:ext cx="10286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数据中心 89.7%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238500" y="5048250"/>
            <a:ext cx="190500" cy="190500"/>
          </a:xfrm>
          <a:prstGeom prst="rect">
            <a:avLst/>
          </a:prstGeom>
          <a:solidFill>
            <a:srgbClr val="76B900">
              <a:alpha val="7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511868" y="5085874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游戏 7.4%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762500" y="4762500"/>
            <a:ext cx="190500" cy="190500"/>
          </a:xfrm>
          <a:prstGeom prst="rect">
            <a:avLst/>
          </a:prstGeom>
          <a:solidFill>
            <a:srgbClr val="76B900">
              <a:alpha val="50000"/>
            </a:srgbClr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035868" y="4800124"/>
            <a:ext cx="10571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专业可视化 1.5%</a:t>
            </a:r>
          </a:p>
        </p:txBody>
      </p:sp>
      <p:sp>
        <p:nvSpPr>
          <p:cNvPr id="52" name="Rectangle 52"/>
          <p:cNvSpPr/>
          <p:nvPr/>
        </p:nvSpPr>
        <p:spPr>
          <a:xfrm>
            <a:off x="4762500" y="5048250"/>
            <a:ext cx="190500" cy="190500"/>
          </a:xfrm>
          <a:prstGeom prst="rect">
            <a:avLst/>
          </a:prstGeom>
          <a:solidFill>
            <a:srgbClr val="76B900">
              <a:alpha val="3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035868" y="5085874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汽车 1.1%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4762500"/>
            <a:ext cx="190500" cy="190500"/>
          </a:xfrm>
          <a:prstGeom prst="rect">
            <a:avLst/>
          </a:prstGeom>
          <a:solidFill>
            <a:srgbClr val="76B900">
              <a:alpha val="20000"/>
            </a:srgbClr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559868" y="4800124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其他 0.3%</a:t>
            </a:r>
          </a:p>
        </p:txBody>
      </p:sp>
      <p:sp>
        <p:nvSpPr>
          <p:cNvPr id="56" name="Rectangle 5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7 / 14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分季度财务数据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110490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11049000" cy="333375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40118" y="13520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季度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83118" y="135207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总营收（亿）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07118" y="13520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环比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50118" y="1352074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93118" y="135207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净利润（亿）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17118" y="1352074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毛利率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50618" y="1352074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数据中心收入（亿）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571625"/>
            <a:ext cx="110490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1675924"/>
            <a:ext cx="1742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2165" y="1667828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440.62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07118" y="1675924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-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50118" y="1675924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+112%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93118" y="1675924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187.75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17118" y="1675924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70.1%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50618" y="1675924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392.50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1905000"/>
            <a:ext cx="11049000" cy="333375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0118" y="2009299"/>
            <a:ext cx="209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2165" y="2001202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467.00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07118" y="200929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50118" y="20092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+56%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93118" y="20092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264.22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17118" y="20092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72.4%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50618" y="200929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418.00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2238375"/>
            <a:ext cx="110490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40118" y="2342674"/>
            <a:ext cx="209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82165" y="2334578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570.06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07118" y="2342674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+22%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50118" y="2342674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+68%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93118" y="2342674"/>
            <a:ext cx="423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319.10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17118" y="2342674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73.4%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50618" y="2342674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510.70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2571750"/>
            <a:ext cx="11049000" cy="333375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40118" y="2676049"/>
            <a:ext cx="209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82165" y="2667952"/>
            <a:ext cx="5177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old"/>
                <a:ea typeface="Microsoft YaHei"/>
                <a:cs typeface="Arial Bold"/>
              </a:rPr>
              <a:t>681.27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607118" y="26760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+20%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50118" y="26760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+73%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93118" y="26760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429.60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17118" y="26760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75.0%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50618" y="267604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623.14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2905125"/>
            <a:ext cx="11049000" cy="428625"/>
          </a:xfrm>
          <a:prstGeom prst="rect">
            <a:avLst/>
          </a:prstGeom>
          <a:solidFill>
            <a:srgbClr val="76B900">
              <a:alpha val="10000"/>
            </a:srgbClr>
          </a:solidFill>
          <a:ln w="19050">
            <a:solidFill>
              <a:srgbClr val="76B900">
                <a:alpha val="10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9165" y="3029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全年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80260" y="3013710"/>
            <a:ext cx="692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2159.38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607118" y="3037999"/>
            <a:ext cx="629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平均 +16%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50118" y="30379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FA000"/>
                </a:solidFill>
                <a:latin typeface="Arial"/>
                <a:ea typeface="Microsoft YaHei"/>
                <a:cs typeface="Arial"/>
              </a:rPr>
              <a:t>+65.5%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890260" y="3013710"/>
            <a:ext cx="6929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1200.67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17118" y="303799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71.1%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749665" y="3029902"/>
            <a:ext cx="606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1937.37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4355" y="366426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季度营收趋势（单位：亿美元）</a:t>
            </a:r>
          </a:p>
        </p:txBody>
      </p:sp>
      <p:sp>
        <p:nvSpPr>
          <p:cNvPr id="55" name="Rectangle 55"/>
          <p:cNvSpPr/>
          <p:nvPr/>
        </p:nvSpPr>
        <p:spPr>
          <a:xfrm>
            <a:off x="952500" y="4095750"/>
            <a:ext cx="10287000" cy="1905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56" name="Polyline 56"/>
          <p:cNvSpPr/>
          <p:nvPr/>
        </p:nvSpPr>
        <p:spPr>
          <a:xfrm>
            <a:off x="1428750" y="3333750"/>
            <a:ext cx="7143750" cy="1905000"/>
          </a:xfrm>
          <a:custGeom>
            <a:avLst/>
            <a:gdLst/>
            <a:ahLst/>
            <a:cxnLst/>
            <a:rect l="l" t="t" r="r" b="b"/>
            <a:pathLst>
              <a:path w="7143750" h="1905000">
                <a:moveTo>
                  <a:pt x="0" y="1905000"/>
                </a:moveTo>
                <a:lnTo>
                  <a:pt x="2381250" y="1619250"/>
                </a:lnTo>
                <a:lnTo>
                  <a:pt x="4762500" y="666750"/>
                </a:lnTo>
                <a:lnTo>
                  <a:pt x="7143750" y="0"/>
                </a:lnTo>
              </a:path>
            </a:pathLst>
          </a:custGeom>
          <a:noFill/>
          <a:ln w="28575">
            <a:solidFill>
              <a:srgbClr val="76B900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1371600" y="5181600"/>
            <a:ext cx="114300" cy="11430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8" name="Ellipse 58"/>
          <p:cNvSpPr/>
          <p:nvPr/>
        </p:nvSpPr>
        <p:spPr>
          <a:xfrm>
            <a:off x="3752850" y="4895850"/>
            <a:ext cx="114300" cy="11430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6134100" y="3943350"/>
            <a:ext cx="114300" cy="11430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60" name="Ellipse 60"/>
          <p:cNvSpPr/>
          <p:nvPr/>
        </p:nvSpPr>
        <p:spPr>
          <a:xfrm>
            <a:off x="8515350" y="3276600"/>
            <a:ext cx="114300" cy="114300"/>
          </a:xfrm>
          <a:prstGeom prst="ellipse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085290" y="5419249"/>
            <a:ext cx="6869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Q1 440.62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448741" y="5419249"/>
            <a:ext cx="7225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Q2 467.00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829991" y="5419249"/>
            <a:ext cx="7225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Q3 570.06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229040" y="5419249"/>
            <a:ext cx="6869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Q4 681.27</a:t>
            </a:r>
          </a:p>
        </p:txBody>
      </p:sp>
      <p:sp>
        <p:nvSpPr>
          <p:cNvPr id="65" name="Rectangle 6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8 / 14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季度业绩核心特征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1230630"/>
            <a:ext cx="5334000" cy="1626870"/>
            <a:chOff x="571500" y="1230630"/>
            <a:chExt cx="5334000" cy="1626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53340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571500" y="1333500"/>
              <a:ext cx="76200" cy="1524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3450" y="1552575"/>
              <a:ext cx="1418272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增长逐季加速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9165" y="1934528"/>
              <a:ext cx="224261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Q2 短暂放缓后重回高增长轨道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9165" y="2172652"/>
              <a:ext cx="253398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Q3、Q4 环比增速分别达 22%、20%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165" y="2410778"/>
              <a:ext cx="211993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同比增长持续保持 50%+ 高位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78780" y="1230630"/>
              <a:ext cx="257061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1230630"/>
            <a:ext cx="5334000" cy="1626870"/>
            <a:chOff x="6286500" y="1230630"/>
            <a:chExt cx="5334000" cy="1626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6286500" y="1333500"/>
              <a:ext cx="53340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6286500" y="1333500"/>
              <a:ext cx="76200" cy="1524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6648450" y="1552575"/>
              <a:ext cx="1878330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盈利能力持续上行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4165" y="1934528"/>
              <a:ext cx="2273284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毛利率逐季提升：70.1%→75.0%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4165" y="2172652"/>
              <a:ext cx="193590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Q4 单季毛利率创历史新高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4165" y="2410778"/>
              <a:ext cx="2303955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高端产品占比提升驱动盈利改善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93780" y="1230630"/>
              <a:ext cx="3950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135630"/>
            <a:ext cx="5334000" cy="1626870"/>
            <a:chOff x="571500" y="3135630"/>
            <a:chExt cx="5334000" cy="1626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571500" y="3238500"/>
              <a:ext cx="53340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71500" y="3238500"/>
              <a:ext cx="76200" cy="1524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933450" y="3457575"/>
              <a:ext cx="2338387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数据中心占比持续提高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165" y="3839528"/>
              <a:ext cx="175955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Q1: 89.0% → Q4: 91.5%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9165" y="4077652"/>
              <a:ext cx="184389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业绩结构更集中、更稳定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9165" y="4315778"/>
              <a:ext cx="186690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AI 算力需求持续主导增长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78780" y="3135630"/>
              <a:ext cx="3950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3135630"/>
            <a:ext cx="5334000" cy="1626870"/>
            <a:chOff x="6286500" y="3135630"/>
            <a:chExt cx="5334000" cy="16268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9" name="Rectangle 29"/>
            <p:cNvSpPr/>
            <p:nvPr/>
          </p:nvSpPr>
          <p:spPr>
            <a:xfrm>
              <a:off x="6286500" y="3238500"/>
              <a:ext cx="5334000" cy="1524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6286500" y="3238500"/>
              <a:ext cx="76200" cy="1524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6648450" y="3457575"/>
              <a:ext cx="2338387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净利润增速超营收增速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4165" y="3839528"/>
              <a:ext cx="1383840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规模效应持续释放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4165" y="4077652"/>
              <a:ext cx="215060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费用控制得当，运营效率优化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4165" y="4315778"/>
              <a:ext cx="2380631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Q4 单季净利润达 429.60 亿美元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93780" y="3135630"/>
              <a:ext cx="3950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4</a:t>
              </a:r>
            </a:p>
          </p:txBody>
        </p:sp>
      </p:grpSp>
      <p:sp>
        <p:nvSpPr>
          <p:cNvPr id="37" name="Rectangle 37"/>
          <p:cNvSpPr/>
          <p:nvPr/>
        </p:nvSpPr>
        <p:spPr>
          <a:xfrm>
            <a:off x="571500" y="5143500"/>
            <a:ext cx="11049000" cy="952500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340938" y="5378768"/>
            <a:ext cx="55101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季度趋势总结：增长加速 · 盈利提升 · 结构优化 · 韧性强劲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57466" y="5696902"/>
            <a:ext cx="58770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全年四个季度均实现环比正增长，无季度下滑，AI 需求从爆发式增长转向稳健持续增长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73885" y="6617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9 / 14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战略动作与财报协同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571500" y="1230630"/>
            <a:ext cx="6102858" cy="1817370"/>
            <a:chOff x="571500" y="12306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571500" y="1333500"/>
              <a:ext cx="76200" cy="1714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5355" y="1568768"/>
              <a:ext cx="1276445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技术产品迭代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0118" y="1942624"/>
              <a:ext cx="295105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Blackwell 架构全面落地，支撑全年核心增长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2180749"/>
              <a:ext cx="279442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Rubin 推理平台发布，锁定 2027 财年增长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0118" y="2418874"/>
              <a:ext cx="263066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200 亿美元收购 Groq，强化推理竞争力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118" y="2656999"/>
              <a:ext cx="185458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网络与存储产品爆发式增长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78780" y="12306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技术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0" y="1230630"/>
            <a:ext cx="6102858" cy="1817370"/>
            <a:chOff x="6286500" y="12306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6286500" y="13335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76200" cy="1714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6650355" y="1568768"/>
              <a:ext cx="1276445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生态战略合作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5118" y="1942624"/>
              <a:ext cx="228178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与 Meta 达成多年千亿级战略合作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5118" y="2180749"/>
              <a:ext cx="248114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深度绑定 AWS、微软、谷歌、Oracle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5118" y="2418874"/>
              <a:ext cx="16053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生态投资超 700 亿美元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5118" y="2656999"/>
              <a:ext cx="16053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形成"投资 - 采购"闭环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93780" y="12306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生态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3326130"/>
            <a:ext cx="6102858" cy="1817370"/>
            <a:chOff x="571500" y="33261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3" name="Rectangle 23"/>
            <p:cNvSpPr/>
            <p:nvPr/>
          </p:nvSpPr>
          <p:spPr>
            <a:xfrm>
              <a:off x="571500" y="34290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571500" y="3429000"/>
              <a:ext cx="76200" cy="1714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935355" y="3664268"/>
              <a:ext cx="1276445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供应链与产能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118" y="4038124"/>
              <a:ext cx="211802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锁定台积电 3nm/2nm 独家产能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4276249"/>
              <a:ext cx="228178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供应链全球化布局，对冲地缘风险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514374"/>
              <a:ext cx="211090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提前备货，保障 2027 财年交付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0118" y="4752499"/>
              <a:ext cx="185458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产能保障支撑业绩持续增长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8780" y="33261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产能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3326130"/>
            <a:ext cx="6102858" cy="1817370"/>
            <a:chOff x="6286500" y="33261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2" name="Rectangle 32"/>
            <p:cNvSpPr/>
            <p:nvPr/>
          </p:nvSpPr>
          <p:spPr>
            <a:xfrm>
              <a:off x="6286500" y="34290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286500" y="3429000"/>
              <a:ext cx="76200" cy="1714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6650355" y="3664268"/>
              <a:ext cx="862393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资本运作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5118" y="4038124"/>
              <a:ext cx="187594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全年分红 + 回购 410 亿美元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5118" y="4276249"/>
              <a:ext cx="16053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研发投入超 250 亿美元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5118" y="4514374"/>
              <a:ext cx="128499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保持技术领先地位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118" y="4752499"/>
              <a:ext cx="17121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股东回报与长期发展并重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93780" y="33261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6B9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资本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34452" y="66179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现金流与股东回报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1333500"/>
            <a:ext cx="2667000" cy="1333500"/>
            <a:chOff x="571500" y="13335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2667000" cy="1333500"/>
            </a:xfrm>
            <a:prstGeom prst="rect">
              <a:avLst/>
            </a:prstGeom>
            <a:solidFill>
              <a:srgbClr val="76B900">
                <a:alpha val="10000"/>
              </a:srgbClr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TextBox 6"/>
            <p:cNvSpPr txBox="1"/>
            <p:nvPr/>
          </p:nvSpPr>
          <p:spPr>
            <a:xfrm>
              <a:off x="1508284" y="1601152"/>
              <a:ext cx="79343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经营现金流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8040" y="1851660"/>
              <a:ext cx="1993921" cy="548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1027.18 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93901" y="2323624"/>
              <a:ext cx="82219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+60.3%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19500" y="1333500"/>
            <a:ext cx="2667000" cy="1333500"/>
            <a:chOff x="3619500" y="13335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3619500" y="1333500"/>
              <a:ext cx="2667000" cy="1333500"/>
            </a:xfrm>
            <a:prstGeom prst="rect">
              <a:avLst/>
            </a:prstGeom>
            <a:solidFill>
              <a:srgbClr val="76B900">
                <a:alpha val="10000"/>
              </a:srgbClr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4556284" y="1601152"/>
              <a:ext cx="793432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自由现金流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66391" y="1851660"/>
              <a:ext cx="1973218" cy="548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970.00 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41901" y="2323624"/>
              <a:ext cx="82219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+65.8%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0" y="1333500"/>
            <a:ext cx="2667000" cy="1333500"/>
            <a:chOff x="6667500" y="1333500"/>
            <a:chExt cx="2667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6667500" y="1333500"/>
              <a:ext cx="2667000" cy="1333500"/>
            </a:xfrm>
            <a:prstGeom prst="rect">
              <a:avLst/>
            </a:prstGeom>
            <a:solidFill>
              <a:srgbClr val="76B900">
                <a:alpha val="10000"/>
              </a:srgbClr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7450931" y="1601152"/>
              <a:ext cx="1100137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现金及有价证券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14391" y="1851660"/>
              <a:ext cx="1973218" cy="548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625.56 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94103" y="2323624"/>
              <a:ext cx="121379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总资产 85.3% 增长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54355" y="3092768"/>
            <a:ext cx="27566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股东回报（全年分红 + 回购）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524250"/>
            <a:ext cx="53340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895418" y="3611880"/>
            <a:ext cx="268616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76B900"/>
                </a:solidFill>
                <a:latin typeface="Arial Black"/>
                <a:ea typeface="Microsoft YaHei"/>
                <a:cs typeface="Arial Black"/>
              </a:rPr>
              <a:t>410 亿美元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15589" y="42681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占自由现金流 43%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85323" y="45619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持续高比例回报股东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9355" y="30927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现金流用途分布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3524250"/>
            <a:ext cx="53340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667500" y="3905250"/>
            <a:ext cx="3810000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667500" y="3905250"/>
            <a:ext cx="1638300" cy="28575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83472" y="3998595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股东回报 43%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667500" y="4286250"/>
            <a:ext cx="3810000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667500" y="4286250"/>
            <a:ext cx="952500" cy="285750"/>
          </a:xfrm>
          <a:prstGeom prst="rect">
            <a:avLst/>
          </a:prstGeom>
          <a:solidFill>
            <a:srgbClr val="76B900">
              <a:alpha val="8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83472" y="4379595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研发投入 25%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667500" y="4667250"/>
            <a:ext cx="3810000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667500" y="4667250"/>
            <a:ext cx="762000" cy="285750"/>
          </a:xfrm>
          <a:prstGeom prst="rect">
            <a:avLst/>
          </a:prstGeom>
          <a:solidFill>
            <a:srgbClr val="76B900">
              <a:alpha val="6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83472" y="4760595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资本开支 20%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667500" y="5048250"/>
            <a:ext cx="3810000" cy="28575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5048250"/>
            <a:ext cx="457200" cy="285750"/>
          </a:xfrm>
          <a:prstGeom prst="rect">
            <a:avLst/>
          </a:prstGeom>
          <a:solidFill>
            <a:srgbClr val="76B900">
              <a:alpha val="4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979224" y="5141595"/>
            <a:ext cx="5092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其他 12%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67313" y="6617970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未来展望与增长驱动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1333500"/>
            <a:ext cx="3429000" cy="1333500"/>
            <a:chOff x="571500" y="1333500"/>
            <a:chExt cx="3429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3429000" cy="1333500"/>
            </a:xfrm>
            <a:prstGeom prst="rect">
              <a:avLst/>
            </a:prstGeom>
            <a:solidFill>
              <a:srgbClr val="76B900">
                <a:alpha val="10000"/>
              </a:srgbClr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TextBox 6"/>
            <p:cNvSpPr txBox="1"/>
            <p:nvPr/>
          </p:nvSpPr>
          <p:spPr>
            <a:xfrm>
              <a:off x="1647754" y="1601152"/>
              <a:ext cx="1276493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2027 财年 Q1 指引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26932" y="1804035"/>
              <a:ext cx="2118136" cy="5486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780 亿美元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8904" y="2275999"/>
              <a:ext cx="153419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+85% · 毛利率 75%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81500" y="1333500"/>
            <a:ext cx="3429000" cy="1333500"/>
            <a:chOff x="4381500" y="1333500"/>
            <a:chExt cx="3429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4381500" y="1333500"/>
              <a:ext cx="34290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5354241" y="1601152"/>
              <a:ext cx="148351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2027 财年总营收预测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15376" y="1836420"/>
              <a:ext cx="2361247" cy="4876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3600-3800 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6582" y="2275999"/>
              <a:ext cx="97883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FA000"/>
                  </a:solidFill>
                  <a:latin typeface="Arial"/>
                  <a:ea typeface="Microsoft YaHei"/>
                  <a:cs typeface="Arial"/>
                </a:rPr>
                <a:t>同比 +67%~76%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91500" y="1333500"/>
            <a:ext cx="3429000" cy="1333500"/>
            <a:chOff x="8191500" y="1333500"/>
            <a:chExt cx="3429000" cy="13335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8191500" y="1333500"/>
              <a:ext cx="3429000" cy="133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9164241" y="1601152"/>
              <a:ext cx="1483519" cy="2133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2028 财年总营收预测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25376" y="1836420"/>
              <a:ext cx="2361247" cy="4876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76B900"/>
                  </a:solidFill>
                  <a:latin typeface="Arial Black"/>
                  <a:ea typeface="Microsoft YaHei"/>
                  <a:cs typeface="Arial Black"/>
                </a:rPr>
                <a:t>5000-5300 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37621" y="2275999"/>
              <a:ext cx="73675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持续高增长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54355" y="3092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核心增长驱动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3524250"/>
            <a:ext cx="5334000" cy="1428750"/>
            <a:chOff x="571500" y="3524250"/>
            <a:chExt cx="5334000" cy="142875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571500" y="3524250"/>
              <a:ext cx="53340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571500" y="3524250"/>
              <a:ext cx="76200" cy="142875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937260" y="3775710"/>
              <a:ext cx="1281836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Rubin 平台量产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4085749"/>
              <a:ext cx="134907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下一代 AI 芯片平台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4323874"/>
              <a:ext cx="17121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性能大幅提升，功耗优化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118" y="4561999"/>
              <a:ext cx="16409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2027 财年开始贡献收入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3524250"/>
            <a:ext cx="5334000" cy="1428750"/>
            <a:chOff x="6286500" y="3524250"/>
            <a:chExt cx="5334000" cy="142875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6286500" y="3524250"/>
              <a:ext cx="5334000" cy="1428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86500" y="3524250"/>
              <a:ext cx="76200" cy="142875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6652260" y="3775710"/>
              <a:ext cx="134624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AI 推理市场爆发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5118" y="4085749"/>
              <a:ext cx="15697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推理需求超过训练需求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5118" y="4323874"/>
              <a:ext cx="179762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边缘 AI、企业 AI 快速渗透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5118" y="4561999"/>
              <a:ext cx="128499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市场规模持续扩大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5334000"/>
            <a:ext cx="5334000" cy="997744"/>
            <a:chOff x="571500" y="5334000"/>
            <a:chExt cx="5334000" cy="997744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5" name="Rectangle 35"/>
            <p:cNvSpPr/>
            <p:nvPr/>
          </p:nvSpPr>
          <p:spPr>
            <a:xfrm>
              <a:off x="571500" y="5334000"/>
              <a:ext cx="5334000" cy="952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571500" y="5334000"/>
              <a:ext cx="76200" cy="952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937260" y="5585460"/>
              <a:ext cx="2054733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云厂商资本开支持续增长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118" y="5895499"/>
              <a:ext cx="285138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AWS、微软、谷歌、Meta 持续加大 AI 投入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0118" y="6133624"/>
              <a:ext cx="199698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长期采购协议保障收入确定性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5334000"/>
            <a:ext cx="5334000" cy="997744"/>
            <a:chOff x="6286500" y="5334000"/>
            <a:chExt cx="5334000" cy="997744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41" name="Rectangle 41"/>
            <p:cNvSpPr/>
            <p:nvPr/>
          </p:nvSpPr>
          <p:spPr>
            <a:xfrm>
              <a:off x="6286500" y="5334000"/>
              <a:ext cx="5334000" cy="952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6286500" y="5334000"/>
              <a:ext cx="76200" cy="9525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6652260" y="5585460"/>
              <a:ext cx="1502664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垂直行业深度渗透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5118" y="5895499"/>
              <a:ext cx="206106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医疗、制造、金融等行业 AI 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6133624"/>
              <a:ext cx="256658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从芯片供应商转向算力基础设施提供商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34452" y="66179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风险与挑战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571500" y="1230630"/>
            <a:ext cx="6102858" cy="1817370"/>
            <a:chOff x="571500" y="12306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571500" y="1333500"/>
              <a:ext cx="76200" cy="171450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5355" y="1568768"/>
              <a:ext cx="1276445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行业竞争加剧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0118" y="1990249"/>
              <a:ext cx="187594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AMD MI300 系列竞争力增强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2228374"/>
              <a:ext cx="228890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谷歌 TPU、英特尔 Gaudi 自研芯片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0118" y="2466499"/>
              <a:ext cx="199698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中国华为昇腾等国产替代加速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118" y="2704624"/>
              <a:ext cx="199698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可能影响市场份额和定价能力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78780" y="12306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6B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竞争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0" y="1230630"/>
            <a:ext cx="6102858" cy="1817370"/>
            <a:chOff x="6286500" y="12306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6286500" y="13335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76200" cy="1714500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6650355" y="1568768"/>
              <a:ext cx="1690497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美国对华出口管制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5118" y="1990249"/>
              <a:ext cx="206106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持续限制高端 AI 芯片出口中国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5118" y="2228374"/>
              <a:ext cx="250962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影响中国区收入（历史占比 20-25%）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5118" y="2466499"/>
              <a:ext cx="142739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特供版芯片性能受限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5118" y="2704624"/>
              <a:ext cx="15697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政策不确定性持续存在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93780" y="12306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6B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监管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3326130"/>
            <a:ext cx="6102858" cy="1817370"/>
            <a:chOff x="571500" y="3326130"/>
            <a:chExt cx="6102858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23" name="Rectangle 23"/>
            <p:cNvSpPr/>
            <p:nvPr/>
          </p:nvSpPr>
          <p:spPr>
            <a:xfrm>
              <a:off x="571500" y="34290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571500" y="3429000"/>
              <a:ext cx="76200" cy="17145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935355" y="3664268"/>
              <a:ext cx="1100473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AI 需求波动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0118" y="4085749"/>
              <a:ext cx="144875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AI 投资热潮可能放缓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4323874"/>
              <a:ext cx="1854589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云厂商资本开支周期性波动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561999"/>
              <a:ext cx="191866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企业 AI 应用落地速度不确定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0118" y="4800124"/>
              <a:ext cx="156979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可能影响短期业绩增速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8780" y="3326130"/>
              <a:ext cx="1195578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A5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需求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3326130"/>
            <a:ext cx="6654927" cy="1817370"/>
            <a:chOff x="6286500" y="3326130"/>
            <a:chExt cx="6654927" cy="181737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32" name="Rectangle 32"/>
            <p:cNvSpPr/>
            <p:nvPr/>
          </p:nvSpPr>
          <p:spPr>
            <a:xfrm>
              <a:off x="6286500" y="3429000"/>
              <a:ext cx="5334000" cy="1714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286500" y="3429000"/>
              <a:ext cx="76200" cy="1714500"/>
            </a:xfrm>
            <a:prstGeom prst="rect">
              <a:avLst/>
            </a:prstGeom>
            <a:solidFill>
              <a:srgbClr val="FFA5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6650355" y="3664268"/>
              <a:ext cx="1690497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供应链与产能瓶颈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5118" y="4085749"/>
              <a:ext cx="1712190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依赖台积电先进制程产能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5118" y="4323874"/>
              <a:ext cx="1462992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CoWoS 封装产能紧张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5118" y="4561999"/>
              <a:ext cx="199698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地缘政治风险影响供应链稳定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118" y="4800124"/>
              <a:ext cx="1284994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• 可能制约交付能力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93780" y="3326130"/>
              <a:ext cx="1747647" cy="7315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A500">
                      <a:alpha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供应链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34452" y="66179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306053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总结：AI 算力王者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04875"/>
            <a:ext cx="114300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333500"/>
            <a:ext cx="11049000" cy="1905000"/>
          </a:xfrm>
          <a:prstGeom prst="rect">
            <a:avLst/>
          </a:prstGeom>
          <a:solidFill>
            <a:srgbClr val="76B900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278291" y="1615440"/>
            <a:ext cx="56354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英伟达 2026 财年是 AI 算力时代的巅峰业绩年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38716" y="2061210"/>
            <a:ext cx="53145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业绩、利润、毛利率全面创历史新高 · 数据中心业务形成绝对统治力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63721" y="2394585"/>
            <a:ext cx="44645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现金流充沛 · 增长韧性极强 · 行业龙头地位短期难以撼动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3569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Arial Black"/>
                <a:ea typeface="Microsoft YaHei"/>
                <a:cs typeface="Arial Black"/>
              </a:rPr>
              <a:t>关键要点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4000500"/>
            <a:ext cx="5334000" cy="1143000"/>
            <a:chOff x="571500" y="4000500"/>
            <a:chExt cx="5334000" cy="11430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571500" y="4000500"/>
              <a:ext cx="5334000" cy="1143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4000500"/>
              <a:ext cx="57150" cy="1143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842010" y="4204335"/>
              <a:ext cx="766572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短期展望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4868" y="4514374"/>
              <a:ext cx="1989868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Rubin 平台将开启新一轮高增长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4868" y="4752499"/>
              <a:ext cx="253098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2027 财年 Q1 指引 780 亿美元（+85%）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4000500"/>
            <a:ext cx="5334000" cy="1143000"/>
            <a:chOff x="6286500" y="4000500"/>
            <a:chExt cx="5334000" cy="1143000"/>
          </a:xfrm>
          <a:effectLst>
            <a:outerShdw blurRad="76200" dist="19050" dir="10798281" algn="tl" rotWithShape="0">
              <a:srgbClr val="000000">
                <a:alpha val="1500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6286500" y="4000500"/>
              <a:ext cx="5334000" cy="1143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286500" y="4000500"/>
              <a:ext cx="57150" cy="1143000"/>
            </a:xfrm>
            <a:prstGeom prst="rect">
              <a:avLst/>
            </a:prstGeom>
            <a:solidFill>
              <a:srgbClr val="76B900"/>
            </a:solidFill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6557010" y="4204335"/>
              <a:ext cx="950595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Arial Black"/>
                  <a:ea typeface="Microsoft YaHei"/>
                  <a:cs typeface="Arial Black"/>
                </a:rPr>
                <a:t>中长期定位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9868" y="4514374"/>
              <a:ext cx="2509623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将成为全球 AI 算力核心基础设施提供商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9868" y="4752499"/>
              <a:ext cx="201834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10798281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从芯片供应商转型为平台型公司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71500" y="5524500"/>
            <a:ext cx="11049000" cy="762000"/>
          </a:xfrm>
          <a:prstGeom prst="rect">
            <a:avLst/>
          </a:prstGeom>
          <a:solidFill>
            <a:srgbClr val="F8F9FA"/>
          </a:solidFill>
          <a:ln w="9525">
            <a:solidFill>
              <a:srgbClr val="E8EAE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671197" y="5792152"/>
            <a:ext cx="48496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虽然面临监管与竞争压力，但英伟达在 AI 算力领域的领导地位依然稳固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84607" y="6030278"/>
            <a:ext cx="36227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技术创新 + 生态优势 + 产能保障 = 持续增长的确定性</a:t>
            </a:r>
          </a:p>
        </p:txBody>
      </p:sp>
      <p:sp>
        <p:nvSpPr>
          <p:cNvPr id="25" name="Rectangle 2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0F0F0">
              <a:alpha val="5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60070" y="6617970"/>
            <a:ext cx="18368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英伟达 2026 财年财报深度分析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34452" y="66179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14 / 14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